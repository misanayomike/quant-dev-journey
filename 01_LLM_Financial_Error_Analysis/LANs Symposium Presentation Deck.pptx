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7" r:id="rId1"/>
  </p:sldMasterIdLst>
  <p:sldIdLst>
    <p:sldId id="256" r:id="rId2"/>
    <p:sldId id="278" r:id="rId3"/>
    <p:sldId id="260" r:id="rId4"/>
    <p:sldId id="283" r:id="rId5"/>
    <p:sldId id="268" r:id="rId6"/>
    <p:sldId id="279" r:id="rId7"/>
    <p:sldId id="262" r:id="rId8"/>
    <p:sldId id="277" r:id="rId9"/>
    <p:sldId id="270" r:id="rId10"/>
    <p:sldId id="264" r:id="rId11"/>
    <p:sldId id="284" r:id="rId12"/>
    <p:sldId id="271" r:id="rId13"/>
    <p:sldId id="280" r:id="rId14"/>
    <p:sldId id="258" r:id="rId15"/>
    <p:sldId id="282" r:id="rId16"/>
    <p:sldId id="259" r:id="rId17"/>
    <p:sldId id="273" r:id="rId18"/>
    <p:sldId id="275" r:id="rId19"/>
    <p:sldId id="276" r:id="rId20"/>
    <p:sldId id="257" r:id="rId21"/>
    <p:sldId id="272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6C5"/>
    <a:srgbClr val="FFFFFF"/>
    <a:srgbClr val="E2EBEB"/>
    <a:srgbClr val="E3ECEC"/>
    <a:srgbClr val="FF0000"/>
    <a:srgbClr val="E87331"/>
    <a:srgbClr val="FFC000"/>
    <a:srgbClr val="FBE2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A664BD-CA13-F062-3351-FBB1659054A9}" v="2" dt="2024-07-26T17:54:51.195"/>
    <p1510:client id="{4BCDC2CC-67BB-E68F-3CF2-57FA10141208}" v="140" dt="2024-07-26T21:20:24.619"/>
    <p1510:client id="{4E8E1AE4-940F-0A3A-B118-C03117FE006D}" v="59" dt="2024-07-26T18:37:59.183"/>
    <p1510:client id="{A5AACD2E-A3BA-6762-785B-46EA6431B2F3}" v="98" dt="2024-07-26T17:45:09.233"/>
    <p1510:client id="{A6F08320-42DF-F329-893F-D5B114AEC90A}" v="5" dt="2024-07-26T18:44:50.338"/>
    <p1510:client id="{B9FB1226-D4B1-1229-5F55-2CC47B751266}" v="9" dt="2024-07-26T18:52:35.284"/>
    <p1510:client id="{DDD93266-7DDE-0BA1-BE0F-51AF73407A19}" v="17" dt="2024-07-24T22:49:15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chicagoedu-my.sharepoint.com/personal/oritsea1_uchicago_edu/Documents/ai%20comparative%20excel%20spreadshe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chicagoedu-my.sharepoint.com/personal/oritsea1_uchicago_edu/Documents/ai%20comparative%20excel%20spreadshe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uchicagoedu-my.sharepoint.com/personal/oritsea1_uchicago_edu/Documents/ai%20comparative%20excel%20spreadshe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uchicagoedu-my.sharepoint.com/personal/oritsea1_uchicago_edu/Documents/ai%20comparative%20excel%20spreadshe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uchicagoedu-my.sharepoint.com/personal/oritsea1_uchicago_edu/Documents/ai%20comparative%20excel%20spreadshee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uchicagoedu-my.sharepoint.com/personal/oritsea1_uchicago_edu/Documents/ai%20comparative%20excel%20spreadshee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Absolute Average Error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'https://uchicagoedu-my.sharepoint.com/personal/oritsea1_uchicago_edu/Documents/[ai comparative excel spreadsheet.xlsx]Sheet1'!$F$171:$L$171</c:f>
              <c:strCache>
                <c:ptCount val="7"/>
                <c:pt idx="0">
                  <c:v>Full Sample</c:v>
                </c:pt>
                <c:pt idx="1">
                  <c:v>Total Revenue/ Net Sales</c:v>
                </c:pt>
                <c:pt idx="2">
                  <c:v>Operating Profits</c:v>
                </c:pt>
                <c:pt idx="3">
                  <c:v>Basic Earnings Per Share (EPS)</c:v>
                </c:pt>
                <c:pt idx="4">
                  <c:v>Research and Development (R&amp;D)</c:v>
                </c:pt>
                <c:pt idx="5">
                  <c:v>Total Employees</c:v>
                </c:pt>
                <c:pt idx="6">
                  <c:v>Operating Margin</c:v>
                </c:pt>
              </c:strCache>
            </c:strRef>
          </c:cat>
          <c:val>
            <c:numRef>
              <c:f>'https://uchicagoedu-my.sharepoint.com/personal/oritsea1_uchicago_edu/Documents/[ai comparative excel spreadsheet.xlsx]Sheet1'!$F$172:$L$172</c:f>
              <c:numCache>
                <c:formatCode>0.000%</c:formatCode>
                <c:ptCount val="7"/>
                <c:pt idx="0" formatCode="0.00%">
                  <c:v>0.11782741207589092</c:v>
                </c:pt>
                <c:pt idx="1">
                  <c:v>1.7546145469860609E-3</c:v>
                </c:pt>
                <c:pt idx="2">
                  <c:v>0.21559949608023293</c:v>
                </c:pt>
                <c:pt idx="3">
                  <c:v>0.1015551048005409</c:v>
                </c:pt>
                <c:pt idx="4">
                  <c:v>6.5836104415813404E-2</c:v>
                </c:pt>
                <c:pt idx="5">
                  <c:v>0.10284090909090908</c:v>
                </c:pt>
                <c:pt idx="6">
                  <c:v>0.21937824352086333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7A-4677-9774-67BA484021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9971719"/>
        <c:axId val="409940999"/>
      </c:barChart>
      <c:catAx>
        <c:axId val="409971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9940999"/>
        <c:crosses val="autoZero"/>
        <c:auto val="1"/>
        <c:lblAlgn val="ctr"/>
        <c:lblOffset val="100"/>
        <c:noMultiLvlLbl val="0"/>
      </c:catAx>
      <c:valAx>
        <c:axId val="409940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9971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Absolute Standard Deviation of Error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0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'https://uchicagoedu-my.sharepoint.com/personal/oritsea1_uchicago_edu/Documents/[ai comparative excel spreadsheet.xlsx]Sheet1'!$F$171:$L$171</c:f>
              <c:strCache>
                <c:ptCount val="7"/>
                <c:pt idx="0">
                  <c:v>Full Sample</c:v>
                </c:pt>
                <c:pt idx="1">
                  <c:v>Total Revenue/ Net Sales</c:v>
                </c:pt>
                <c:pt idx="2">
                  <c:v>Operating Profits</c:v>
                </c:pt>
                <c:pt idx="3">
                  <c:v>Basic Earnings Per Share (EPS)</c:v>
                </c:pt>
                <c:pt idx="4">
                  <c:v>Research and Development (R&amp;D)</c:v>
                </c:pt>
                <c:pt idx="5">
                  <c:v>Total Employees</c:v>
                </c:pt>
                <c:pt idx="6">
                  <c:v>Operating Margin</c:v>
                </c:pt>
              </c:strCache>
            </c:strRef>
          </c:cat>
          <c:val>
            <c:numRef>
              <c:f>'https://uchicagoedu-my.sharepoint.com/personal/oritsea1_uchicago_edu/Documents/[ai comparative excel spreadsheet.xlsx]Sheet1'!$F$174:$L$174</c:f>
              <c:numCache>
                <c:formatCode>0.00%</c:formatCode>
                <c:ptCount val="7"/>
                <c:pt idx="0">
                  <c:v>0.41338058695292029</c:v>
                </c:pt>
                <c:pt idx="1">
                  <c:v>7.5744994737910404E-3</c:v>
                </c:pt>
                <c:pt idx="2">
                  <c:v>0.58761840220485739</c:v>
                </c:pt>
                <c:pt idx="3">
                  <c:v>0.44690152890148954</c:v>
                </c:pt>
                <c:pt idx="4">
                  <c:v>0.22276119536454284</c:v>
                </c:pt>
                <c:pt idx="5">
                  <c:v>0.30708332952167466</c:v>
                </c:pt>
                <c:pt idx="6">
                  <c:v>0.58550286292239895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68-4BEA-B0C5-7EAB02C344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65865479"/>
        <c:axId val="965867527"/>
      </c:barChart>
      <c:catAx>
        <c:axId val="965865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5867527"/>
        <c:crosses val="autoZero"/>
        <c:auto val="1"/>
        <c:lblAlgn val="ctr"/>
        <c:lblOffset val="100"/>
        <c:noMultiLvlLbl val="0"/>
      </c:catAx>
      <c:valAx>
        <c:axId val="965867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5865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Standard Deviation of Error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0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'[ai comparative excel spreadsheet.xlsx]Sheet1'!$J$304:$O$304</c:f>
              <c:strCache>
                <c:ptCount val="6"/>
                <c:pt idx="0">
                  <c:v>Total Revenue/ Net Sales</c:v>
                </c:pt>
                <c:pt idx="1">
                  <c:v>Operating Profits</c:v>
                </c:pt>
                <c:pt idx="2">
                  <c:v>Basic Earnings Per Share (EPS)</c:v>
                </c:pt>
                <c:pt idx="3">
                  <c:v>Research and Development (R&amp;D)</c:v>
                </c:pt>
                <c:pt idx="4">
                  <c:v>Total Employees</c:v>
                </c:pt>
                <c:pt idx="5">
                  <c:v>Operating Margin</c:v>
                </c:pt>
              </c:strCache>
            </c:strRef>
          </c:cat>
          <c:val>
            <c:numRef>
              <c:f>'[ai comparative excel spreadsheet.xlsx]Sheet1'!$J$307:$O$307</c:f>
              <c:numCache>
                <c:formatCode>0.00%</c:formatCode>
                <c:ptCount val="6"/>
                <c:pt idx="0">
                  <c:v>7.5997908548872751E-3</c:v>
                </c:pt>
                <c:pt idx="1">
                  <c:v>0.59521974578195758</c:v>
                </c:pt>
                <c:pt idx="2">
                  <c:v>0.44763350802094526</c:v>
                </c:pt>
                <c:pt idx="3">
                  <c:v>0.22761362870537996</c:v>
                </c:pt>
                <c:pt idx="4">
                  <c:v>0.30708332952167466</c:v>
                </c:pt>
                <c:pt idx="5">
                  <c:v>0.59488428871573418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A8-4D93-9A73-15E4044CEB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89935111"/>
        <c:axId val="1589957639"/>
      </c:barChart>
      <c:catAx>
        <c:axId val="1589935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9957639"/>
        <c:crosses val="autoZero"/>
        <c:auto val="1"/>
        <c:lblAlgn val="ctr"/>
        <c:lblOffset val="100"/>
        <c:noMultiLvlLbl val="0"/>
      </c:catAx>
      <c:valAx>
        <c:axId val="15899576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9935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Error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'[ai comparative excel spreadsheet.xlsx]Sheet1'!$J$304:$O$304</c:f>
              <c:strCache>
                <c:ptCount val="6"/>
                <c:pt idx="0">
                  <c:v>Total Revenue/ Net Sales</c:v>
                </c:pt>
                <c:pt idx="1">
                  <c:v>Operating Profits</c:v>
                </c:pt>
                <c:pt idx="2">
                  <c:v>Basic Earnings Per Share (EPS)</c:v>
                </c:pt>
                <c:pt idx="3">
                  <c:v>Research and Development (R&amp;D)</c:v>
                </c:pt>
                <c:pt idx="4">
                  <c:v>Total Employees</c:v>
                </c:pt>
                <c:pt idx="5">
                  <c:v>Operating Margin</c:v>
                </c:pt>
              </c:strCache>
            </c:strRef>
          </c:cat>
          <c:val>
            <c:numRef>
              <c:f>'[ai comparative excel spreadsheet.xlsx]Sheet1'!$J$305:$O$305</c:f>
              <c:numCache>
                <c:formatCode>0.000%</c:formatCode>
                <c:ptCount val="6"/>
                <c:pt idx="0">
                  <c:v>1.6474472334208345E-3</c:v>
                </c:pt>
                <c:pt idx="1">
                  <c:v>-0.19478588631892482</c:v>
                </c:pt>
                <c:pt idx="2">
                  <c:v>-9.8444895199459093E-2</c:v>
                </c:pt>
                <c:pt idx="3">
                  <c:v>-4.7521042950138065E-2</c:v>
                </c:pt>
                <c:pt idx="4">
                  <c:v>-0.10284090909090908</c:v>
                </c:pt>
                <c:pt idx="5">
                  <c:v>-0.19392468894734527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76-4372-87CA-62D5BC5F30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32237063"/>
        <c:axId val="1632239111"/>
      </c:barChart>
      <c:catAx>
        <c:axId val="1632237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2239111"/>
        <c:crosses val="autoZero"/>
        <c:auto val="1"/>
        <c:lblAlgn val="ctr"/>
        <c:lblOffset val="100"/>
        <c:noMultiLvlLbl val="0"/>
      </c:catAx>
      <c:valAx>
        <c:axId val="1632239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2237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k-Percentile of Error (absolute)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v>Field2</c:v>
          </c:tx>
          <c:spPr>
            <a:solidFill>
              <a:schemeClr val="accent1"/>
            </a:solidFill>
            <a:ln w="25400">
              <a:noFill/>
            </a:ln>
            <a:effectLst/>
          </c:spPr>
          <c:cat>
            <c:numRef>
              <c:f>'https://uchicagoedu-my.sharepoint.com/personal/oritsea1_uchicago_edu/Documents/[ai comparative excel spreadsheet.xlsx]Sheet1'!$A$244:$A$277</c:f>
              <c:numCache>
                <c:formatCode>General</c:formatCode>
                <c:ptCount val="34"/>
                <c:pt idx="0">
                  <c:v>67</c:v>
                </c:pt>
                <c:pt idx="1">
                  <c:v>68</c:v>
                </c:pt>
                <c:pt idx="2">
                  <c:v>69</c:v>
                </c:pt>
                <c:pt idx="3">
                  <c:v>70</c:v>
                </c:pt>
                <c:pt idx="4">
                  <c:v>71</c:v>
                </c:pt>
                <c:pt idx="5">
                  <c:v>72</c:v>
                </c:pt>
                <c:pt idx="6">
                  <c:v>73</c:v>
                </c:pt>
                <c:pt idx="7">
                  <c:v>74</c:v>
                </c:pt>
                <c:pt idx="8">
                  <c:v>75</c:v>
                </c:pt>
                <c:pt idx="9">
                  <c:v>76</c:v>
                </c:pt>
                <c:pt idx="10">
                  <c:v>77</c:v>
                </c:pt>
                <c:pt idx="11">
                  <c:v>78</c:v>
                </c:pt>
                <c:pt idx="12">
                  <c:v>79</c:v>
                </c:pt>
                <c:pt idx="13">
                  <c:v>80</c:v>
                </c:pt>
                <c:pt idx="14">
                  <c:v>81</c:v>
                </c:pt>
                <c:pt idx="15">
                  <c:v>82</c:v>
                </c:pt>
                <c:pt idx="16">
                  <c:v>83</c:v>
                </c:pt>
                <c:pt idx="17">
                  <c:v>84</c:v>
                </c:pt>
                <c:pt idx="18">
                  <c:v>85</c:v>
                </c:pt>
                <c:pt idx="19">
                  <c:v>86</c:v>
                </c:pt>
                <c:pt idx="20">
                  <c:v>87</c:v>
                </c:pt>
                <c:pt idx="21">
                  <c:v>88</c:v>
                </c:pt>
                <c:pt idx="22">
                  <c:v>89</c:v>
                </c:pt>
                <c:pt idx="23">
                  <c:v>90</c:v>
                </c:pt>
                <c:pt idx="24">
                  <c:v>91</c:v>
                </c:pt>
                <c:pt idx="25">
                  <c:v>92</c:v>
                </c:pt>
                <c:pt idx="26">
                  <c:v>93</c:v>
                </c:pt>
                <c:pt idx="27">
                  <c:v>94</c:v>
                </c:pt>
                <c:pt idx="28">
                  <c:v>95</c:v>
                </c:pt>
                <c:pt idx="29">
                  <c:v>96</c:v>
                </c:pt>
                <c:pt idx="30">
                  <c:v>97</c:v>
                </c:pt>
                <c:pt idx="31">
                  <c:v>98</c:v>
                </c:pt>
                <c:pt idx="32">
                  <c:v>99</c:v>
                </c:pt>
                <c:pt idx="33">
                  <c:v>100</c:v>
                </c:pt>
              </c:numCache>
            </c:numRef>
          </c:cat>
          <c:val>
            <c:numRef>
              <c:f>'https://uchicagoedu-my.sharepoint.com/personal/oritsea1_uchicago_edu/Documents/[ai comparative excel spreadsheet.xlsx]Sheet1'!$B$244:$B$277</c:f>
              <c:numCache>
                <c:formatCode>0.00%</c:formatCode>
                <c:ptCount val="34"/>
                <c:pt idx="0">
                  <c:v>3.1908941497138697E-6</c:v>
                </c:pt>
                <c:pt idx="1">
                  <c:v>1.0237146903739902E-5</c:v>
                </c:pt>
                <c:pt idx="2">
                  <c:v>1.8087193151825603E-5</c:v>
                </c:pt>
                <c:pt idx="3">
                  <c:v>2.5973451099892124E-5</c:v>
                </c:pt>
                <c:pt idx="4">
                  <c:v>3.7077888832297474E-5</c:v>
                </c:pt>
                <c:pt idx="5">
                  <c:v>6.9498307359374434E-5</c:v>
                </c:pt>
                <c:pt idx="6">
                  <c:v>8.6793003620129242E-5</c:v>
                </c:pt>
                <c:pt idx="7">
                  <c:v>8.9012250488682592E-5</c:v>
                </c:pt>
                <c:pt idx="8">
                  <c:v>1.139827232269075E-4</c:v>
                </c:pt>
                <c:pt idx="9">
                  <c:v>1.4573910339148893E-4</c:v>
                </c:pt>
                <c:pt idx="10">
                  <c:v>1.6426876987402414E-4</c:v>
                </c:pt>
                <c:pt idx="11">
                  <c:v>2.8008456532919605E-4</c:v>
                </c:pt>
                <c:pt idx="12">
                  <c:v>9.3368221496451615E-4</c:v>
                </c:pt>
                <c:pt idx="13">
                  <c:v>1.9685058468213779E-3</c:v>
                </c:pt>
                <c:pt idx="14">
                  <c:v>2.4438769214036255E-3</c:v>
                </c:pt>
                <c:pt idx="15">
                  <c:v>6.484090181781671E-3</c:v>
                </c:pt>
                <c:pt idx="16">
                  <c:v>1.6213199259447468E-2</c:v>
                </c:pt>
                <c:pt idx="17">
                  <c:v>3.0594208489403748E-2</c:v>
                </c:pt>
                <c:pt idx="18">
                  <c:v>3.1650981642420875E-2</c:v>
                </c:pt>
                <c:pt idx="19">
                  <c:v>3.8048012550464437E-2</c:v>
                </c:pt>
                <c:pt idx="20">
                  <c:v>5.1759477134789414E-2</c:v>
                </c:pt>
                <c:pt idx="21">
                  <c:v>6.4992338404174635E-2</c:v>
                </c:pt>
                <c:pt idx="22">
                  <c:v>0.10279457354093488</c:v>
                </c:pt>
                <c:pt idx="23">
                  <c:v>0.12406890959678619</c:v>
                </c:pt>
                <c:pt idx="24">
                  <c:v>0.20805590650827088</c:v>
                </c:pt>
                <c:pt idx="25">
                  <c:v>0.41732078508204362</c:v>
                </c:pt>
                <c:pt idx="26">
                  <c:v>0.6454949573855786</c:v>
                </c:pt>
                <c:pt idx="27">
                  <c:v>0.95050241905470767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1.6200000000000045</c:v>
                </c:pt>
                <c:pt idx="32">
                  <c:v>2.3666055045871572</c:v>
                </c:pt>
                <c:pt idx="33">
                  <c:v>2.455435587013036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C8-4E94-A757-8C5CC0F8EB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1544328"/>
        <c:axId val="311554568"/>
      </c:areaChart>
      <c:catAx>
        <c:axId val="3115443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percentile number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1554568"/>
        <c:crosses val="autoZero"/>
        <c:auto val="1"/>
        <c:lblAlgn val="ctr"/>
        <c:lblOffset val="100"/>
        <c:noMultiLvlLbl val="0"/>
      </c:catAx>
      <c:valAx>
        <c:axId val="311554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error 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15443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k-Percentile of Error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v>possibility of error</c:v>
          </c:tx>
          <c:spPr>
            <a:solidFill>
              <a:schemeClr val="accent1"/>
            </a:solidFill>
            <a:ln w="25400">
              <a:noFill/>
            </a:ln>
            <a:effectLst/>
          </c:spPr>
          <c:cat>
            <c:numRef>
              <c:f>'[ai comparative excel spreadsheet.xlsx]Sheet1'!$A$404:$A$504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'[ai comparative excel spreadsheet.xlsx]Sheet1'!$B$404:$B$504</c:f>
              <c:numCache>
                <c:formatCode>0.00%</c:formatCode>
                <c:ptCount val="101"/>
                <c:pt idx="0">
                  <c:v>-2.455435587013036</c:v>
                </c:pt>
                <c:pt idx="1">
                  <c:v>-2.3666055045871559</c:v>
                </c:pt>
                <c:pt idx="2">
                  <c:v>-1.62</c:v>
                </c:pt>
                <c:pt idx="3">
                  <c:v>-1</c:v>
                </c:pt>
                <c:pt idx="4">
                  <c:v>-1</c:v>
                </c:pt>
                <c:pt idx="5">
                  <c:v>-1</c:v>
                </c:pt>
                <c:pt idx="6">
                  <c:v>-0.95050241905470767</c:v>
                </c:pt>
                <c:pt idx="7">
                  <c:v>-0.6454949573855786</c:v>
                </c:pt>
                <c:pt idx="8">
                  <c:v>-0.36414470114856601</c:v>
                </c:pt>
                <c:pt idx="9">
                  <c:v>-7.114438008560621E-2</c:v>
                </c:pt>
                <c:pt idx="10">
                  <c:v>-3.3806818181818271E-2</c:v>
                </c:pt>
                <c:pt idx="11">
                  <c:v>-1.7547282825716059E-2</c:v>
                </c:pt>
                <c:pt idx="12">
                  <c:v>-7.2813066695112776E-3</c:v>
                </c:pt>
                <c:pt idx="13">
                  <c:v>-2.6131298616819277E-3</c:v>
                </c:pt>
                <c:pt idx="14">
                  <c:v>-1.9691849764875992E-3</c:v>
                </c:pt>
                <c:pt idx="15">
                  <c:v>-1.0798837124662475E-3</c:v>
                </c:pt>
                <c:pt idx="16">
                  <c:v>-2.994129052390494E-4</c:v>
                </c:pt>
                <c:pt idx="17">
                  <c:v>-1.5505676249089271E-4</c:v>
                </c:pt>
                <c:pt idx="18">
                  <c:v>-9.6962039775701109E-5</c:v>
                </c:pt>
                <c:pt idx="19">
                  <c:v>-3.3608825765645289E-5</c:v>
                </c:pt>
                <c:pt idx="20">
                  <c:v>-1.3637986754044807E-5</c:v>
                </c:pt>
                <c:pt idx="21">
                  <c:v>-4.4348493874879587E-6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1.5659244820889148E-5</c:v>
                </c:pt>
                <c:pt idx="90">
                  <c:v>3.3018189249612199E-5</c:v>
                </c:pt>
                <c:pt idx="91">
                  <c:v>8.2396930043562348E-5</c:v>
                </c:pt>
                <c:pt idx="92">
                  <c:v>8.7803001006125927E-5</c:v>
                </c:pt>
                <c:pt idx="93">
                  <c:v>1.0103456819958283E-4</c:v>
                </c:pt>
                <c:pt idx="94">
                  <c:v>1.5769927017448724E-4</c:v>
                </c:pt>
                <c:pt idx="95">
                  <c:v>3.1243151757750835E-2</c:v>
                </c:pt>
                <c:pt idx="96">
                  <c:v>3.6834835608995996E-2</c:v>
                </c:pt>
                <c:pt idx="97">
                  <c:v>5.5564944950465683E-2</c:v>
                </c:pt>
                <c:pt idx="98">
                  <c:v>9.7053949270861195E-2</c:v>
                </c:pt>
                <c:pt idx="99">
                  <c:v>0.19018848374895897</c:v>
                </c:pt>
                <c:pt idx="100">
                  <c:v>0.20848056537102488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97-49C3-B801-6429913E76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044872"/>
        <c:axId val="45016584"/>
      </c:areaChart>
      <c:catAx>
        <c:axId val="350448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percentile number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016584"/>
        <c:crosses val="autoZero"/>
        <c:auto val="1"/>
        <c:lblAlgn val="ctr"/>
        <c:lblOffset val="100"/>
        <c:noMultiLvlLbl val="0"/>
      </c:catAx>
      <c:valAx>
        <c:axId val="45016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04487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D6E611-3B0F-4B17-A4BF-01F3C9891E4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0EF9D3B-A33E-46B1-B9AC-A0473789ED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cap="none">
              <a:solidFill>
                <a:schemeClr val="tx1"/>
              </a:solidFill>
              <a:latin typeface="Posterama"/>
            </a:rPr>
            <a:t>Methodology</a:t>
          </a:r>
          <a:endParaRPr lang="en-US" b="0" cap="none">
            <a:solidFill>
              <a:schemeClr val="tx1"/>
            </a:solidFill>
          </a:endParaRPr>
        </a:p>
      </dgm:t>
    </dgm:pt>
    <dgm:pt modelId="{9086B19D-A596-42F2-952A-48821CB8888D}" type="parTrans" cxnId="{17AEAC22-894C-412C-B3B2-7653D3D02CFA}">
      <dgm:prSet/>
      <dgm:spPr/>
      <dgm:t>
        <a:bodyPr/>
        <a:lstStyle/>
        <a:p>
          <a:endParaRPr lang="en-US"/>
        </a:p>
      </dgm:t>
    </dgm:pt>
    <dgm:pt modelId="{F573C661-A96C-4867-828A-C1A580B82978}" type="sibTrans" cxnId="{17AEAC22-894C-412C-B3B2-7653D3D02CF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36961D6-4C90-40EB-BAB5-7FBFA21DA0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cap="none">
              <a:solidFill>
                <a:schemeClr val="tx1"/>
              </a:solidFill>
              <a:latin typeface="Posterama"/>
            </a:rPr>
            <a:t>Results</a:t>
          </a:r>
          <a:endParaRPr lang="en-US" b="0" cap="none">
            <a:solidFill>
              <a:schemeClr val="tx1"/>
            </a:solidFill>
          </a:endParaRPr>
        </a:p>
      </dgm:t>
    </dgm:pt>
    <dgm:pt modelId="{9835E0F8-DD34-4EEC-AB64-91067427F35E}" type="parTrans" cxnId="{FFA02769-1C15-4AED-8D16-3D8BE5B3757E}">
      <dgm:prSet/>
      <dgm:spPr/>
      <dgm:t>
        <a:bodyPr/>
        <a:lstStyle/>
        <a:p>
          <a:endParaRPr lang="en-US"/>
        </a:p>
      </dgm:t>
    </dgm:pt>
    <dgm:pt modelId="{28F8CA23-7211-49ED-8B4E-957FFF1829FC}" type="sibTrans" cxnId="{FFA02769-1C15-4AED-8D16-3D8BE5B3757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639EF74-48A3-4B0C-98C5-77453FBD992B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0" cap="none">
              <a:solidFill>
                <a:schemeClr val="tx1"/>
              </a:solidFill>
              <a:latin typeface="Posterama"/>
            </a:rPr>
            <a:t>Relevance</a:t>
          </a:r>
          <a:endParaRPr lang="en-US" b="0" cap="none">
            <a:solidFill>
              <a:schemeClr val="tx1"/>
            </a:solidFill>
          </a:endParaRPr>
        </a:p>
      </dgm:t>
    </dgm:pt>
    <dgm:pt modelId="{7CC93D92-F389-4B67-AB02-D7EBC7951F94}" type="parTrans" cxnId="{3C341D4F-2F41-44A3-B10C-4907FC0B98F7}">
      <dgm:prSet/>
      <dgm:spPr/>
      <dgm:t>
        <a:bodyPr/>
        <a:lstStyle/>
        <a:p>
          <a:endParaRPr lang="en-US"/>
        </a:p>
      </dgm:t>
    </dgm:pt>
    <dgm:pt modelId="{A083B38A-44B8-431D-AD25-FE9D9825FDCC}" type="sibTrans" cxnId="{3C341D4F-2F41-44A3-B10C-4907FC0B98F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9E4684E-F66E-4472-A9EB-1FFD2EAC4806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0" cap="none">
              <a:solidFill>
                <a:schemeClr val="tx1"/>
              </a:solidFill>
              <a:latin typeface="Posterama"/>
            </a:rPr>
            <a:t> Limitations</a:t>
          </a:r>
          <a:endParaRPr lang="en-US" b="0" cap="none">
            <a:solidFill>
              <a:schemeClr val="tx1"/>
            </a:solidFill>
          </a:endParaRPr>
        </a:p>
      </dgm:t>
    </dgm:pt>
    <dgm:pt modelId="{15C3E9DA-BD2B-4CD0-BCFB-44B57EED5A9F}" type="parTrans" cxnId="{CE858ADA-C637-4BE2-AF54-061D66BFFCAA}">
      <dgm:prSet/>
      <dgm:spPr/>
      <dgm:t>
        <a:bodyPr/>
        <a:lstStyle/>
        <a:p>
          <a:endParaRPr lang="en-US"/>
        </a:p>
      </dgm:t>
    </dgm:pt>
    <dgm:pt modelId="{F9156AE6-92B7-47E1-AC4F-25B3F6273FFD}" type="sibTrans" cxnId="{CE858ADA-C637-4BE2-AF54-061D66BFFC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77B43C1-CC50-44DE-A417-53364479028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cap="none">
              <a:solidFill>
                <a:schemeClr val="tx1"/>
              </a:solidFill>
              <a:latin typeface="Posterama"/>
              <a:cs typeface="Calibri"/>
            </a:rPr>
            <a:t>Future research</a:t>
          </a:r>
        </a:p>
      </dgm:t>
    </dgm:pt>
    <dgm:pt modelId="{7EAFBB59-05C7-4E52-9283-362F67D58135}" type="parTrans" cxnId="{D5ECDBE4-809F-4F1D-83FD-A7FA3234E77C}">
      <dgm:prSet/>
      <dgm:spPr/>
    </dgm:pt>
    <dgm:pt modelId="{E0532ADB-654C-4401-B1F5-9C4D64BBDCE8}" type="sibTrans" cxnId="{D5ECDBE4-809F-4F1D-83FD-A7FA3234E77C}">
      <dgm:prSet/>
      <dgm:spPr/>
      <dgm:t>
        <a:bodyPr/>
        <a:lstStyle/>
        <a:p>
          <a:endParaRPr lang="en-US"/>
        </a:p>
      </dgm:t>
    </dgm:pt>
    <dgm:pt modelId="{876CB569-0771-4644-AF35-83AE8D1D31C2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 cap="none">
              <a:solidFill>
                <a:schemeClr val="tx1"/>
              </a:solidFill>
              <a:latin typeface="Posterama"/>
            </a:rPr>
            <a:t>Conclusion</a:t>
          </a:r>
          <a:endParaRPr lang="en-US" b="0" cap="none">
            <a:solidFill>
              <a:schemeClr val="tx1"/>
            </a:solidFill>
          </a:endParaRPr>
        </a:p>
      </dgm:t>
    </dgm:pt>
    <dgm:pt modelId="{D39FA705-EACC-4D34-BDB2-7B64FCFAAA8B}" type="parTrans" cxnId="{6E33869A-0EB8-4B5A-92DE-D2B9EFCD847C}">
      <dgm:prSet/>
      <dgm:spPr/>
      <dgm:t>
        <a:bodyPr/>
        <a:lstStyle/>
        <a:p>
          <a:endParaRPr lang="en-US"/>
        </a:p>
      </dgm:t>
    </dgm:pt>
    <dgm:pt modelId="{82EE2923-2DC2-4FE6-85C3-F0F09C2EB012}" type="sibTrans" cxnId="{6E33869A-0EB8-4B5A-92DE-D2B9EFCD847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E9281D2-F757-4D49-893F-50F210B6D043}" type="pres">
      <dgm:prSet presAssocID="{D8D6E611-3B0F-4B17-A4BF-01F3C9891E4D}" presName="root" presStyleCnt="0">
        <dgm:presLayoutVars>
          <dgm:dir/>
          <dgm:resizeHandles val="exact"/>
        </dgm:presLayoutVars>
      </dgm:prSet>
      <dgm:spPr/>
    </dgm:pt>
    <dgm:pt modelId="{4374CE66-CED4-4D8C-9C7E-D76538E3EBD0}" type="pres">
      <dgm:prSet presAssocID="{D8D6E611-3B0F-4B17-A4BF-01F3C9891E4D}" presName="container" presStyleCnt="0">
        <dgm:presLayoutVars>
          <dgm:dir/>
          <dgm:resizeHandles val="exact"/>
        </dgm:presLayoutVars>
      </dgm:prSet>
      <dgm:spPr/>
    </dgm:pt>
    <dgm:pt modelId="{966CA6D8-535F-44C2-90AD-709EAB69E200}" type="pres">
      <dgm:prSet presAssocID="{E0EF9D3B-A33E-46B1-B9AC-A0473789EDEC}" presName="compNode" presStyleCnt="0"/>
      <dgm:spPr/>
    </dgm:pt>
    <dgm:pt modelId="{7CA51104-927C-41B1-8D96-0C8870F32047}" type="pres">
      <dgm:prSet presAssocID="{E0EF9D3B-A33E-46B1-B9AC-A0473789EDEC}" presName="iconBgRect" presStyleLbl="bgShp" presStyleIdx="0" presStyleCnt="6"/>
      <dgm:spPr/>
    </dgm:pt>
    <dgm:pt modelId="{EAE7B48D-861F-479C-9F10-3A2E7CDF4C0C}" type="pres">
      <dgm:prSet presAssocID="{E0EF9D3B-A33E-46B1-B9AC-A0473789EDE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6CB93BB-4536-48BD-9CF0-9922C17855FF}" type="pres">
      <dgm:prSet presAssocID="{E0EF9D3B-A33E-46B1-B9AC-A0473789EDEC}" presName="spaceRect" presStyleCnt="0"/>
      <dgm:spPr/>
    </dgm:pt>
    <dgm:pt modelId="{593D58C7-2B97-4F9A-A102-03910297414C}" type="pres">
      <dgm:prSet presAssocID="{E0EF9D3B-A33E-46B1-B9AC-A0473789EDEC}" presName="textRect" presStyleLbl="revTx" presStyleIdx="0" presStyleCnt="6">
        <dgm:presLayoutVars>
          <dgm:chMax val="1"/>
          <dgm:chPref val="1"/>
        </dgm:presLayoutVars>
      </dgm:prSet>
      <dgm:spPr/>
    </dgm:pt>
    <dgm:pt modelId="{8446A3B5-0AD5-4878-8CB2-A7B20F9A1B25}" type="pres">
      <dgm:prSet presAssocID="{F573C661-A96C-4867-828A-C1A580B82978}" presName="sibTrans" presStyleLbl="sibTrans2D1" presStyleIdx="0" presStyleCnt="0"/>
      <dgm:spPr/>
    </dgm:pt>
    <dgm:pt modelId="{3250DA2E-850E-495A-89B5-7E70CA0AA180}" type="pres">
      <dgm:prSet presAssocID="{636961D6-4C90-40EB-BAB5-7FBFA21DA0FE}" presName="compNode" presStyleCnt="0"/>
      <dgm:spPr/>
    </dgm:pt>
    <dgm:pt modelId="{90F0C3DD-43C5-401C-A10C-E9A846A464E6}" type="pres">
      <dgm:prSet presAssocID="{636961D6-4C90-40EB-BAB5-7FBFA21DA0FE}" presName="iconBgRect" presStyleLbl="bgShp" presStyleIdx="1" presStyleCnt="6"/>
      <dgm:spPr/>
    </dgm:pt>
    <dgm:pt modelId="{F3A297D9-471C-4F7B-A099-49A58BF0AFC8}" type="pres">
      <dgm:prSet presAssocID="{636961D6-4C90-40EB-BAB5-7FBFA21DA0F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028B8A0-1D27-47A7-8013-127B5CD62C1E}" type="pres">
      <dgm:prSet presAssocID="{636961D6-4C90-40EB-BAB5-7FBFA21DA0FE}" presName="spaceRect" presStyleCnt="0"/>
      <dgm:spPr/>
    </dgm:pt>
    <dgm:pt modelId="{07927938-E0B7-4BED-880C-036C6EAA261B}" type="pres">
      <dgm:prSet presAssocID="{636961D6-4C90-40EB-BAB5-7FBFA21DA0FE}" presName="textRect" presStyleLbl="revTx" presStyleIdx="1" presStyleCnt="6">
        <dgm:presLayoutVars>
          <dgm:chMax val="1"/>
          <dgm:chPref val="1"/>
        </dgm:presLayoutVars>
      </dgm:prSet>
      <dgm:spPr/>
    </dgm:pt>
    <dgm:pt modelId="{A6B45C5D-7CD3-49A4-B231-A4834F07B37F}" type="pres">
      <dgm:prSet presAssocID="{28F8CA23-7211-49ED-8B4E-957FFF1829FC}" presName="sibTrans" presStyleLbl="sibTrans2D1" presStyleIdx="0" presStyleCnt="0"/>
      <dgm:spPr/>
    </dgm:pt>
    <dgm:pt modelId="{C698FE37-078E-43BE-A834-DC48B64C9BB5}" type="pres">
      <dgm:prSet presAssocID="{0639EF74-48A3-4B0C-98C5-77453FBD992B}" presName="compNode" presStyleCnt="0"/>
      <dgm:spPr/>
    </dgm:pt>
    <dgm:pt modelId="{58D6D0FB-305B-4CE7-9F41-1B796734C0B9}" type="pres">
      <dgm:prSet presAssocID="{0639EF74-48A3-4B0C-98C5-77453FBD992B}" presName="iconBgRect" presStyleLbl="bgShp" presStyleIdx="2" presStyleCnt="6"/>
      <dgm:spPr/>
    </dgm:pt>
    <dgm:pt modelId="{D1CAFBB8-0F76-4C6F-B202-5389F3A1C755}" type="pres">
      <dgm:prSet presAssocID="{0639EF74-48A3-4B0C-98C5-77453FBD992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AE839F6-AB1B-46E3-8308-64FCB170AD29}" type="pres">
      <dgm:prSet presAssocID="{0639EF74-48A3-4B0C-98C5-77453FBD992B}" presName="spaceRect" presStyleCnt="0"/>
      <dgm:spPr/>
    </dgm:pt>
    <dgm:pt modelId="{849A7725-92CF-40CF-BA77-C5D0E94A7827}" type="pres">
      <dgm:prSet presAssocID="{0639EF74-48A3-4B0C-98C5-77453FBD992B}" presName="textRect" presStyleLbl="revTx" presStyleIdx="2" presStyleCnt="6">
        <dgm:presLayoutVars>
          <dgm:chMax val="1"/>
          <dgm:chPref val="1"/>
        </dgm:presLayoutVars>
      </dgm:prSet>
      <dgm:spPr/>
    </dgm:pt>
    <dgm:pt modelId="{5C3C6CB6-BFAD-4E1A-85CD-BB074B7BD416}" type="pres">
      <dgm:prSet presAssocID="{A083B38A-44B8-431D-AD25-FE9D9825FDCC}" presName="sibTrans" presStyleLbl="sibTrans2D1" presStyleIdx="0" presStyleCnt="0"/>
      <dgm:spPr/>
    </dgm:pt>
    <dgm:pt modelId="{A2331CD7-E15E-48CD-838A-FF7D20E5AF9D}" type="pres">
      <dgm:prSet presAssocID="{F9E4684E-F66E-4472-A9EB-1FFD2EAC4806}" presName="compNode" presStyleCnt="0"/>
      <dgm:spPr/>
    </dgm:pt>
    <dgm:pt modelId="{AA24D630-96DD-4B49-8F60-BD5CA1B2EE6C}" type="pres">
      <dgm:prSet presAssocID="{F9E4684E-F66E-4472-A9EB-1FFD2EAC4806}" presName="iconBgRect" presStyleLbl="bgShp" presStyleIdx="3" presStyleCnt="6"/>
      <dgm:spPr/>
    </dgm:pt>
    <dgm:pt modelId="{54CEDFDF-F002-4858-80B1-EA5D7C3E6AA6}" type="pres">
      <dgm:prSet presAssocID="{F9E4684E-F66E-4472-A9EB-1FFD2EAC480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32236C94-3E26-444D-A8ED-EE74DE4F02C7}" type="pres">
      <dgm:prSet presAssocID="{F9E4684E-F66E-4472-A9EB-1FFD2EAC4806}" presName="spaceRect" presStyleCnt="0"/>
      <dgm:spPr/>
    </dgm:pt>
    <dgm:pt modelId="{036E12D4-A5C6-47EE-8594-B2B14E38B397}" type="pres">
      <dgm:prSet presAssocID="{F9E4684E-F66E-4472-A9EB-1FFD2EAC4806}" presName="textRect" presStyleLbl="revTx" presStyleIdx="3" presStyleCnt="6">
        <dgm:presLayoutVars>
          <dgm:chMax val="1"/>
          <dgm:chPref val="1"/>
        </dgm:presLayoutVars>
      </dgm:prSet>
      <dgm:spPr/>
    </dgm:pt>
    <dgm:pt modelId="{7D33AA01-2140-49B7-BE8D-B9708495FF43}" type="pres">
      <dgm:prSet presAssocID="{F9156AE6-92B7-47E1-AC4F-25B3F6273FFD}" presName="sibTrans" presStyleLbl="sibTrans2D1" presStyleIdx="0" presStyleCnt="0"/>
      <dgm:spPr/>
    </dgm:pt>
    <dgm:pt modelId="{B581F853-107F-4FFE-A8D4-684A9A23B9B3}" type="pres">
      <dgm:prSet presAssocID="{876CB569-0771-4644-AF35-83AE8D1D31C2}" presName="compNode" presStyleCnt="0"/>
      <dgm:spPr/>
    </dgm:pt>
    <dgm:pt modelId="{7C6BC5A3-C4C3-4A77-B284-7F3D58944332}" type="pres">
      <dgm:prSet presAssocID="{876CB569-0771-4644-AF35-83AE8D1D31C2}" presName="iconBgRect" presStyleLbl="bgShp" presStyleIdx="4" presStyleCnt="6"/>
      <dgm:spPr/>
    </dgm:pt>
    <dgm:pt modelId="{20AC2EB3-1CA5-4236-958D-2D9D57F88D68}" type="pres">
      <dgm:prSet presAssocID="{876CB569-0771-4644-AF35-83AE8D1D31C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5A5A0582-14BC-4C2D-9E36-6F602BD4D8D0}" type="pres">
      <dgm:prSet presAssocID="{876CB569-0771-4644-AF35-83AE8D1D31C2}" presName="spaceRect" presStyleCnt="0"/>
      <dgm:spPr/>
    </dgm:pt>
    <dgm:pt modelId="{C33CE779-A537-4D35-BB73-E7DD4ACC1B13}" type="pres">
      <dgm:prSet presAssocID="{876CB569-0771-4644-AF35-83AE8D1D31C2}" presName="textRect" presStyleLbl="revTx" presStyleIdx="4" presStyleCnt="6">
        <dgm:presLayoutVars>
          <dgm:chMax val="1"/>
          <dgm:chPref val="1"/>
        </dgm:presLayoutVars>
      </dgm:prSet>
      <dgm:spPr/>
    </dgm:pt>
    <dgm:pt modelId="{71E2F841-5D34-4193-BA2E-781BEECE19C3}" type="pres">
      <dgm:prSet presAssocID="{82EE2923-2DC2-4FE6-85C3-F0F09C2EB012}" presName="sibTrans" presStyleLbl="sibTrans2D1" presStyleIdx="0" presStyleCnt="0"/>
      <dgm:spPr/>
    </dgm:pt>
    <dgm:pt modelId="{4F7ECF50-AE0C-497C-9ED8-AF9CF438B3E4}" type="pres">
      <dgm:prSet presAssocID="{077B43C1-CC50-44DE-A417-533644790283}" presName="compNode" presStyleCnt="0"/>
      <dgm:spPr/>
    </dgm:pt>
    <dgm:pt modelId="{83693A59-6974-4CF1-A44E-FAE5FB727C43}" type="pres">
      <dgm:prSet presAssocID="{077B43C1-CC50-44DE-A417-533644790283}" presName="iconBgRect" presStyleLbl="bgShp" presStyleIdx="5" presStyleCnt="6"/>
      <dgm:spPr/>
    </dgm:pt>
    <dgm:pt modelId="{6D731325-0005-4EA7-B9B4-EB949D1C4864}" type="pres">
      <dgm:prSet presAssocID="{077B43C1-CC50-44DE-A417-53364479028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B48FAEC6-66F1-4F44-B210-966BCF826D1B}" type="pres">
      <dgm:prSet presAssocID="{077B43C1-CC50-44DE-A417-533644790283}" presName="spaceRect" presStyleCnt="0"/>
      <dgm:spPr/>
    </dgm:pt>
    <dgm:pt modelId="{285C4B32-8473-461E-8F07-EB7DA2501287}" type="pres">
      <dgm:prSet presAssocID="{077B43C1-CC50-44DE-A417-53364479028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E529403-A21E-4EED-8DBE-0E126BAF2979}" type="presOf" srcId="{636961D6-4C90-40EB-BAB5-7FBFA21DA0FE}" destId="{07927938-E0B7-4BED-880C-036C6EAA261B}" srcOrd="0" destOrd="0" presId="urn:microsoft.com/office/officeart/2018/2/layout/IconCircleList"/>
    <dgm:cxn modelId="{07DCB211-E515-4457-BB7F-481CA8721D02}" type="presOf" srcId="{876CB569-0771-4644-AF35-83AE8D1D31C2}" destId="{C33CE779-A537-4D35-BB73-E7DD4ACC1B13}" srcOrd="0" destOrd="0" presId="urn:microsoft.com/office/officeart/2018/2/layout/IconCircleList"/>
    <dgm:cxn modelId="{17AEAC22-894C-412C-B3B2-7653D3D02CFA}" srcId="{D8D6E611-3B0F-4B17-A4BF-01F3C9891E4D}" destId="{E0EF9D3B-A33E-46B1-B9AC-A0473789EDEC}" srcOrd="0" destOrd="0" parTransId="{9086B19D-A596-42F2-952A-48821CB8888D}" sibTransId="{F573C661-A96C-4867-828A-C1A580B82978}"/>
    <dgm:cxn modelId="{401EFF45-5E30-4BA9-84D1-C5C586607B86}" type="presOf" srcId="{28F8CA23-7211-49ED-8B4E-957FFF1829FC}" destId="{A6B45C5D-7CD3-49A4-B231-A4834F07B37F}" srcOrd="0" destOrd="0" presId="urn:microsoft.com/office/officeart/2018/2/layout/IconCircleList"/>
    <dgm:cxn modelId="{FFA02769-1C15-4AED-8D16-3D8BE5B3757E}" srcId="{D8D6E611-3B0F-4B17-A4BF-01F3C9891E4D}" destId="{636961D6-4C90-40EB-BAB5-7FBFA21DA0FE}" srcOrd="1" destOrd="0" parTransId="{9835E0F8-DD34-4EEC-AB64-91067427F35E}" sibTransId="{28F8CA23-7211-49ED-8B4E-957FFF1829FC}"/>
    <dgm:cxn modelId="{861A556A-C33D-47D3-98F1-C04182AAFB1D}" type="presOf" srcId="{E0EF9D3B-A33E-46B1-B9AC-A0473789EDEC}" destId="{593D58C7-2B97-4F9A-A102-03910297414C}" srcOrd="0" destOrd="0" presId="urn:microsoft.com/office/officeart/2018/2/layout/IconCircleList"/>
    <dgm:cxn modelId="{6DCCA66A-1C28-4A77-88B5-05D32C868BDF}" type="presOf" srcId="{F9E4684E-F66E-4472-A9EB-1FFD2EAC4806}" destId="{036E12D4-A5C6-47EE-8594-B2B14E38B397}" srcOrd="0" destOrd="0" presId="urn:microsoft.com/office/officeart/2018/2/layout/IconCircleList"/>
    <dgm:cxn modelId="{4A05D86B-E3D2-4809-BD8C-8C9DA2A7B0D0}" type="presOf" srcId="{077B43C1-CC50-44DE-A417-533644790283}" destId="{285C4B32-8473-461E-8F07-EB7DA2501287}" srcOrd="0" destOrd="0" presId="urn:microsoft.com/office/officeart/2018/2/layout/IconCircleList"/>
    <dgm:cxn modelId="{3C341D4F-2F41-44A3-B10C-4907FC0B98F7}" srcId="{D8D6E611-3B0F-4B17-A4BF-01F3C9891E4D}" destId="{0639EF74-48A3-4B0C-98C5-77453FBD992B}" srcOrd="2" destOrd="0" parTransId="{7CC93D92-F389-4B67-AB02-D7EBC7951F94}" sibTransId="{A083B38A-44B8-431D-AD25-FE9D9825FDCC}"/>
    <dgm:cxn modelId="{1F222B88-9030-47DD-B3A4-549D1B4FAE6A}" type="presOf" srcId="{82EE2923-2DC2-4FE6-85C3-F0F09C2EB012}" destId="{71E2F841-5D34-4193-BA2E-781BEECE19C3}" srcOrd="0" destOrd="0" presId="urn:microsoft.com/office/officeart/2018/2/layout/IconCircleList"/>
    <dgm:cxn modelId="{E4C45388-267B-4A7E-BB87-FBAB63DDFD96}" type="presOf" srcId="{F9156AE6-92B7-47E1-AC4F-25B3F6273FFD}" destId="{7D33AA01-2140-49B7-BE8D-B9708495FF43}" srcOrd="0" destOrd="0" presId="urn:microsoft.com/office/officeart/2018/2/layout/IconCircleList"/>
    <dgm:cxn modelId="{6E33869A-0EB8-4B5A-92DE-D2B9EFCD847C}" srcId="{D8D6E611-3B0F-4B17-A4BF-01F3C9891E4D}" destId="{876CB569-0771-4644-AF35-83AE8D1D31C2}" srcOrd="4" destOrd="0" parTransId="{D39FA705-EACC-4D34-BDB2-7B64FCFAAA8B}" sibTransId="{82EE2923-2DC2-4FE6-85C3-F0F09C2EB012}"/>
    <dgm:cxn modelId="{445354A0-A88C-46C3-B647-EED80064F2AB}" type="presOf" srcId="{D8D6E611-3B0F-4B17-A4BF-01F3C9891E4D}" destId="{CE9281D2-F757-4D49-893F-50F210B6D043}" srcOrd="0" destOrd="0" presId="urn:microsoft.com/office/officeart/2018/2/layout/IconCircleList"/>
    <dgm:cxn modelId="{5E970ECD-3517-415D-8EB2-AE943A923A96}" type="presOf" srcId="{F573C661-A96C-4867-828A-C1A580B82978}" destId="{8446A3B5-0AD5-4878-8CB2-A7B20F9A1B25}" srcOrd="0" destOrd="0" presId="urn:microsoft.com/office/officeart/2018/2/layout/IconCircleList"/>
    <dgm:cxn modelId="{CE858ADA-C637-4BE2-AF54-061D66BFFCAA}" srcId="{D8D6E611-3B0F-4B17-A4BF-01F3C9891E4D}" destId="{F9E4684E-F66E-4472-A9EB-1FFD2EAC4806}" srcOrd="3" destOrd="0" parTransId="{15C3E9DA-BD2B-4CD0-BCFB-44B57EED5A9F}" sibTransId="{F9156AE6-92B7-47E1-AC4F-25B3F6273FFD}"/>
    <dgm:cxn modelId="{D5ECDBE4-809F-4F1D-83FD-A7FA3234E77C}" srcId="{D8D6E611-3B0F-4B17-A4BF-01F3C9891E4D}" destId="{077B43C1-CC50-44DE-A417-533644790283}" srcOrd="5" destOrd="0" parTransId="{7EAFBB59-05C7-4E52-9283-362F67D58135}" sibTransId="{E0532ADB-654C-4401-B1F5-9C4D64BBDCE8}"/>
    <dgm:cxn modelId="{615318F9-0B65-47E5-85CC-B37B02F79017}" type="presOf" srcId="{0639EF74-48A3-4B0C-98C5-77453FBD992B}" destId="{849A7725-92CF-40CF-BA77-C5D0E94A7827}" srcOrd="0" destOrd="0" presId="urn:microsoft.com/office/officeart/2018/2/layout/IconCircleList"/>
    <dgm:cxn modelId="{F2C2E6FF-F5C9-408E-AFC8-21BE17C48855}" type="presOf" srcId="{A083B38A-44B8-431D-AD25-FE9D9825FDCC}" destId="{5C3C6CB6-BFAD-4E1A-85CD-BB074B7BD416}" srcOrd="0" destOrd="0" presId="urn:microsoft.com/office/officeart/2018/2/layout/IconCircleList"/>
    <dgm:cxn modelId="{C2EAC294-5386-4EC0-95F8-0DFEE8BFC805}" type="presParOf" srcId="{CE9281D2-F757-4D49-893F-50F210B6D043}" destId="{4374CE66-CED4-4D8C-9C7E-D76538E3EBD0}" srcOrd="0" destOrd="0" presId="urn:microsoft.com/office/officeart/2018/2/layout/IconCircleList"/>
    <dgm:cxn modelId="{B0BF03D6-4334-4D08-A595-6701012197F6}" type="presParOf" srcId="{4374CE66-CED4-4D8C-9C7E-D76538E3EBD0}" destId="{966CA6D8-535F-44C2-90AD-709EAB69E200}" srcOrd="0" destOrd="0" presId="urn:microsoft.com/office/officeart/2018/2/layout/IconCircleList"/>
    <dgm:cxn modelId="{B32766F8-3652-4647-851A-47643D56346E}" type="presParOf" srcId="{966CA6D8-535F-44C2-90AD-709EAB69E200}" destId="{7CA51104-927C-41B1-8D96-0C8870F32047}" srcOrd="0" destOrd="0" presId="urn:microsoft.com/office/officeart/2018/2/layout/IconCircleList"/>
    <dgm:cxn modelId="{7AD75EDE-9057-4A54-A4FC-632A2F4117CA}" type="presParOf" srcId="{966CA6D8-535F-44C2-90AD-709EAB69E200}" destId="{EAE7B48D-861F-479C-9F10-3A2E7CDF4C0C}" srcOrd="1" destOrd="0" presId="urn:microsoft.com/office/officeart/2018/2/layout/IconCircleList"/>
    <dgm:cxn modelId="{C8E7AF56-1355-4DBD-BDE3-60E73B05B6AF}" type="presParOf" srcId="{966CA6D8-535F-44C2-90AD-709EAB69E200}" destId="{96CB93BB-4536-48BD-9CF0-9922C17855FF}" srcOrd="2" destOrd="0" presId="urn:microsoft.com/office/officeart/2018/2/layout/IconCircleList"/>
    <dgm:cxn modelId="{D581941E-E7AF-4A77-91BA-887FABD4B434}" type="presParOf" srcId="{966CA6D8-535F-44C2-90AD-709EAB69E200}" destId="{593D58C7-2B97-4F9A-A102-03910297414C}" srcOrd="3" destOrd="0" presId="urn:microsoft.com/office/officeart/2018/2/layout/IconCircleList"/>
    <dgm:cxn modelId="{6EB1B9FE-9A90-48F4-88D4-31966C8E93BC}" type="presParOf" srcId="{4374CE66-CED4-4D8C-9C7E-D76538E3EBD0}" destId="{8446A3B5-0AD5-4878-8CB2-A7B20F9A1B25}" srcOrd="1" destOrd="0" presId="urn:microsoft.com/office/officeart/2018/2/layout/IconCircleList"/>
    <dgm:cxn modelId="{9631EE1F-30F8-4DE4-9F58-53170B0091CF}" type="presParOf" srcId="{4374CE66-CED4-4D8C-9C7E-D76538E3EBD0}" destId="{3250DA2E-850E-495A-89B5-7E70CA0AA180}" srcOrd="2" destOrd="0" presId="urn:microsoft.com/office/officeart/2018/2/layout/IconCircleList"/>
    <dgm:cxn modelId="{FCF1CA7B-58F8-4BFA-8C55-B1392529C62B}" type="presParOf" srcId="{3250DA2E-850E-495A-89B5-7E70CA0AA180}" destId="{90F0C3DD-43C5-401C-A10C-E9A846A464E6}" srcOrd="0" destOrd="0" presId="urn:microsoft.com/office/officeart/2018/2/layout/IconCircleList"/>
    <dgm:cxn modelId="{0296C966-8527-4367-80C9-3315086A104C}" type="presParOf" srcId="{3250DA2E-850E-495A-89B5-7E70CA0AA180}" destId="{F3A297D9-471C-4F7B-A099-49A58BF0AFC8}" srcOrd="1" destOrd="0" presId="urn:microsoft.com/office/officeart/2018/2/layout/IconCircleList"/>
    <dgm:cxn modelId="{0361CFFA-7FA3-45EF-89D4-B2E2EA2FD0A4}" type="presParOf" srcId="{3250DA2E-850E-495A-89B5-7E70CA0AA180}" destId="{1028B8A0-1D27-47A7-8013-127B5CD62C1E}" srcOrd="2" destOrd="0" presId="urn:microsoft.com/office/officeart/2018/2/layout/IconCircleList"/>
    <dgm:cxn modelId="{840F1B31-79DD-4683-8B81-6551A42F54B8}" type="presParOf" srcId="{3250DA2E-850E-495A-89B5-7E70CA0AA180}" destId="{07927938-E0B7-4BED-880C-036C6EAA261B}" srcOrd="3" destOrd="0" presId="urn:microsoft.com/office/officeart/2018/2/layout/IconCircleList"/>
    <dgm:cxn modelId="{CE4DA49C-D7EF-4142-AF41-C874B3928185}" type="presParOf" srcId="{4374CE66-CED4-4D8C-9C7E-D76538E3EBD0}" destId="{A6B45C5D-7CD3-49A4-B231-A4834F07B37F}" srcOrd="3" destOrd="0" presId="urn:microsoft.com/office/officeart/2018/2/layout/IconCircleList"/>
    <dgm:cxn modelId="{EDA1AC07-FEEE-45D9-96AB-15FC3F360723}" type="presParOf" srcId="{4374CE66-CED4-4D8C-9C7E-D76538E3EBD0}" destId="{C698FE37-078E-43BE-A834-DC48B64C9BB5}" srcOrd="4" destOrd="0" presId="urn:microsoft.com/office/officeart/2018/2/layout/IconCircleList"/>
    <dgm:cxn modelId="{B0250A49-249F-435C-A2FE-D9F5CA6172A8}" type="presParOf" srcId="{C698FE37-078E-43BE-A834-DC48B64C9BB5}" destId="{58D6D0FB-305B-4CE7-9F41-1B796734C0B9}" srcOrd="0" destOrd="0" presId="urn:microsoft.com/office/officeart/2018/2/layout/IconCircleList"/>
    <dgm:cxn modelId="{BF186A29-F9D8-458F-B572-2DAB3240DDEB}" type="presParOf" srcId="{C698FE37-078E-43BE-A834-DC48B64C9BB5}" destId="{D1CAFBB8-0F76-4C6F-B202-5389F3A1C755}" srcOrd="1" destOrd="0" presId="urn:microsoft.com/office/officeart/2018/2/layout/IconCircleList"/>
    <dgm:cxn modelId="{2ED34058-AE90-4A9C-BF43-E704FC8244A7}" type="presParOf" srcId="{C698FE37-078E-43BE-A834-DC48B64C9BB5}" destId="{7AE839F6-AB1B-46E3-8308-64FCB170AD29}" srcOrd="2" destOrd="0" presId="urn:microsoft.com/office/officeart/2018/2/layout/IconCircleList"/>
    <dgm:cxn modelId="{6F905E28-390F-45B0-A985-92022536CD02}" type="presParOf" srcId="{C698FE37-078E-43BE-A834-DC48B64C9BB5}" destId="{849A7725-92CF-40CF-BA77-C5D0E94A7827}" srcOrd="3" destOrd="0" presId="urn:microsoft.com/office/officeart/2018/2/layout/IconCircleList"/>
    <dgm:cxn modelId="{5C08D15D-6A24-457E-B7AC-24C0934C12B4}" type="presParOf" srcId="{4374CE66-CED4-4D8C-9C7E-D76538E3EBD0}" destId="{5C3C6CB6-BFAD-4E1A-85CD-BB074B7BD416}" srcOrd="5" destOrd="0" presId="urn:microsoft.com/office/officeart/2018/2/layout/IconCircleList"/>
    <dgm:cxn modelId="{FCD30DCF-E351-4B53-A996-E1FAA7CB3294}" type="presParOf" srcId="{4374CE66-CED4-4D8C-9C7E-D76538E3EBD0}" destId="{A2331CD7-E15E-48CD-838A-FF7D20E5AF9D}" srcOrd="6" destOrd="0" presId="urn:microsoft.com/office/officeart/2018/2/layout/IconCircleList"/>
    <dgm:cxn modelId="{1A81D5F1-B357-46A2-A881-16ABECA29CE8}" type="presParOf" srcId="{A2331CD7-E15E-48CD-838A-FF7D20E5AF9D}" destId="{AA24D630-96DD-4B49-8F60-BD5CA1B2EE6C}" srcOrd="0" destOrd="0" presId="urn:microsoft.com/office/officeart/2018/2/layout/IconCircleList"/>
    <dgm:cxn modelId="{9D9EB95C-8DC3-46DE-8391-C64A4F586F45}" type="presParOf" srcId="{A2331CD7-E15E-48CD-838A-FF7D20E5AF9D}" destId="{54CEDFDF-F002-4858-80B1-EA5D7C3E6AA6}" srcOrd="1" destOrd="0" presId="urn:microsoft.com/office/officeart/2018/2/layout/IconCircleList"/>
    <dgm:cxn modelId="{8B85B30E-4794-493E-B287-0F7875358595}" type="presParOf" srcId="{A2331CD7-E15E-48CD-838A-FF7D20E5AF9D}" destId="{32236C94-3E26-444D-A8ED-EE74DE4F02C7}" srcOrd="2" destOrd="0" presId="urn:microsoft.com/office/officeart/2018/2/layout/IconCircleList"/>
    <dgm:cxn modelId="{0513F480-7BCE-4E8F-97C6-B6E8D91627E3}" type="presParOf" srcId="{A2331CD7-E15E-48CD-838A-FF7D20E5AF9D}" destId="{036E12D4-A5C6-47EE-8594-B2B14E38B397}" srcOrd="3" destOrd="0" presId="urn:microsoft.com/office/officeart/2018/2/layout/IconCircleList"/>
    <dgm:cxn modelId="{325E8697-3526-404B-B2B9-29AFBFD774C6}" type="presParOf" srcId="{4374CE66-CED4-4D8C-9C7E-D76538E3EBD0}" destId="{7D33AA01-2140-49B7-BE8D-B9708495FF43}" srcOrd="7" destOrd="0" presId="urn:microsoft.com/office/officeart/2018/2/layout/IconCircleList"/>
    <dgm:cxn modelId="{2AED1CF0-E72E-493C-866E-29BCBC26DDE5}" type="presParOf" srcId="{4374CE66-CED4-4D8C-9C7E-D76538E3EBD0}" destId="{B581F853-107F-4FFE-A8D4-684A9A23B9B3}" srcOrd="8" destOrd="0" presId="urn:microsoft.com/office/officeart/2018/2/layout/IconCircleList"/>
    <dgm:cxn modelId="{DC7D0F86-12BF-4DCD-BBBB-6B63FD7A0D46}" type="presParOf" srcId="{B581F853-107F-4FFE-A8D4-684A9A23B9B3}" destId="{7C6BC5A3-C4C3-4A77-B284-7F3D58944332}" srcOrd="0" destOrd="0" presId="urn:microsoft.com/office/officeart/2018/2/layout/IconCircleList"/>
    <dgm:cxn modelId="{E3E327B5-9DA9-4900-969E-6DB3B9D34D26}" type="presParOf" srcId="{B581F853-107F-4FFE-A8D4-684A9A23B9B3}" destId="{20AC2EB3-1CA5-4236-958D-2D9D57F88D68}" srcOrd="1" destOrd="0" presId="urn:microsoft.com/office/officeart/2018/2/layout/IconCircleList"/>
    <dgm:cxn modelId="{A75D4479-1940-4512-8B69-86FE55682D3A}" type="presParOf" srcId="{B581F853-107F-4FFE-A8D4-684A9A23B9B3}" destId="{5A5A0582-14BC-4C2D-9E36-6F602BD4D8D0}" srcOrd="2" destOrd="0" presId="urn:microsoft.com/office/officeart/2018/2/layout/IconCircleList"/>
    <dgm:cxn modelId="{70DB4CF4-CDA8-46AA-B24E-3310E9619417}" type="presParOf" srcId="{B581F853-107F-4FFE-A8D4-684A9A23B9B3}" destId="{C33CE779-A537-4D35-BB73-E7DD4ACC1B13}" srcOrd="3" destOrd="0" presId="urn:microsoft.com/office/officeart/2018/2/layout/IconCircleList"/>
    <dgm:cxn modelId="{4B6BAF71-A123-4C9D-AE48-2F31F322D7F4}" type="presParOf" srcId="{4374CE66-CED4-4D8C-9C7E-D76538E3EBD0}" destId="{71E2F841-5D34-4193-BA2E-781BEECE19C3}" srcOrd="9" destOrd="0" presId="urn:microsoft.com/office/officeart/2018/2/layout/IconCircleList"/>
    <dgm:cxn modelId="{06333A43-BE46-4D4D-9820-8B0AC5F0A696}" type="presParOf" srcId="{4374CE66-CED4-4D8C-9C7E-D76538E3EBD0}" destId="{4F7ECF50-AE0C-497C-9ED8-AF9CF438B3E4}" srcOrd="10" destOrd="0" presId="urn:microsoft.com/office/officeart/2018/2/layout/IconCircleList"/>
    <dgm:cxn modelId="{A5957144-69D1-4CBC-9168-C0CB3E346982}" type="presParOf" srcId="{4F7ECF50-AE0C-497C-9ED8-AF9CF438B3E4}" destId="{83693A59-6974-4CF1-A44E-FAE5FB727C43}" srcOrd="0" destOrd="0" presId="urn:microsoft.com/office/officeart/2018/2/layout/IconCircleList"/>
    <dgm:cxn modelId="{B48CF2A1-15FB-4D18-915C-0B09E776FC6A}" type="presParOf" srcId="{4F7ECF50-AE0C-497C-9ED8-AF9CF438B3E4}" destId="{6D731325-0005-4EA7-B9B4-EB949D1C4864}" srcOrd="1" destOrd="0" presId="urn:microsoft.com/office/officeart/2018/2/layout/IconCircleList"/>
    <dgm:cxn modelId="{C85A361E-7FBB-489B-A1E5-89BA1F5A849D}" type="presParOf" srcId="{4F7ECF50-AE0C-497C-9ED8-AF9CF438B3E4}" destId="{B48FAEC6-66F1-4F44-B210-966BCF826D1B}" srcOrd="2" destOrd="0" presId="urn:microsoft.com/office/officeart/2018/2/layout/IconCircleList"/>
    <dgm:cxn modelId="{719DE55F-BCD3-43FE-8750-D8F6E272AA2B}" type="presParOf" srcId="{4F7ECF50-AE0C-497C-9ED8-AF9CF438B3E4}" destId="{285C4B32-8473-461E-8F07-EB7DA250128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51104-927C-41B1-8D96-0C8870F32047}">
      <dsp:nvSpPr>
        <dsp:cNvPr id="0" name=""/>
        <dsp:cNvSpPr/>
      </dsp:nvSpPr>
      <dsp:spPr>
        <a:xfrm>
          <a:off x="212408" y="432084"/>
          <a:ext cx="912483" cy="91248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E7B48D-861F-479C-9F10-3A2E7CDF4C0C}">
      <dsp:nvSpPr>
        <dsp:cNvPr id="0" name=""/>
        <dsp:cNvSpPr/>
      </dsp:nvSpPr>
      <dsp:spPr>
        <a:xfrm>
          <a:off x="404029" y="623705"/>
          <a:ext cx="529240" cy="5292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3D58C7-2B97-4F9A-A102-03910297414C}">
      <dsp:nvSpPr>
        <dsp:cNvPr id="0" name=""/>
        <dsp:cNvSpPr/>
      </dsp:nvSpPr>
      <dsp:spPr>
        <a:xfrm>
          <a:off x="1320424" y="432084"/>
          <a:ext cx="2150855" cy="912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cap="none">
              <a:solidFill>
                <a:schemeClr val="tx1"/>
              </a:solidFill>
              <a:latin typeface="Posterama"/>
            </a:rPr>
            <a:t>Methodology</a:t>
          </a:r>
          <a:endParaRPr lang="en-US" sz="2300" b="0" kern="1200" cap="none">
            <a:solidFill>
              <a:schemeClr val="tx1"/>
            </a:solidFill>
          </a:endParaRPr>
        </a:p>
      </dsp:txBody>
      <dsp:txXfrm>
        <a:off x="1320424" y="432084"/>
        <a:ext cx="2150855" cy="912483"/>
      </dsp:txXfrm>
    </dsp:sp>
    <dsp:sp modelId="{90F0C3DD-43C5-401C-A10C-E9A846A464E6}">
      <dsp:nvSpPr>
        <dsp:cNvPr id="0" name=""/>
        <dsp:cNvSpPr/>
      </dsp:nvSpPr>
      <dsp:spPr>
        <a:xfrm>
          <a:off x="3846049" y="432084"/>
          <a:ext cx="912483" cy="91248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A297D9-471C-4F7B-A099-49A58BF0AFC8}">
      <dsp:nvSpPr>
        <dsp:cNvPr id="0" name=""/>
        <dsp:cNvSpPr/>
      </dsp:nvSpPr>
      <dsp:spPr>
        <a:xfrm>
          <a:off x="4037671" y="623705"/>
          <a:ext cx="529240" cy="5292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27938-E0B7-4BED-880C-036C6EAA261B}">
      <dsp:nvSpPr>
        <dsp:cNvPr id="0" name=""/>
        <dsp:cNvSpPr/>
      </dsp:nvSpPr>
      <dsp:spPr>
        <a:xfrm>
          <a:off x="4954066" y="432084"/>
          <a:ext cx="2150855" cy="912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cap="none">
              <a:solidFill>
                <a:schemeClr val="tx1"/>
              </a:solidFill>
              <a:latin typeface="Posterama"/>
            </a:rPr>
            <a:t>Results</a:t>
          </a:r>
          <a:endParaRPr lang="en-US" sz="2300" b="0" kern="1200" cap="none">
            <a:solidFill>
              <a:schemeClr val="tx1"/>
            </a:solidFill>
          </a:endParaRPr>
        </a:p>
      </dsp:txBody>
      <dsp:txXfrm>
        <a:off x="4954066" y="432084"/>
        <a:ext cx="2150855" cy="912483"/>
      </dsp:txXfrm>
    </dsp:sp>
    <dsp:sp modelId="{58D6D0FB-305B-4CE7-9F41-1B796734C0B9}">
      <dsp:nvSpPr>
        <dsp:cNvPr id="0" name=""/>
        <dsp:cNvSpPr/>
      </dsp:nvSpPr>
      <dsp:spPr>
        <a:xfrm>
          <a:off x="7479691" y="432084"/>
          <a:ext cx="912483" cy="91248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CAFBB8-0F76-4C6F-B202-5389F3A1C755}">
      <dsp:nvSpPr>
        <dsp:cNvPr id="0" name=""/>
        <dsp:cNvSpPr/>
      </dsp:nvSpPr>
      <dsp:spPr>
        <a:xfrm>
          <a:off x="7671313" y="623705"/>
          <a:ext cx="529240" cy="5292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A7725-92CF-40CF-BA77-C5D0E94A7827}">
      <dsp:nvSpPr>
        <dsp:cNvPr id="0" name=""/>
        <dsp:cNvSpPr/>
      </dsp:nvSpPr>
      <dsp:spPr>
        <a:xfrm>
          <a:off x="8587707" y="432084"/>
          <a:ext cx="2150855" cy="912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cap="none">
              <a:solidFill>
                <a:schemeClr val="tx1"/>
              </a:solidFill>
              <a:latin typeface="Posterama"/>
            </a:rPr>
            <a:t>Relevance</a:t>
          </a:r>
          <a:endParaRPr lang="en-US" sz="2300" b="0" kern="1200" cap="none">
            <a:solidFill>
              <a:schemeClr val="tx1"/>
            </a:solidFill>
          </a:endParaRPr>
        </a:p>
      </dsp:txBody>
      <dsp:txXfrm>
        <a:off x="8587707" y="432084"/>
        <a:ext cx="2150855" cy="912483"/>
      </dsp:txXfrm>
    </dsp:sp>
    <dsp:sp modelId="{AA24D630-96DD-4B49-8F60-BD5CA1B2EE6C}">
      <dsp:nvSpPr>
        <dsp:cNvPr id="0" name=""/>
        <dsp:cNvSpPr/>
      </dsp:nvSpPr>
      <dsp:spPr>
        <a:xfrm>
          <a:off x="212408" y="1895354"/>
          <a:ext cx="912483" cy="91248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CEDFDF-F002-4858-80B1-EA5D7C3E6AA6}">
      <dsp:nvSpPr>
        <dsp:cNvPr id="0" name=""/>
        <dsp:cNvSpPr/>
      </dsp:nvSpPr>
      <dsp:spPr>
        <a:xfrm>
          <a:off x="404029" y="2086976"/>
          <a:ext cx="529240" cy="52924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6E12D4-A5C6-47EE-8594-B2B14E38B397}">
      <dsp:nvSpPr>
        <dsp:cNvPr id="0" name=""/>
        <dsp:cNvSpPr/>
      </dsp:nvSpPr>
      <dsp:spPr>
        <a:xfrm>
          <a:off x="1320424" y="1895354"/>
          <a:ext cx="2150855" cy="912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cap="none">
              <a:solidFill>
                <a:schemeClr val="tx1"/>
              </a:solidFill>
              <a:latin typeface="Posterama"/>
            </a:rPr>
            <a:t> Limitations</a:t>
          </a:r>
          <a:endParaRPr lang="en-US" sz="2300" b="0" kern="1200" cap="none">
            <a:solidFill>
              <a:schemeClr val="tx1"/>
            </a:solidFill>
          </a:endParaRPr>
        </a:p>
      </dsp:txBody>
      <dsp:txXfrm>
        <a:off x="1320424" y="1895354"/>
        <a:ext cx="2150855" cy="912483"/>
      </dsp:txXfrm>
    </dsp:sp>
    <dsp:sp modelId="{7C6BC5A3-C4C3-4A77-B284-7F3D58944332}">
      <dsp:nvSpPr>
        <dsp:cNvPr id="0" name=""/>
        <dsp:cNvSpPr/>
      </dsp:nvSpPr>
      <dsp:spPr>
        <a:xfrm>
          <a:off x="3846049" y="1895354"/>
          <a:ext cx="912483" cy="91248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C2EB3-1CA5-4236-958D-2D9D57F88D68}">
      <dsp:nvSpPr>
        <dsp:cNvPr id="0" name=""/>
        <dsp:cNvSpPr/>
      </dsp:nvSpPr>
      <dsp:spPr>
        <a:xfrm>
          <a:off x="4037671" y="2086976"/>
          <a:ext cx="529240" cy="52924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3CE779-A537-4D35-BB73-E7DD4ACC1B13}">
      <dsp:nvSpPr>
        <dsp:cNvPr id="0" name=""/>
        <dsp:cNvSpPr/>
      </dsp:nvSpPr>
      <dsp:spPr>
        <a:xfrm>
          <a:off x="4954066" y="1895354"/>
          <a:ext cx="2150855" cy="912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cap="none">
              <a:solidFill>
                <a:schemeClr val="tx1"/>
              </a:solidFill>
              <a:latin typeface="Posterama"/>
            </a:rPr>
            <a:t>Conclusion</a:t>
          </a:r>
          <a:endParaRPr lang="en-US" sz="2300" b="0" kern="1200" cap="none">
            <a:solidFill>
              <a:schemeClr val="tx1"/>
            </a:solidFill>
          </a:endParaRPr>
        </a:p>
      </dsp:txBody>
      <dsp:txXfrm>
        <a:off x="4954066" y="1895354"/>
        <a:ext cx="2150855" cy="912483"/>
      </dsp:txXfrm>
    </dsp:sp>
    <dsp:sp modelId="{83693A59-6974-4CF1-A44E-FAE5FB727C43}">
      <dsp:nvSpPr>
        <dsp:cNvPr id="0" name=""/>
        <dsp:cNvSpPr/>
      </dsp:nvSpPr>
      <dsp:spPr>
        <a:xfrm>
          <a:off x="7479691" y="1895354"/>
          <a:ext cx="912483" cy="91248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731325-0005-4EA7-B9B4-EB949D1C4864}">
      <dsp:nvSpPr>
        <dsp:cNvPr id="0" name=""/>
        <dsp:cNvSpPr/>
      </dsp:nvSpPr>
      <dsp:spPr>
        <a:xfrm>
          <a:off x="7671313" y="2086976"/>
          <a:ext cx="529240" cy="52924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5C4B32-8473-461E-8F07-EB7DA2501287}">
      <dsp:nvSpPr>
        <dsp:cNvPr id="0" name=""/>
        <dsp:cNvSpPr/>
      </dsp:nvSpPr>
      <dsp:spPr>
        <a:xfrm>
          <a:off x="8587707" y="1895354"/>
          <a:ext cx="2150855" cy="912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cap="none">
              <a:solidFill>
                <a:schemeClr val="tx1"/>
              </a:solidFill>
              <a:latin typeface="Posterama"/>
              <a:cs typeface="Calibri"/>
            </a:rPr>
            <a:t>Future research</a:t>
          </a:r>
        </a:p>
      </dsp:txBody>
      <dsp:txXfrm>
        <a:off x="8587707" y="1895354"/>
        <a:ext cx="2150855" cy="9124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4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35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69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7/26/2024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00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7/26/2024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14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7/26/2024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525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7/26/2024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5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7/26/2024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7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7/26/2024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8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06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1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665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0" r:id="rId6"/>
    <p:sldLayoutId id="2147483776" r:id="rId7"/>
    <p:sldLayoutId id="2147483777" r:id="rId8"/>
    <p:sldLayoutId id="2147483778" r:id="rId9"/>
    <p:sldLayoutId id="2147483779" r:id="rId10"/>
    <p:sldLayoutId id="214748378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goodproject.org/good-blog/2023/9/5/chat-gpt-first-musings" TargetMode="External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30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9.png"/><Relationship Id="rId2" Type="http://schemas.openxmlformats.org/officeDocument/2006/relationships/diagramData" Target="../diagrams/data1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23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27.png"/><Relationship Id="rId10" Type="http://schemas.openxmlformats.org/officeDocument/2006/relationships/image" Target="../media/image22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aesdes.org/category/student-work/2016/top-5-constraints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1.wdp"/><Relationship Id="rId3" Type="http://schemas.openxmlformats.org/officeDocument/2006/relationships/hyperlink" Target="https://www.thegoodproject.org/good-blog/2023/9/5/chat-gpt-first-musings" TargetMode="External"/><Relationship Id="rId7" Type="http://schemas.openxmlformats.org/officeDocument/2006/relationships/image" Target="../media/image44.svg"/><Relationship Id="rId12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6.svg"/><Relationship Id="rId5" Type="http://schemas.openxmlformats.org/officeDocument/2006/relationships/image" Target="../media/image42.svg"/><Relationship Id="rId10" Type="http://schemas.openxmlformats.org/officeDocument/2006/relationships/image" Target="../media/image45.png"/><Relationship Id="rId4" Type="http://schemas.openxmlformats.org/officeDocument/2006/relationships/image" Target="../media/image41.png"/><Relationship Id="rId9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6436FE-6431-4AA2-A47A-3613519F3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999183"/>
            <a:ext cx="5258696" cy="3504163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Evaluating the Efficiency and Accuracy of GPT-4 in Analyzing Pharmaceutical Annual Reports: A Comparative Study with Manual Review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516055-FA01-2513-4A41-BCCBA850BF1A}"/>
              </a:ext>
            </a:extLst>
          </p:cNvPr>
          <p:cNvSpPr txBox="1"/>
          <p:nvPr/>
        </p:nvSpPr>
        <p:spPr>
          <a:xfrm>
            <a:off x="621323" y="4692894"/>
            <a:ext cx="6067588" cy="1394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2400"/>
              <a:t>Presentation by: </a:t>
            </a:r>
            <a:r>
              <a:rPr lang="en-US" sz="2400" err="1"/>
              <a:t>Misan</a:t>
            </a:r>
            <a:r>
              <a:rPr lang="en-US" sz="2400"/>
              <a:t> </a:t>
            </a:r>
            <a:r>
              <a:rPr lang="en-US" sz="2400" err="1">
                <a:ea typeface="+mn-lt"/>
                <a:cs typeface="+mn-lt"/>
              </a:rPr>
              <a:t>Ayomike</a:t>
            </a:r>
            <a:endParaRPr lang="en-US" sz="2400" err="1"/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400"/>
              <a:t>Principle Investigator: Dr. Pietro </a:t>
            </a:r>
            <a:r>
              <a:rPr lang="en-US" sz="2400">
                <a:ea typeface="+mn-lt"/>
                <a:cs typeface="+mn-lt"/>
              </a:rPr>
              <a:t>Veronesi </a:t>
            </a:r>
          </a:p>
        </p:txBody>
      </p:sp>
      <p:pic>
        <p:nvPicPr>
          <p:cNvPr id="6" name="Picture 5" descr="A green square with a white logo&#10;&#10;Description automatically generated">
            <a:extLst>
              <a:ext uri="{FF2B5EF4-FFF2-40B4-BE49-F238E27FC236}">
                <a16:creationId xmlns:a16="http://schemas.microsoft.com/office/drawing/2014/main" id="{FA83C63F-2DA2-3472-0187-06A03CEBA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8719" r="23483"/>
          <a:stretch/>
        </p:blipFill>
        <p:spPr>
          <a:xfrm>
            <a:off x="6364448" y="10"/>
            <a:ext cx="5827552" cy="6857990"/>
          </a:xfrm>
          <a:custGeom>
            <a:avLst/>
            <a:gdLst/>
            <a:ahLst/>
            <a:cxnLst/>
            <a:rect l="l" t="t" r="r" b="b"/>
            <a:pathLst>
              <a:path w="5827552" h="6858000">
                <a:moveTo>
                  <a:pt x="391440" y="4232571"/>
                </a:moveTo>
                <a:cubicBezTo>
                  <a:pt x="581049" y="4232571"/>
                  <a:pt x="734757" y="4386279"/>
                  <a:pt x="734757" y="4575888"/>
                </a:cubicBezTo>
                <a:cubicBezTo>
                  <a:pt x="734757" y="4765497"/>
                  <a:pt x="581049" y="4919205"/>
                  <a:pt x="391440" y="4919205"/>
                </a:cubicBezTo>
                <a:cubicBezTo>
                  <a:pt x="201831" y="4919205"/>
                  <a:pt x="48123" y="4765497"/>
                  <a:pt x="48123" y="4575888"/>
                </a:cubicBezTo>
                <a:cubicBezTo>
                  <a:pt x="48123" y="4386279"/>
                  <a:pt x="201831" y="4232571"/>
                  <a:pt x="391440" y="4232571"/>
                </a:cubicBezTo>
                <a:close/>
                <a:moveTo>
                  <a:pt x="247368" y="1806694"/>
                </a:moveTo>
                <a:cubicBezTo>
                  <a:pt x="383986" y="1806694"/>
                  <a:pt x="494736" y="1917444"/>
                  <a:pt x="494736" y="2054062"/>
                </a:cubicBezTo>
                <a:cubicBezTo>
                  <a:pt x="494736" y="2190680"/>
                  <a:pt x="383986" y="2301430"/>
                  <a:pt x="247368" y="2301430"/>
                </a:cubicBezTo>
                <a:cubicBezTo>
                  <a:pt x="110750" y="2301430"/>
                  <a:pt x="0" y="2190680"/>
                  <a:pt x="0" y="2054062"/>
                </a:cubicBezTo>
                <a:cubicBezTo>
                  <a:pt x="0" y="1917444"/>
                  <a:pt x="110750" y="1806694"/>
                  <a:pt x="247368" y="1806694"/>
                </a:cubicBezTo>
                <a:close/>
                <a:moveTo>
                  <a:pt x="247369" y="1294715"/>
                </a:moveTo>
                <a:cubicBezTo>
                  <a:pt x="326938" y="1294715"/>
                  <a:pt x="391441" y="1359218"/>
                  <a:pt x="391441" y="1438787"/>
                </a:cubicBezTo>
                <a:cubicBezTo>
                  <a:pt x="391441" y="1518356"/>
                  <a:pt x="326938" y="1582859"/>
                  <a:pt x="247369" y="1582859"/>
                </a:cubicBezTo>
                <a:cubicBezTo>
                  <a:pt x="167800" y="1582859"/>
                  <a:pt x="103297" y="1518356"/>
                  <a:pt x="103297" y="1438787"/>
                </a:cubicBezTo>
                <a:cubicBezTo>
                  <a:pt x="103297" y="1359218"/>
                  <a:pt x="167800" y="1294715"/>
                  <a:pt x="247369" y="1294715"/>
                </a:cubicBezTo>
                <a:close/>
                <a:moveTo>
                  <a:pt x="480671" y="0"/>
                </a:moveTo>
                <a:lnTo>
                  <a:pt x="5827552" y="0"/>
                </a:lnTo>
                <a:lnTo>
                  <a:pt x="5827552" y="6858000"/>
                </a:lnTo>
                <a:lnTo>
                  <a:pt x="5825818" y="6858000"/>
                </a:lnTo>
                <a:lnTo>
                  <a:pt x="236731" y="6858000"/>
                </a:lnTo>
                <a:lnTo>
                  <a:pt x="225831" y="6841105"/>
                </a:lnTo>
                <a:cubicBezTo>
                  <a:pt x="35993" y="6490332"/>
                  <a:pt x="58970" y="6027176"/>
                  <a:pt x="314550" y="5720066"/>
                </a:cubicBezTo>
                <a:cubicBezTo>
                  <a:pt x="1530043" y="4259025"/>
                  <a:pt x="615593" y="4079388"/>
                  <a:pt x="503588" y="3464278"/>
                </a:cubicBezTo>
                <a:cubicBezTo>
                  <a:pt x="330606" y="2514465"/>
                  <a:pt x="722867" y="2276432"/>
                  <a:pt x="675681" y="1809180"/>
                </a:cubicBezTo>
                <a:cubicBezTo>
                  <a:pt x="624359" y="1301070"/>
                  <a:pt x="219491" y="1102027"/>
                  <a:pt x="245003" y="646882"/>
                </a:cubicBezTo>
                <a:cubicBezTo>
                  <a:pt x="249830" y="424885"/>
                  <a:pt x="318025" y="228632"/>
                  <a:pt x="431196" y="64140"/>
                </a:cubicBezTo>
                <a:close/>
              </a:path>
            </a:pathLst>
          </a:custGeom>
        </p:spPr>
      </p:pic>
      <p:pic>
        <p:nvPicPr>
          <p:cNvPr id="3" name="Picture 2" descr="See the source image">
            <a:extLst>
              <a:ext uri="{FF2B5EF4-FFF2-40B4-BE49-F238E27FC236}">
                <a16:creationId xmlns:a16="http://schemas.microsoft.com/office/drawing/2014/main" id="{9674A068-74CC-4E4D-F1E5-6B16E2BC3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260" y="291343"/>
            <a:ext cx="2423003" cy="562062"/>
          </a:xfrm>
          <a:prstGeom prst="rect">
            <a:avLst/>
          </a:prstGeom>
        </p:spPr>
      </p:pic>
      <p:pic>
        <p:nvPicPr>
          <p:cNvPr id="4" name="Picture 3" descr="University of Chicago Logo and symbol, meaning, history, PNG, brand">
            <a:extLst>
              <a:ext uri="{FF2B5EF4-FFF2-40B4-BE49-F238E27FC236}">
                <a16:creationId xmlns:a16="http://schemas.microsoft.com/office/drawing/2014/main" id="{8DC75D9B-6D2C-0148-B844-5204987775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9585" y="-208899"/>
            <a:ext cx="2743199" cy="154662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164DD9D-1A64-4062-A22A-5FB0695AC37B}"/>
              </a:ext>
            </a:extLst>
          </p:cNvPr>
          <p:cNvCxnSpPr/>
          <p:nvPr/>
        </p:nvCxnSpPr>
        <p:spPr>
          <a:xfrm>
            <a:off x="9283543" y="191550"/>
            <a:ext cx="1548" cy="744871"/>
          </a:xfrm>
          <a:prstGeom prst="straightConnector1">
            <a:avLst/>
          </a:prstGeom>
          <a:ln w="57150">
            <a:solidFill>
              <a:srgbClr val="E2EB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eadership Alliance Logo PNG Vector (PDF, SVG) Free Download">
            <a:extLst>
              <a:ext uri="{FF2B5EF4-FFF2-40B4-BE49-F238E27FC236}">
                <a16:creationId xmlns:a16="http://schemas.microsoft.com/office/drawing/2014/main" id="{7D7DAD75-92D4-0A1C-9564-A0205CD6A6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68733" y="5416796"/>
            <a:ext cx="1211873" cy="125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F52A5B-5810-4130-A3DB-FD2582D05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8FE145C-BED6-4533-8211-7AC773F7A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916078" cy="6858000"/>
          </a:xfrm>
          <a:custGeom>
            <a:avLst/>
            <a:gdLst>
              <a:gd name="connsiteX0" fmla="*/ 8183400 w 8916078"/>
              <a:gd name="connsiteY0" fmla="*/ 3865853 h 6820849"/>
              <a:gd name="connsiteX1" fmla="*/ 8259593 w 8916078"/>
              <a:gd name="connsiteY1" fmla="*/ 3878252 h 6820849"/>
              <a:gd name="connsiteX2" fmla="*/ 8529076 w 8916078"/>
              <a:gd name="connsiteY2" fmla="*/ 4345010 h 6820849"/>
              <a:gd name="connsiteX3" fmla="*/ 8062319 w 8916078"/>
              <a:gd name="connsiteY3" fmla="*/ 4614493 h 6820849"/>
              <a:gd name="connsiteX4" fmla="*/ 7792836 w 8916078"/>
              <a:gd name="connsiteY4" fmla="*/ 4147735 h 6820849"/>
              <a:gd name="connsiteX5" fmla="*/ 8183400 w 8916078"/>
              <a:gd name="connsiteY5" fmla="*/ 3865853 h 6820849"/>
              <a:gd name="connsiteX6" fmla="*/ 8734942 w 8916078"/>
              <a:gd name="connsiteY6" fmla="*/ 2667480 h 6820849"/>
              <a:gd name="connsiteX7" fmla="*/ 8773412 w 8916078"/>
              <a:gd name="connsiteY7" fmla="*/ 2673741 h 6820849"/>
              <a:gd name="connsiteX8" fmla="*/ 8909474 w 8916078"/>
              <a:gd name="connsiteY8" fmla="*/ 2909407 h 6820849"/>
              <a:gd name="connsiteX9" fmla="*/ 8673808 w 8916078"/>
              <a:gd name="connsiteY9" fmla="*/ 3045469 h 6820849"/>
              <a:gd name="connsiteX10" fmla="*/ 8537746 w 8916078"/>
              <a:gd name="connsiteY10" fmla="*/ 2809802 h 6820849"/>
              <a:gd name="connsiteX11" fmla="*/ 8697151 w 8916078"/>
              <a:gd name="connsiteY11" fmla="*/ 2668961 h 6820849"/>
              <a:gd name="connsiteX12" fmla="*/ 8734942 w 8916078"/>
              <a:gd name="connsiteY12" fmla="*/ 2667480 h 6820849"/>
              <a:gd name="connsiteX13" fmla="*/ 8776652 w 8916078"/>
              <a:gd name="connsiteY13" fmla="*/ 1 h 6820849"/>
              <a:gd name="connsiteX14" fmla="*/ 8786961 w 8916078"/>
              <a:gd name="connsiteY14" fmla="*/ 42970 h 6820849"/>
              <a:gd name="connsiteX15" fmla="*/ 8775876 w 8916078"/>
              <a:gd name="connsiteY15" fmla="*/ 219853 h 6820849"/>
              <a:gd name="connsiteX16" fmla="*/ 8229255 w 8916078"/>
              <a:gd name="connsiteY16" fmla="*/ 535444 h 6820849"/>
              <a:gd name="connsiteX17" fmla="*/ 7899142 w 8916078"/>
              <a:gd name="connsiteY17" fmla="*/ 78053 h 6820849"/>
              <a:gd name="connsiteX18" fmla="*/ 7911844 w 8916078"/>
              <a:gd name="connsiteY18" fmla="*/ 1 h 6820849"/>
              <a:gd name="connsiteX19" fmla="*/ 0 w 8916078"/>
              <a:gd name="connsiteY19" fmla="*/ 0 h 6820849"/>
              <a:gd name="connsiteX20" fmla="*/ 3064542 w 8916078"/>
              <a:gd name="connsiteY20" fmla="*/ 1 h 6820849"/>
              <a:gd name="connsiteX21" fmla="*/ 3626351 w 8916078"/>
              <a:gd name="connsiteY21" fmla="*/ 1 h 6820849"/>
              <a:gd name="connsiteX22" fmla="*/ 6388767 w 8916078"/>
              <a:gd name="connsiteY22" fmla="*/ 1 h 6820849"/>
              <a:gd name="connsiteX23" fmla="*/ 7293415 w 8916078"/>
              <a:gd name="connsiteY23" fmla="*/ 1 h 6820849"/>
              <a:gd name="connsiteX24" fmla="*/ 7285291 w 8916078"/>
              <a:gd name="connsiteY24" fmla="*/ 184997 h 6820849"/>
              <a:gd name="connsiteX25" fmla="*/ 7288318 w 8916078"/>
              <a:gd name="connsiteY25" fmla="*/ 419996 h 6820849"/>
              <a:gd name="connsiteX26" fmla="*/ 7736280 w 8916078"/>
              <a:gd name="connsiteY26" fmla="*/ 1068100 h 6820849"/>
              <a:gd name="connsiteX27" fmla="*/ 8184147 w 8916078"/>
              <a:gd name="connsiteY27" fmla="*/ 2589406 h 6820849"/>
              <a:gd name="connsiteX28" fmla="*/ 7738154 w 8916078"/>
              <a:gd name="connsiteY28" fmla="*/ 3164270 h 6820849"/>
              <a:gd name="connsiteX29" fmla="*/ 7579762 w 8916078"/>
              <a:gd name="connsiteY29" fmla="*/ 4641256 h 6820849"/>
              <a:gd name="connsiteX30" fmla="*/ 8191492 w 8916078"/>
              <a:gd name="connsiteY30" fmla="*/ 5670858 h 6820849"/>
              <a:gd name="connsiteX31" fmla="*/ 8477065 w 8916078"/>
              <a:gd name="connsiteY31" fmla="*/ 6707671 h 6820849"/>
              <a:gd name="connsiteX32" fmla="*/ 8478852 w 8916078"/>
              <a:gd name="connsiteY32" fmla="*/ 6820849 h 6820849"/>
              <a:gd name="connsiteX33" fmla="*/ 0 w 8916078"/>
              <a:gd name="connsiteY33" fmla="*/ 6820849 h 6820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16078" h="6820849">
                <a:moveTo>
                  <a:pt x="8183400" y="3865853"/>
                </a:moveTo>
                <a:cubicBezTo>
                  <a:pt x="8208679" y="3867370"/>
                  <a:pt x="8234181" y="3871443"/>
                  <a:pt x="8259593" y="3878252"/>
                </a:cubicBezTo>
                <a:cubicBezTo>
                  <a:pt x="8462901" y="3932728"/>
                  <a:pt x="8583552" y="4141703"/>
                  <a:pt x="8529076" y="4345010"/>
                </a:cubicBezTo>
                <a:cubicBezTo>
                  <a:pt x="8474600" y="4548317"/>
                  <a:pt x="8265626" y="4668969"/>
                  <a:pt x="8062319" y="4614493"/>
                </a:cubicBezTo>
                <a:cubicBezTo>
                  <a:pt x="7859012" y="4560017"/>
                  <a:pt x="7738360" y="4351042"/>
                  <a:pt x="7792836" y="4147735"/>
                </a:cubicBezTo>
                <a:cubicBezTo>
                  <a:pt x="7840502" y="3969841"/>
                  <a:pt x="8006457" y="3855230"/>
                  <a:pt x="8183400" y="3865853"/>
                </a:cubicBezTo>
                <a:close/>
                <a:moveTo>
                  <a:pt x="8734942" y="2667480"/>
                </a:moveTo>
                <a:cubicBezTo>
                  <a:pt x="8747705" y="2668246"/>
                  <a:pt x="8760581" y="2670303"/>
                  <a:pt x="8773412" y="2673741"/>
                </a:cubicBezTo>
                <a:cubicBezTo>
                  <a:pt x="8876062" y="2701246"/>
                  <a:pt x="8936980" y="2806757"/>
                  <a:pt x="8909474" y="2909407"/>
                </a:cubicBezTo>
                <a:cubicBezTo>
                  <a:pt x="8881969" y="3012057"/>
                  <a:pt x="8776458" y="3072974"/>
                  <a:pt x="8673808" y="3045469"/>
                </a:cubicBezTo>
                <a:cubicBezTo>
                  <a:pt x="8571158" y="3017965"/>
                  <a:pt x="8510241" y="2912452"/>
                  <a:pt x="8537746" y="2809802"/>
                </a:cubicBezTo>
                <a:cubicBezTo>
                  <a:pt x="8558375" y="2732815"/>
                  <a:pt x="8622882" y="2679302"/>
                  <a:pt x="8697151" y="2668961"/>
                </a:cubicBezTo>
                <a:cubicBezTo>
                  <a:pt x="8709529" y="2667237"/>
                  <a:pt x="8722180" y="2666714"/>
                  <a:pt x="8734942" y="2667480"/>
                </a:cubicBezTo>
                <a:close/>
                <a:moveTo>
                  <a:pt x="8776652" y="1"/>
                </a:moveTo>
                <a:lnTo>
                  <a:pt x="8786961" y="42970"/>
                </a:lnTo>
                <a:cubicBezTo>
                  <a:pt x="8794957" y="100392"/>
                  <a:pt x="8791826" y="160330"/>
                  <a:pt x="8775876" y="219853"/>
                </a:cubicBezTo>
                <a:cubicBezTo>
                  <a:pt x="8712079" y="457946"/>
                  <a:pt x="8467349" y="599241"/>
                  <a:pt x="8229255" y="535444"/>
                </a:cubicBezTo>
                <a:cubicBezTo>
                  <a:pt x="8020924" y="479621"/>
                  <a:pt x="7886703" y="285271"/>
                  <a:pt x="7899142" y="78053"/>
                </a:cubicBezTo>
                <a:lnTo>
                  <a:pt x="7911844" y="1"/>
                </a:lnTo>
                <a:close/>
                <a:moveTo>
                  <a:pt x="0" y="0"/>
                </a:moveTo>
                <a:lnTo>
                  <a:pt x="3064542" y="1"/>
                </a:lnTo>
                <a:lnTo>
                  <a:pt x="3626351" y="1"/>
                </a:lnTo>
                <a:lnTo>
                  <a:pt x="6388767" y="1"/>
                </a:lnTo>
                <a:lnTo>
                  <a:pt x="7293415" y="1"/>
                </a:lnTo>
                <a:lnTo>
                  <a:pt x="7285291" y="184997"/>
                </a:lnTo>
                <a:cubicBezTo>
                  <a:pt x="7283933" y="263521"/>
                  <a:pt x="7284806" y="341911"/>
                  <a:pt x="7288318" y="419996"/>
                </a:cubicBezTo>
                <a:cubicBezTo>
                  <a:pt x="7301507" y="709488"/>
                  <a:pt x="7530168" y="891535"/>
                  <a:pt x="7736280" y="1068100"/>
                </a:cubicBezTo>
                <a:cubicBezTo>
                  <a:pt x="8250069" y="1508062"/>
                  <a:pt x="8424916" y="2032159"/>
                  <a:pt x="8184147" y="2589406"/>
                </a:cubicBezTo>
                <a:cubicBezTo>
                  <a:pt x="8090773" y="2805524"/>
                  <a:pt x="7909218" y="2993264"/>
                  <a:pt x="7738154" y="3164270"/>
                </a:cubicBezTo>
                <a:cubicBezTo>
                  <a:pt x="7279360" y="3622745"/>
                  <a:pt x="7298159" y="4154456"/>
                  <a:pt x="7579762" y="4641256"/>
                </a:cubicBezTo>
                <a:cubicBezTo>
                  <a:pt x="7780382" y="4986833"/>
                  <a:pt x="8020938" y="5311557"/>
                  <a:pt x="8191492" y="5670858"/>
                </a:cubicBezTo>
                <a:cubicBezTo>
                  <a:pt x="8357544" y="6019043"/>
                  <a:pt x="8456063" y="6366409"/>
                  <a:pt x="8477065" y="6707671"/>
                </a:cubicBezTo>
                <a:lnTo>
                  <a:pt x="8478852" y="6820849"/>
                </a:lnTo>
                <a:lnTo>
                  <a:pt x="0" y="68208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3A23CF3-09C1-6789-D533-DF74E2AA82B8}"/>
              </a:ext>
            </a:extLst>
          </p:cNvPr>
          <p:cNvSpPr>
            <a:spLocks noGrp="1"/>
          </p:cNvSpPr>
          <p:nvPr/>
        </p:nvSpPr>
        <p:spPr>
          <a:xfrm>
            <a:off x="135670" y="1709873"/>
            <a:ext cx="7299015" cy="4055683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20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r>
              <a:rPr lang="en-US" sz="2400" dirty="0">
                <a:solidFill>
                  <a:srgbClr val="262626"/>
                </a:solidFill>
                <a:ea typeface="+mn-lt"/>
                <a:cs typeface="+mn-lt"/>
              </a:rPr>
              <a:t>Improve pharma companies' </a:t>
            </a:r>
            <a:r>
              <a:rPr lang="en-US" sz="2400" dirty="0">
                <a:solidFill>
                  <a:srgbClr val="262626"/>
                </a:solidFill>
                <a:highlight>
                  <a:srgbClr val="E2EBEB"/>
                </a:highlight>
                <a:ea typeface="+mn-lt"/>
                <a:cs typeface="+mn-lt"/>
              </a:rPr>
              <a:t>operational efficiency</a:t>
            </a:r>
            <a:endParaRPr lang="en-US" sz="2400" dirty="0">
              <a:solidFill>
                <a:srgbClr val="262626"/>
              </a:solidFill>
              <a:ea typeface="+mn-lt"/>
              <a:cs typeface="+mn-lt"/>
            </a:endParaRPr>
          </a:p>
          <a:p>
            <a:pPr marL="342900" indent="-342900">
              <a:lnSpc>
                <a:spcPct val="20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r>
              <a:rPr lang="en-US" sz="2400" dirty="0">
                <a:solidFill>
                  <a:srgbClr val="262626"/>
                </a:solidFill>
                <a:ea typeface="+mn-lt"/>
                <a:cs typeface="+mn-lt"/>
              </a:rPr>
              <a:t>Determine AI's </a:t>
            </a:r>
            <a:r>
              <a:rPr lang="en-US" sz="2400" dirty="0">
                <a:solidFill>
                  <a:srgbClr val="262626"/>
                </a:solidFill>
                <a:highlight>
                  <a:srgbClr val="E2EBEB"/>
                </a:highlight>
                <a:ea typeface="+mn-lt"/>
                <a:cs typeface="+mn-lt"/>
              </a:rPr>
              <a:t>speed</a:t>
            </a:r>
            <a:r>
              <a:rPr lang="en-US" sz="2400" dirty="0">
                <a:solidFill>
                  <a:srgbClr val="262626"/>
                </a:solidFill>
                <a:highlight>
                  <a:srgbClr val="E2EBEB"/>
                </a:highlight>
                <a:ea typeface="+mn-lt"/>
                <a:cs typeface="Arial"/>
              </a:rPr>
              <a:t> </a:t>
            </a:r>
            <a:r>
              <a:rPr lang="en-US" sz="2400" dirty="0">
                <a:solidFill>
                  <a:srgbClr val="262626"/>
                </a:solidFill>
                <a:ea typeface="+mn-lt"/>
                <a:cs typeface="Arial"/>
              </a:rPr>
              <a:t>and </a:t>
            </a:r>
            <a:r>
              <a:rPr lang="en-US" sz="2400" dirty="0">
                <a:solidFill>
                  <a:srgbClr val="262626"/>
                </a:solidFill>
                <a:ea typeface="+mn-lt"/>
                <a:cs typeface="+mn-lt"/>
              </a:rPr>
              <a:t> </a:t>
            </a:r>
            <a:r>
              <a:rPr lang="en-US" sz="2400" dirty="0">
                <a:solidFill>
                  <a:srgbClr val="262626"/>
                </a:solidFill>
                <a:highlight>
                  <a:srgbClr val="E2EBEB"/>
                </a:highlight>
                <a:ea typeface="+mn-lt"/>
                <a:cs typeface="+mn-lt"/>
              </a:rPr>
              <a:t>accuracy</a:t>
            </a:r>
            <a:endParaRPr lang="en-US" sz="2400" dirty="0">
              <a:solidFill>
                <a:srgbClr val="262626"/>
              </a:solidFill>
            </a:endParaRPr>
          </a:p>
          <a:p>
            <a:pPr marL="342900" indent="-342900">
              <a:lnSpc>
                <a:spcPct val="20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endParaRPr lang="en-US" sz="2400">
              <a:solidFill>
                <a:srgbClr val="262626"/>
              </a:solidFill>
              <a:ea typeface="+mn-lt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1EBE9B"/>
              </a:buClr>
              <a:buFont typeface="Arial,Sans-Serif" panose="020F0502020204030204" pitchFamily="34" charset="0"/>
              <a:buChar char="•"/>
            </a:pPr>
            <a:endParaRPr lang="en-US" sz="2400">
              <a:solidFill>
                <a:srgbClr val="262626"/>
              </a:solidFill>
              <a:latin typeface="Avenir Next LT Pro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endParaRPr lang="en-US" sz="2400">
              <a:solidFill>
                <a:srgbClr val="262626"/>
              </a:solidFill>
              <a:latin typeface="Avenir Next LT Pro"/>
              <a:cs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AA1D691-8DD8-3DE7-6544-06B8EF081203}"/>
              </a:ext>
            </a:extLst>
          </p:cNvPr>
          <p:cNvSpPr>
            <a:spLocks noGrp="1"/>
          </p:cNvSpPr>
          <p:nvPr/>
        </p:nvSpPr>
        <p:spPr>
          <a:xfrm>
            <a:off x="235789" y="414010"/>
            <a:ext cx="6460645" cy="67858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cs typeface="Posterama"/>
              </a:rPr>
              <a:t>Main Theme</a:t>
            </a:r>
            <a:endParaRPr lang="en-US"/>
          </a:p>
        </p:txBody>
      </p:sp>
      <p:pic>
        <p:nvPicPr>
          <p:cNvPr id="7" name="Graphic 6" descr="Processor with solid fill">
            <a:extLst>
              <a:ext uri="{FF2B5EF4-FFF2-40B4-BE49-F238E27FC236}">
                <a16:creationId xmlns:a16="http://schemas.microsoft.com/office/drawing/2014/main" id="{99E95AE0-45DD-8575-1904-E086B03B0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3586" y="1710872"/>
            <a:ext cx="2891971" cy="285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875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358F429-1073-433F-9717-82F8E7302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BEA1BDE-165E-4C2F-9EC8-175132C00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3253060"/>
          </a:xfrm>
          <a:custGeom>
            <a:avLst/>
            <a:gdLst>
              <a:gd name="connsiteX0" fmla="*/ 8927594 w 12188952"/>
              <a:gd name="connsiteY0" fmla="*/ 2809493 h 3253060"/>
              <a:gd name="connsiteX1" fmla="*/ 9140086 w 12188952"/>
              <a:gd name="connsiteY1" fmla="*/ 2932121 h 3253060"/>
              <a:gd name="connsiteX2" fmla="*/ 9040501 w 12188952"/>
              <a:gd name="connsiteY2" fmla="*/ 3229737 h 3253060"/>
              <a:gd name="connsiteX3" fmla="*/ 8742936 w 12188952"/>
              <a:gd name="connsiteY3" fmla="*/ 3130008 h 3253060"/>
              <a:gd name="connsiteX4" fmla="*/ 8842520 w 12188952"/>
              <a:gd name="connsiteY4" fmla="*/ 2832393 h 3253060"/>
              <a:gd name="connsiteX5" fmla="*/ 8927594 w 12188952"/>
              <a:gd name="connsiteY5" fmla="*/ 2809493 h 3253060"/>
              <a:gd name="connsiteX6" fmla="*/ 9839594 w 12188952"/>
              <a:gd name="connsiteY6" fmla="*/ 2254502 h 3253060"/>
              <a:gd name="connsiteX7" fmla="*/ 10269162 w 12188952"/>
              <a:gd name="connsiteY7" fmla="*/ 2502404 h 3253060"/>
              <a:gd name="connsiteX8" fmla="*/ 10067848 w 12188952"/>
              <a:gd name="connsiteY8" fmla="*/ 3104051 h 3253060"/>
              <a:gd name="connsiteX9" fmla="*/ 9466298 w 12188952"/>
              <a:gd name="connsiteY9" fmla="*/ 2902445 h 3253060"/>
              <a:gd name="connsiteX10" fmla="*/ 9667612 w 12188952"/>
              <a:gd name="connsiteY10" fmla="*/ 2300797 h 3253060"/>
              <a:gd name="connsiteX11" fmla="*/ 9839594 w 12188952"/>
              <a:gd name="connsiteY11" fmla="*/ 2254502 h 3253060"/>
              <a:gd name="connsiteX12" fmla="*/ 0 w 12188952"/>
              <a:gd name="connsiteY12" fmla="*/ 0 h 3253060"/>
              <a:gd name="connsiteX13" fmla="*/ 12188952 w 12188952"/>
              <a:gd name="connsiteY13" fmla="*/ 0 h 3253060"/>
              <a:gd name="connsiteX14" fmla="*/ 12188952 w 12188952"/>
              <a:gd name="connsiteY14" fmla="*/ 1905650 h 3253060"/>
              <a:gd name="connsiteX15" fmla="*/ 12120967 w 12188952"/>
              <a:gd name="connsiteY15" fmla="*/ 1946472 h 3253060"/>
              <a:gd name="connsiteX16" fmla="*/ 11074409 w 12188952"/>
              <a:gd name="connsiteY16" fmla="*/ 2037484 h 3253060"/>
              <a:gd name="connsiteX17" fmla="*/ 9864198 w 12188952"/>
              <a:gd name="connsiteY17" fmla="*/ 1887351 h 3253060"/>
              <a:gd name="connsiteX18" fmla="*/ 8991754 w 12188952"/>
              <a:gd name="connsiteY18" fmla="*/ 2414137 h 3253060"/>
              <a:gd name="connsiteX19" fmla="*/ 6991607 w 12188952"/>
              <a:gd name="connsiteY19" fmla="*/ 2871396 h 3253060"/>
              <a:gd name="connsiteX20" fmla="*/ 6284486 w 12188952"/>
              <a:gd name="connsiteY20" fmla="*/ 2249958 h 3253060"/>
              <a:gd name="connsiteX21" fmla="*/ 4389548 w 12188952"/>
              <a:gd name="connsiteY21" fmla="*/ 1928103 h 3253060"/>
              <a:gd name="connsiteX22" fmla="*/ 3011452 w 12188952"/>
              <a:gd name="connsiteY22" fmla="*/ 2635981 h 3253060"/>
              <a:gd name="connsiteX23" fmla="*/ 83366 w 12188952"/>
              <a:gd name="connsiteY23" fmla="*/ 2439064 h 3253060"/>
              <a:gd name="connsiteX24" fmla="*/ 0 w 12188952"/>
              <a:gd name="connsiteY24" fmla="*/ 2378538 h 325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88952" h="3253060">
                <a:moveTo>
                  <a:pt x="8927594" y="2809493"/>
                </a:moveTo>
                <a:cubicBezTo>
                  <a:pt x="9013893" y="2804140"/>
                  <a:pt x="9099082" y="2849829"/>
                  <a:pt x="9140086" y="2932121"/>
                </a:cubicBezTo>
                <a:cubicBezTo>
                  <a:pt x="9194758" y="3041846"/>
                  <a:pt x="9150173" y="3175092"/>
                  <a:pt x="9040501" y="3229737"/>
                </a:cubicBezTo>
                <a:cubicBezTo>
                  <a:pt x="8930831" y="3284381"/>
                  <a:pt x="8797607" y="3239732"/>
                  <a:pt x="8742936" y="3130008"/>
                </a:cubicBezTo>
                <a:cubicBezTo>
                  <a:pt x="8688263" y="3020284"/>
                  <a:pt x="8732849" y="2887038"/>
                  <a:pt x="8842520" y="2832393"/>
                </a:cubicBezTo>
                <a:cubicBezTo>
                  <a:pt x="8869938" y="2818732"/>
                  <a:pt x="8898827" y="2811276"/>
                  <a:pt x="8927594" y="2809493"/>
                </a:cubicBezTo>
                <a:close/>
                <a:moveTo>
                  <a:pt x="9839594" y="2254502"/>
                </a:moveTo>
                <a:cubicBezTo>
                  <a:pt x="10014053" y="2243682"/>
                  <a:pt x="10186270" y="2336045"/>
                  <a:pt x="10269162" y="2502404"/>
                </a:cubicBezTo>
                <a:cubicBezTo>
                  <a:pt x="10379684" y="2724217"/>
                  <a:pt x="10289552" y="2993584"/>
                  <a:pt x="10067848" y="3104051"/>
                </a:cubicBezTo>
                <a:cubicBezTo>
                  <a:pt x="9846143" y="3214519"/>
                  <a:pt x="9576819" y="3124257"/>
                  <a:pt x="9466298" y="2902445"/>
                </a:cubicBezTo>
                <a:cubicBezTo>
                  <a:pt x="9355776" y="2680632"/>
                  <a:pt x="9445908" y="2411265"/>
                  <a:pt x="9667612" y="2300797"/>
                </a:cubicBezTo>
                <a:cubicBezTo>
                  <a:pt x="9723039" y="2273180"/>
                  <a:pt x="9781442" y="2258108"/>
                  <a:pt x="9839594" y="2254502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1905650"/>
                </a:lnTo>
                <a:lnTo>
                  <a:pt x="12120967" y="1946472"/>
                </a:lnTo>
                <a:cubicBezTo>
                  <a:pt x="11788993" y="2117297"/>
                  <a:pt x="11440569" y="2113011"/>
                  <a:pt x="11074409" y="2037484"/>
                </a:cubicBezTo>
                <a:cubicBezTo>
                  <a:pt x="10676141" y="1955619"/>
                  <a:pt x="10268686" y="1894040"/>
                  <a:pt x="9864198" y="1887351"/>
                </a:cubicBezTo>
                <a:cubicBezTo>
                  <a:pt x="9489288" y="1881370"/>
                  <a:pt x="9236088" y="2162088"/>
                  <a:pt x="8991754" y="2414137"/>
                </a:cubicBezTo>
                <a:cubicBezTo>
                  <a:pt x="8382906" y="3042437"/>
                  <a:pt x="7692220" y="3226501"/>
                  <a:pt x="6991607" y="2871396"/>
                </a:cubicBezTo>
                <a:cubicBezTo>
                  <a:pt x="6719890" y="2733681"/>
                  <a:pt x="6491795" y="2484385"/>
                  <a:pt x="6284486" y="2249958"/>
                </a:cubicBezTo>
                <a:cubicBezTo>
                  <a:pt x="5728685" y="1621250"/>
                  <a:pt x="5040511" y="1603258"/>
                  <a:pt x="4389548" y="1928103"/>
                </a:cubicBezTo>
                <a:cubicBezTo>
                  <a:pt x="3927375" y="2159626"/>
                  <a:pt x="3488974" y="2444363"/>
                  <a:pt x="3011452" y="2635981"/>
                </a:cubicBezTo>
                <a:cubicBezTo>
                  <a:pt x="1974772" y="3054168"/>
                  <a:pt x="970194" y="3035245"/>
                  <a:pt x="83366" y="2439064"/>
                </a:cubicBezTo>
                <a:lnTo>
                  <a:pt x="0" y="23785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D9EDD-BAF2-D514-C239-A0F42190C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77" y="786383"/>
            <a:ext cx="10961077" cy="839056"/>
          </a:xfrm>
        </p:spPr>
        <p:txBody>
          <a:bodyPr>
            <a:normAutofit/>
          </a:bodyPr>
          <a:lstStyle/>
          <a:p>
            <a:r>
              <a:rPr lang="en-US" dirty="0">
                <a:cs typeface="Posterama"/>
              </a:rPr>
              <a:t>Research Agenda</a:t>
            </a:r>
            <a:endParaRPr lang="en-US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1CC9DBB-2CE5-38BA-420B-4D3F29643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504767"/>
              </p:ext>
            </p:extLst>
          </p:nvPr>
        </p:nvGraphicFramePr>
        <p:xfrm>
          <a:off x="609600" y="2888978"/>
          <a:ext cx="10950971" cy="3239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60" name="Oval 2759">
            <a:extLst>
              <a:ext uri="{FF2B5EF4-FFF2-40B4-BE49-F238E27FC236}">
                <a16:creationId xmlns:a16="http://schemas.microsoft.com/office/drawing/2014/main" id="{72BC00EA-3120-AA51-C0E4-4B4C7E7561E0}"/>
              </a:ext>
            </a:extLst>
          </p:cNvPr>
          <p:cNvSpPr/>
          <p:nvPr/>
        </p:nvSpPr>
        <p:spPr>
          <a:xfrm>
            <a:off x="998017" y="5003574"/>
            <a:ext cx="579928" cy="512495"/>
          </a:xfrm>
          <a:prstGeom prst="ellipse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62" name="Graphic 2761" descr="Scales of justice outline">
            <a:extLst>
              <a:ext uri="{FF2B5EF4-FFF2-40B4-BE49-F238E27FC236}">
                <a16:creationId xmlns:a16="http://schemas.microsoft.com/office/drawing/2014/main" id="{338C9742-09C9-8AAB-EF24-203F334219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852" y="5028526"/>
            <a:ext cx="523285" cy="523285"/>
          </a:xfrm>
          <a:prstGeom prst="rect">
            <a:avLst/>
          </a:prstGeom>
        </p:spPr>
      </p:pic>
      <p:sp>
        <p:nvSpPr>
          <p:cNvPr id="2763" name="Oval 2762">
            <a:extLst>
              <a:ext uri="{FF2B5EF4-FFF2-40B4-BE49-F238E27FC236}">
                <a16:creationId xmlns:a16="http://schemas.microsoft.com/office/drawing/2014/main" id="{B60ED040-0B89-DFCA-2088-9D084C044657}"/>
              </a:ext>
            </a:extLst>
          </p:cNvPr>
          <p:cNvSpPr/>
          <p:nvPr/>
        </p:nvSpPr>
        <p:spPr>
          <a:xfrm>
            <a:off x="998016" y="3540264"/>
            <a:ext cx="613644" cy="579928"/>
          </a:xfrm>
          <a:prstGeom prst="ellipse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4" name="Oval 2763">
            <a:extLst>
              <a:ext uri="{FF2B5EF4-FFF2-40B4-BE49-F238E27FC236}">
                <a16:creationId xmlns:a16="http://schemas.microsoft.com/office/drawing/2014/main" id="{2C935D8F-384E-D2C9-898C-474A8B9662B5}"/>
              </a:ext>
            </a:extLst>
          </p:cNvPr>
          <p:cNvSpPr/>
          <p:nvPr/>
        </p:nvSpPr>
        <p:spPr>
          <a:xfrm>
            <a:off x="4571999" y="3573981"/>
            <a:ext cx="579928" cy="512495"/>
          </a:xfrm>
          <a:prstGeom prst="ellipse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5" name="Oval 2764">
            <a:extLst>
              <a:ext uri="{FF2B5EF4-FFF2-40B4-BE49-F238E27FC236}">
                <a16:creationId xmlns:a16="http://schemas.microsoft.com/office/drawing/2014/main" id="{F5CC87D4-ACF7-113D-69A6-9FE9EE1DE25E}"/>
              </a:ext>
            </a:extLst>
          </p:cNvPr>
          <p:cNvSpPr/>
          <p:nvPr/>
        </p:nvSpPr>
        <p:spPr>
          <a:xfrm>
            <a:off x="8260618" y="3540263"/>
            <a:ext cx="579928" cy="512495"/>
          </a:xfrm>
          <a:prstGeom prst="ellipse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6" name="Oval 2765">
            <a:extLst>
              <a:ext uri="{FF2B5EF4-FFF2-40B4-BE49-F238E27FC236}">
                <a16:creationId xmlns:a16="http://schemas.microsoft.com/office/drawing/2014/main" id="{EC6D6891-DC2C-E38B-1E04-0310345632D1}"/>
              </a:ext>
            </a:extLst>
          </p:cNvPr>
          <p:cNvSpPr/>
          <p:nvPr/>
        </p:nvSpPr>
        <p:spPr>
          <a:xfrm>
            <a:off x="4592229" y="5003574"/>
            <a:ext cx="660848" cy="539468"/>
          </a:xfrm>
          <a:prstGeom prst="ellipse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7" name="Oval 2766">
            <a:extLst>
              <a:ext uri="{FF2B5EF4-FFF2-40B4-BE49-F238E27FC236}">
                <a16:creationId xmlns:a16="http://schemas.microsoft.com/office/drawing/2014/main" id="{FB9D9309-8641-2AC5-363C-1A35124F3FD9}"/>
              </a:ext>
            </a:extLst>
          </p:cNvPr>
          <p:cNvSpPr/>
          <p:nvPr/>
        </p:nvSpPr>
        <p:spPr>
          <a:xfrm>
            <a:off x="8280849" y="5030547"/>
            <a:ext cx="579928" cy="512495"/>
          </a:xfrm>
          <a:prstGeom prst="ellipse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68" name="Graphic 2767" descr="Research with solid fill">
            <a:extLst>
              <a:ext uri="{FF2B5EF4-FFF2-40B4-BE49-F238E27FC236}">
                <a16:creationId xmlns:a16="http://schemas.microsoft.com/office/drawing/2014/main" id="{E8361AC7-F9B8-E653-39ED-256EF14A10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9364" y="3518014"/>
            <a:ext cx="536773" cy="563743"/>
          </a:xfrm>
          <a:prstGeom prst="rect">
            <a:avLst/>
          </a:prstGeom>
        </p:spPr>
      </p:pic>
      <p:pic>
        <p:nvPicPr>
          <p:cNvPr id="2769" name="Graphic 2768" descr="Bar chart with solid fill">
            <a:extLst>
              <a:ext uri="{FF2B5EF4-FFF2-40B4-BE49-F238E27FC236}">
                <a16:creationId xmlns:a16="http://schemas.microsoft.com/office/drawing/2014/main" id="{802F134D-30C8-5F7C-6D5C-EC9DB69087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0781" y="3518010"/>
            <a:ext cx="543517" cy="550260"/>
          </a:xfrm>
          <a:prstGeom prst="rect">
            <a:avLst/>
          </a:prstGeom>
        </p:spPr>
      </p:pic>
      <p:pic>
        <p:nvPicPr>
          <p:cNvPr id="2770" name="Graphic 2769" descr="Gavel with solid fill">
            <a:extLst>
              <a:ext uri="{FF2B5EF4-FFF2-40B4-BE49-F238E27FC236}">
                <a16:creationId xmlns:a16="http://schemas.microsoft.com/office/drawing/2014/main" id="{C3C2FEA0-7F70-1C21-8358-87643FCABEF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40783" y="5001550"/>
            <a:ext cx="550260" cy="550260"/>
          </a:xfrm>
          <a:prstGeom prst="rect">
            <a:avLst/>
          </a:prstGeom>
        </p:spPr>
      </p:pic>
      <p:pic>
        <p:nvPicPr>
          <p:cNvPr id="2771" name="Graphic 2770" descr="End with solid fill">
            <a:extLst>
              <a:ext uri="{FF2B5EF4-FFF2-40B4-BE49-F238E27FC236}">
                <a16:creationId xmlns:a16="http://schemas.microsoft.com/office/drawing/2014/main" id="{60F6F638-8A19-9D02-FF35-19DF5EDEC52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09172" y="5001552"/>
            <a:ext cx="482825" cy="482825"/>
          </a:xfrm>
          <a:prstGeom prst="rect">
            <a:avLst/>
          </a:prstGeom>
        </p:spPr>
      </p:pic>
      <p:pic>
        <p:nvPicPr>
          <p:cNvPr id="2772" name="Graphic 2771" descr="Head with gears with solid fill">
            <a:extLst>
              <a:ext uri="{FF2B5EF4-FFF2-40B4-BE49-F238E27FC236}">
                <a16:creationId xmlns:a16="http://schemas.microsoft.com/office/drawing/2014/main" id="{3735FA7E-D180-9E8B-AA09-984D44283A7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88942" y="3518012"/>
            <a:ext cx="557003" cy="53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8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6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8DB2BE-70A1-45B8-985C-026E418D7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E07E7-7DD6-8DB2-A6E6-7ADC298EB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00150"/>
            <a:ext cx="4657282" cy="337463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How fast, accurate and reliable is AI—more specifically Chat GPT's most recent update (GPT-4o)—in reviewing financial reports? </a:t>
            </a:r>
          </a:p>
        </p:txBody>
      </p:sp>
      <p:pic>
        <p:nvPicPr>
          <p:cNvPr id="4" name="Picture 3" descr="A blue circuit board with a white logo&#10;&#10;Description automatically generated">
            <a:extLst>
              <a:ext uri="{FF2B5EF4-FFF2-40B4-BE49-F238E27FC236}">
                <a16:creationId xmlns:a16="http://schemas.microsoft.com/office/drawing/2014/main" id="{73E654C7-95C4-CA38-BD34-5F427EF63A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96" r="13671" b="2"/>
          <a:stretch/>
        </p:blipFill>
        <p:spPr>
          <a:xfrm>
            <a:off x="5646306" y="-1"/>
            <a:ext cx="6545695" cy="5728140"/>
          </a:xfrm>
          <a:custGeom>
            <a:avLst/>
            <a:gdLst/>
            <a:ahLst/>
            <a:cxnLst/>
            <a:rect l="l" t="t" r="r" b="b"/>
            <a:pathLst>
              <a:path w="6545695" h="5728140">
                <a:moveTo>
                  <a:pt x="2616380" y="4466221"/>
                </a:moveTo>
                <a:cubicBezTo>
                  <a:pt x="2911523" y="4466221"/>
                  <a:pt x="3150783" y="4705481"/>
                  <a:pt x="3150783" y="5000624"/>
                </a:cubicBezTo>
                <a:cubicBezTo>
                  <a:pt x="3150783" y="5295767"/>
                  <a:pt x="2911523" y="5535027"/>
                  <a:pt x="2616380" y="5535027"/>
                </a:cubicBezTo>
                <a:cubicBezTo>
                  <a:pt x="2321237" y="5535027"/>
                  <a:pt x="2081977" y="5295767"/>
                  <a:pt x="2081977" y="5000624"/>
                </a:cubicBezTo>
                <a:cubicBezTo>
                  <a:pt x="2081977" y="4705481"/>
                  <a:pt x="2321237" y="4466221"/>
                  <a:pt x="2616380" y="4466221"/>
                </a:cubicBezTo>
                <a:close/>
                <a:moveTo>
                  <a:pt x="6508555" y="4438651"/>
                </a:moveTo>
                <a:lnTo>
                  <a:pt x="6545695" y="4442395"/>
                </a:lnTo>
                <a:lnTo>
                  <a:pt x="6545695" y="5722287"/>
                </a:lnTo>
                <a:lnTo>
                  <a:pt x="6508555" y="5726031"/>
                </a:lnTo>
                <a:cubicBezTo>
                  <a:pt x="6153055" y="5726031"/>
                  <a:pt x="5864865" y="5437841"/>
                  <a:pt x="5864865" y="5082341"/>
                </a:cubicBezTo>
                <a:cubicBezTo>
                  <a:pt x="5864865" y="4726841"/>
                  <a:pt x="6153055" y="4438651"/>
                  <a:pt x="6508555" y="4438651"/>
                </a:cubicBezTo>
                <a:close/>
                <a:moveTo>
                  <a:pt x="643690" y="1908009"/>
                </a:moveTo>
                <a:cubicBezTo>
                  <a:pt x="999190" y="1908009"/>
                  <a:pt x="1287380" y="2196199"/>
                  <a:pt x="1287380" y="2551699"/>
                </a:cubicBezTo>
                <a:cubicBezTo>
                  <a:pt x="1287380" y="2907199"/>
                  <a:pt x="999190" y="3195389"/>
                  <a:pt x="643690" y="3195389"/>
                </a:cubicBezTo>
                <a:cubicBezTo>
                  <a:pt x="288190" y="3195389"/>
                  <a:pt x="0" y="2907199"/>
                  <a:pt x="0" y="2551699"/>
                </a:cubicBezTo>
                <a:cubicBezTo>
                  <a:pt x="0" y="2196199"/>
                  <a:pt x="288190" y="1908009"/>
                  <a:pt x="643690" y="1908009"/>
                </a:cubicBezTo>
                <a:close/>
                <a:moveTo>
                  <a:pt x="1343438" y="0"/>
                </a:moveTo>
                <a:lnTo>
                  <a:pt x="6545695" y="0"/>
                </a:lnTo>
                <a:lnTo>
                  <a:pt x="6545695" y="4185665"/>
                </a:lnTo>
                <a:lnTo>
                  <a:pt x="6503949" y="4173249"/>
                </a:lnTo>
                <a:cubicBezTo>
                  <a:pt x="6330657" y="4128375"/>
                  <a:pt x="6087455" y="4102583"/>
                  <a:pt x="5901261" y="4231782"/>
                </a:cubicBezTo>
                <a:cubicBezTo>
                  <a:pt x="5519369" y="4496370"/>
                  <a:pt x="5772178" y="5031067"/>
                  <a:pt x="5381804" y="5422715"/>
                </a:cubicBezTo>
                <a:cubicBezTo>
                  <a:pt x="5104996" y="5700294"/>
                  <a:pt x="4600596" y="5805476"/>
                  <a:pt x="4233669" y="5668063"/>
                </a:cubicBezTo>
                <a:cubicBezTo>
                  <a:pt x="3653192" y="5450674"/>
                  <a:pt x="3784943" y="4763675"/>
                  <a:pt x="3129895" y="4450477"/>
                </a:cubicBezTo>
                <a:cubicBezTo>
                  <a:pt x="2672003" y="4231446"/>
                  <a:pt x="2178033" y="4362192"/>
                  <a:pt x="2137775" y="4373601"/>
                </a:cubicBezTo>
                <a:cubicBezTo>
                  <a:pt x="1564921" y="4533740"/>
                  <a:pt x="1470666" y="5034694"/>
                  <a:pt x="971838" y="5025154"/>
                </a:cubicBezTo>
                <a:cubicBezTo>
                  <a:pt x="866310" y="5023179"/>
                  <a:pt x="525091" y="5016610"/>
                  <a:pt x="302276" y="4795749"/>
                </a:cubicBezTo>
                <a:lnTo>
                  <a:pt x="302958" y="4795228"/>
                </a:lnTo>
                <a:cubicBezTo>
                  <a:pt x="269893" y="4762453"/>
                  <a:pt x="240673" y="4726135"/>
                  <a:pt x="215714" y="4686858"/>
                </a:cubicBezTo>
                <a:cubicBezTo>
                  <a:pt x="37179" y="4405379"/>
                  <a:pt x="83908" y="3985942"/>
                  <a:pt x="297529" y="3752971"/>
                </a:cubicBezTo>
                <a:cubicBezTo>
                  <a:pt x="585181" y="3439442"/>
                  <a:pt x="966965" y="3689936"/>
                  <a:pt x="1431505" y="3365135"/>
                </a:cubicBezTo>
                <a:cubicBezTo>
                  <a:pt x="1675458" y="3194556"/>
                  <a:pt x="1971184" y="2832930"/>
                  <a:pt x="1937587" y="2478917"/>
                </a:cubicBezTo>
                <a:cubicBezTo>
                  <a:pt x="1881332" y="1886418"/>
                  <a:pt x="952691" y="1868869"/>
                  <a:pt x="796634" y="1179326"/>
                </a:cubicBezTo>
                <a:cubicBezTo>
                  <a:pt x="712321" y="804978"/>
                  <a:pt x="879884" y="345043"/>
                  <a:pt x="1168762" y="107990"/>
                </a:cubicBezTo>
                <a:cubicBezTo>
                  <a:pt x="1224164" y="62588"/>
                  <a:pt x="1280383" y="28334"/>
                  <a:pt x="1337047" y="246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29478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377C4E-2DBB-4C90-8B3E-E974607B2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77B4CB6-64B7-4C1D-B623-F1EC02FCC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920134"/>
            <a:ext cx="12192000" cy="5937866"/>
          </a:xfrm>
          <a:custGeom>
            <a:avLst/>
            <a:gdLst>
              <a:gd name="connsiteX0" fmla="*/ 8930642 w 12192000"/>
              <a:gd name="connsiteY0" fmla="*/ 5494299 h 5937866"/>
              <a:gd name="connsiteX1" fmla="*/ 9143134 w 12192000"/>
              <a:gd name="connsiteY1" fmla="*/ 5616927 h 5937866"/>
              <a:gd name="connsiteX2" fmla="*/ 9043549 w 12192000"/>
              <a:gd name="connsiteY2" fmla="*/ 5914543 h 5937866"/>
              <a:gd name="connsiteX3" fmla="*/ 8745984 w 12192000"/>
              <a:gd name="connsiteY3" fmla="*/ 5814814 h 5937866"/>
              <a:gd name="connsiteX4" fmla="*/ 8845568 w 12192000"/>
              <a:gd name="connsiteY4" fmla="*/ 5517199 h 5937866"/>
              <a:gd name="connsiteX5" fmla="*/ 8930642 w 12192000"/>
              <a:gd name="connsiteY5" fmla="*/ 5494299 h 5937866"/>
              <a:gd name="connsiteX6" fmla="*/ 9842642 w 12192000"/>
              <a:gd name="connsiteY6" fmla="*/ 4939308 h 5937866"/>
              <a:gd name="connsiteX7" fmla="*/ 10272210 w 12192000"/>
              <a:gd name="connsiteY7" fmla="*/ 5187210 h 5937866"/>
              <a:gd name="connsiteX8" fmla="*/ 10070896 w 12192000"/>
              <a:gd name="connsiteY8" fmla="*/ 5788857 h 5937866"/>
              <a:gd name="connsiteX9" fmla="*/ 9469346 w 12192000"/>
              <a:gd name="connsiteY9" fmla="*/ 5587251 h 5937866"/>
              <a:gd name="connsiteX10" fmla="*/ 9670660 w 12192000"/>
              <a:gd name="connsiteY10" fmla="*/ 4985603 h 5937866"/>
              <a:gd name="connsiteX11" fmla="*/ 9842642 w 12192000"/>
              <a:gd name="connsiteY11" fmla="*/ 4939308 h 5937866"/>
              <a:gd name="connsiteX12" fmla="*/ 0 w 12192000"/>
              <a:gd name="connsiteY12" fmla="*/ 0 h 5937866"/>
              <a:gd name="connsiteX13" fmla="*/ 12188952 w 12192000"/>
              <a:gd name="connsiteY13" fmla="*/ 0 h 5937866"/>
              <a:gd name="connsiteX14" fmla="*/ 12188952 w 12192000"/>
              <a:gd name="connsiteY14" fmla="*/ 1220565 h 5937866"/>
              <a:gd name="connsiteX15" fmla="*/ 12192000 w 12192000"/>
              <a:gd name="connsiteY15" fmla="*/ 1220565 h 5937866"/>
              <a:gd name="connsiteX16" fmla="*/ 12192000 w 12192000"/>
              <a:gd name="connsiteY16" fmla="*/ 4590456 h 5937866"/>
              <a:gd name="connsiteX17" fmla="*/ 12124015 w 12192000"/>
              <a:gd name="connsiteY17" fmla="*/ 4631278 h 5937866"/>
              <a:gd name="connsiteX18" fmla="*/ 11077457 w 12192000"/>
              <a:gd name="connsiteY18" fmla="*/ 4722290 h 5937866"/>
              <a:gd name="connsiteX19" fmla="*/ 9867246 w 12192000"/>
              <a:gd name="connsiteY19" fmla="*/ 4572157 h 5937866"/>
              <a:gd name="connsiteX20" fmla="*/ 8994802 w 12192000"/>
              <a:gd name="connsiteY20" fmla="*/ 5098943 h 5937866"/>
              <a:gd name="connsiteX21" fmla="*/ 6994655 w 12192000"/>
              <a:gd name="connsiteY21" fmla="*/ 5556202 h 5937866"/>
              <a:gd name="connsiteX22" fmla="*/ 6287534 w 12192000"/>
              <a:gd name="connsiteY22" fmla="*/ 4934764 h 5937866"/>
              <a:gd name="connsiteX23" fmla="*/ 4392596 w 12192000"/>
              <a:gd name="connsiteY23" fmla="*/ 4612909 h 5937866"/>
              <a:gd name="connsiteX24" fmla="*/ 3014500 w 12192000"/>
              <a:gd name="connsiteY24" fmla="*/ 5320787 h 5937866"/>
              <a:gd name="connsiteX25" fmla="*/ 86414 w 12192000"/>
              <a:gd name="connsiteY25" fmla="*/ 5123870 h 5937866"/>
              <a:gd name="connsiteX26" fmla="*/ 0 w 12192000"/>
              <a:gd name="connsiteY26" fmla="*/ 5061131 h 5937866"/>
              <a:gd name="connsiteX27" fmla="*/ 0 w 12192000"/>
              <a:gd name="connsiteY27" fmla="*/ 3267075 h 5937866"/>
              <a:gd name="connsiteX28" fmla="*/ 0 w 12192000"/>
              <a:gd name="connsiteY28" fmla="*/ 1220565 h 59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5937866">
                <a:moveTo>
                  <a:pt x="8930642" y="5494299"/>
                </a:moveTo>
                <a:cubicBezTo>
                  <a:pt x="9016941" y="5488946"/>
                  <a:pt x="9102130" y="5534635"/>
                  <a:pt x="9143134" y="5616927"/>
                </a:cubicBezTo>
                <a:cubicBezTo>
                  <a:pt x="9197806" y="5726652"/>
                  <a:pt x="9153221" y="5859898"/>
                  <a:pt x="9043549" y="5914543"/>
                </a:cubicBezTo>
                <a:cubicBezTo>
                  <a:pt x="8933879" y="5969187"/>
                  <a:pt x="8800655" y="5924538"/>
                  <a:pt x="8745984" y="5814814"/>
                </a:cubicBezTo>
                <a:cubicBezTo>
                  <a:pt x="8691311" y="5705090"/>
                  <a:pt x="8735897" y="5571844"/>
                  <a:pt x="8845568" y="5517199"/>
                </a:cubicBezTo>
                <a:cubicBezTo>
                  <a:pt x="8872986" y="5503538"/>
                  <a:pt x="8901875" y="5496082"/>
                  <a:pt x="8930642" y="5494299"/>
                </a:cubicBezTo>
                <a:close/>
                <a:moveTo>
                  <a:pt x="9842642" y="4939308"/>
                </a:moveTo>
                <a:cubicBezTo>
                  <a:pt x="10017101" y="4928488"/>
                  <a:pt x="10189318" y="5020851"/>
                  <a:pt x="10272210" y="5187210"/>
                </a:cubicBezTo>
                <a:cubicBezTo>
                  <a:pt x="10382732" y="5409023"/>
                  <a:pt x="10292600" y="5678390"/>
                  <a:pt x="10070896" y="5788857"/>
                </a:cubicBezTo>
                <a:cubicBezTo>
                  <a:pt x="9849191" y="5899325"/>
                  <a:pt x="9579867" y="5809063"/>
                  <a:pt x="9469346" y="5587251"/>
                </a:cubicBezTo>
                <a:cubicBezTo>
                  <a:pt x="9358824" y="5365438"/>
                  <a:pt x="9448956" y="5096071"/>
                  <a:pt x="9670660" y="4985603"/>
                </a:cubicBezTo>
                <a:cubicBezTo>
                  <a:pt x="9726087" y="4957986"/>
                  <a:pt x="9784490" y="4942914"/>
                  <a:pt x="9842642" y="4939308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1220565"/>
                </a:lnTo>
                <a:lnTo>
                  <a:pt x="12192000" y="1220565"/>
                </a:lnTo>
                <a:lnTo>
                  <a:pt x="12192000" y="4590456"/>
                </a:lnTo>
                <a:lnTo>
                  <a:pt x="12124015" y="4631278"/>
                </a:lnTo>
                <a:cubicBezTo>
                  <a:pt x="11792041" y="4802103"/>
                  <a:pt x="11443617" y="4797817"/>
                  <a:pt x="11077457" y="4722290"/>
                </a:cubicBezTo>
                <a:cubicBezTo>
                  <a:pt x="10679189" y="4640425"/>
                  <a:pt x="10271734" y="4578846"/>
                  <a:pt x="9867246" y="4572157"/>
                </a:cubicBezTo>
                <a:cubicBezTo>
                  <a:pt x="9492336" y="4566176"/>
                  <a:pt x="9239136" y="4846894"/>
                  <a:pt x="8994802" y="5098943"/>
                </a:cubicBezTo>
                <a:cubicBezTo>
                  <a:pt x="8385954" y="5727243"/>
                  <a:pt x="7695268" y="5911307"/>
                  <a:pt x="6994655" y="5556202"/>
                </a:cubicBezTo>
                <a:cubicBezTo>
                  <a:pt x="6722938" y="5418487"/>
                  <a:pt x="6494843" y="5169191"/>
                  <a:pt x="6287534" y="4934764"/>
                </a:cubicBezTo>
                <a:cubicBezTo>
                  <a:pt x="5731733" y="4306056"/>
                  <a:pt x="5043559" y="4288064"/>
                  <a:pt x="4392596" y="4612909"/>
                </a:cubicBezTo>
                <a:cubicBezTo>
                  <a:pt x="3930423" y="4844432"/>
                  <a:pt x="3492022" y="5129169"/>
                  <a:pt x="3014500" y="5320787"/>
                </a:cubicBezTo>
                <a:cubicBezTo>
                  <a:pt x="1977820" y="5738974"/>
                  <a:pt x="973242" y="5720051"/>
                  <a:pt x="86414" y="5123870"/>
                </a:cubicBezTo>
                <a:lnTo>
                  <a:pt x="0" y="5061131"/>
                </a:lnTo>
                <a:lnTo>
                  <a:pt x="0" y="3267075"/>
                </a:lnTo>
                <a:lnTo>
                  <a:pt x="0" y="12205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48515-7CC9-9E1A-B202-20FD2E799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0000" y="-9264"/>
            <a:ext cx="8296650" cy="927054"/>
          </a:xfrm>
        </p:spPr>
        <p:txBody>
          <a:bodyPr>
            <a:normAutofit fontScale="90000"/>
          </a:bodyPr>
          <a:lstStyle/>
          <a:p>
            <a:r>
              <a:rPr lang="en-US" sz="3600">
                <a:cs typeface="Posterama"/>
              </a:rPr>
              <a:t>Methodology – Numerical Data Collection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69907D5D-B31B-8898-A8E6-7193AB67E27E}"/>
              </a:ext>
            </a:extLst>
          </p:cNvPr>
          <p:cNvSpPr>
            <a:spLocks noGrp="1"/>
          </p:cNvSpPr>
          <p:nvPr/>
        </p:nvSpPr>
        <p:spPr>
          <a:xfrm>
            <a:off x="1018082" y="2836586"/>
            <a:ext cx="5088682" cy="368068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000"/>
              </a:spcBef>
              <a:buClr>
                <a:srgbClr val="1EBE9B"/>
              </a:buClr>
              <a:buFont typeface="Arial,Sans-Serif" panose="020F0502020204030204" pitchFamily="34" charset="0"/>
              <a:buChar char="•"/>
            </a:pPr>
            <a:r>
              <a:rPr lang="en-US" sz="2000" dirty="0">
                <a:solidFill>
                  <a:srgbClr val="262626"/>
                </a:solidFill>
                <a:ea typeface="+mn-lt"/>
                <a:cs typeface="Arial"/>
              </a:rPr>
              <a:t>Manual Collection</a:t>
            </a:r>
          </a:p>
          <a:p>
            <a:pPr marL="566420" lvl="2"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2000" dirty="0">
                <a:solidFill>
                  <a:srgbClr val="262626"/>
                </a:solidFill>
                <a:ea typeface="+mn-lt"/>
                <a:cs typeface="Arial"/>
              </a:rPr>
              <a:t>The </a:t>
            </a:r>
            <a:r>
              <a:rPr lang="en-US" sz="2000" dirty="0" err="1">
                <a:solidFill>
                  <a:srgbClr val="262626"/>
                </a:solidFill>
                <a:ea typeface="+mn-lt"/>
                <a:cs typeface="Arial"/>
              </a:rPr>
              <a:t>Drugs@FDA</a:t>
            </a:r>
            <a:r>
              <a:rPr lang="en-US" sz="2000" dirty="0">
                <a:solidFill>
                  <a:srgbClr val="262626"/>
                </a:solidFill>
                <a:ea typeface="+mn-lt"/>
                <a:cs typeface="Arial"/>
              </a:rPr>
              <a:t> database</a:t>
            </a:r>
            <a:endParaRPr lang="en-US" sz="2000" dirty="0"/>
          </a:p>
          <a:p>
            <a:pPr marL="566420" lvl="2"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2000" dirty="0">
                <a:solidFill>
                  <a:srgbClr val="262626"/>
                </a:solidFill>
                <a:ea typeface="+mn-lt"/>
                <a:cs typeface="Arial"/>
              </a:rPr>
              <a:t>20 pharmaceutical companies</a:t>
            </a:r>
            <a:endParaRPr lang="en-US" sz="2000" dirty="0"/>
          </a:p>
          <a:p>
            <a:pPr marL="566420" lvl="2">
              <a:lnSpc>
                <a:spcPct val="10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2000" dirty="0">
                <a:solidFill>
                  <a:srgbClr val="262626"/>
                </a:solidFill>
                <a:ea typeface="+mn-lt"/>
                <a:cs typeface="+mn-lt"/>
              </a:rPr>
              <a:t>Manually reviewed 2023 annual reports</a:t>
            </a:r>
          </a:p>
          <a:p>
            <a:pPr marL="566420" lvl="2">
              <a:lnSpc>
                <a:spcPct val="10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2000" dirty="0">
                <a:solidFill>
                  <a:srgbClr val="262626"/>
                </a:solidFill>
                <a:cs typeface="Arial"/>
              </a:rPr>
              <a:t>Excel entries</a:t>
            </a:r>
          </a:p>
          <a:p>
            <a:pPr marL="342900" indent="-342900">
              <a:lnSpc>
                <a:spcPct val="100000"/>
              </a:lnSpc>
              <a:spcBef>
                <a:spcPts val="1000"/>
              </a:spcBef>
              <a:buClr>
                <a:srgbClr val="1EBE9B"/>
              </a:buClr>
              <a:buFont typeface="Arial,Sans-Serif" panose="020F0502020204030204" pitchFamily="34" charset="0"/>
              <a:buChar char="•"/>
            </a:pPr>
            <a:endParaRPr lang="en-US" sz="2400">
              <a:solidFill>
                <a:srgbClr val="262626"/>
              </a:solidFill>
              <a:cs typeface="Arial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1000FB-B9CC-F9C6-A634-FC3E50AE0B8B}"/>
              </a:ext>
            </a:extLst>
          </p:cNvPr>
          <p:cNvSpPr>
            <a:spLocks noGrp="1"/>
          </p:cNvSpPr>
          <p:nvPr/>
        </p:nvSpPr>
        <p:spPr>
          <a:xfrm>
            <a:off x="6320236" y="2870705"/>
            <a:ext cx="5077309" cy="364657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000"/>
              </a:spcBef>
              <a:buClr>
                <a:srgbClr val="1EBE9B"/>
              </a:buClr>
              <a:buFont typeface="Arial,Sans-Serif" panose="020F0502020204030204" pitchFamily="34" charset="0"/>
              <a:buChar char="•"/>
            </a:pPr>
            <a:r>
              <a:rPr lang="en-US" sz="2000" dirty="0">
                <a:solidFill>
                  <a:srgbClr val="262626"/>
                </a:solidFill>
                <a:ea typeface="+mn-lt"/>
                <a:cs typeface="Arial"/>
              </a:rPr>
              <a:t>AI Collection</a:t>
            </a:r>
          </a:p>
          <a:p>
            <a:pPr marL="635000" lvl="1" indent="-285750">
              <a:spcBef>
                <a:spcPts val="1000"/>
              </a:spcBef>
              <a:buFont typeface="Wingdings,Sans-Serif" panose="020F0502020204030204" pitchFamily="34" charset="0"/>
              <a:buChar char="§"/>
            </a:pPr>
            <a:r>
              <a:rPr lang="en-US" sz="2000" dirty="0">
                <a:solidFill>
                  <a:srgbClr val="262626"/>
                </a:solidFill>
                <a:ea typeface="+mn-lt"/>
                <a:cs typeface="Arial"/>
              </a:rPr>
              <a:t>Utilized Chat GPT-4o </a:t>
            </a:r>
          </a:p>
          <a:p>
            <a:pPr marL="817880" lvl="2" indent="-285750">
              <a:spcBef>
                <a:spcPts val="1000"/>
              </a:spcBef>
              <a:buFont typeface="Wingdings,Sans-Serif" panose="020F0502020204030204" pitchFamily="34" charset="0"/>
              <a:buChar char="§"/>
            </a:pPr>
            <a:r>
              <a:rPr lang="en-US" sz="1600" dirty="0">
                <a:solidFill>
                  <a:srgbClr val="262626"/>
                </a:solidFill>
                <a:cs typeface="Arial"/>
              </a:rPr>
              <a:t>Advanced AI language model</a:t>
            </a:r>
          </a:p>
          <a:p>
            <a:pPr marL="817880" lvl="2" indent="-285750">
              <a:spcBef>
                <a:spcPts val="1000"/>
              </a:spcBef>
              <a:buFont typeface="Wingdings,Sans-Serif" panose="020F0502020204030204" pitchFamily="34" charset="0"/>
              <a:buChar char="§"/>
            </a:pPr>
            <a:r>
              <a:rPr lang="en-US" sz="1600" dirty="0">
                <a:solidFill>
                  <a:srgbClr val="262626"/>
                </a:solidFill>
                <a:ea typeface="+mn-lt"/>
                <a:cs typeface="Arial"/>
              </a:rPr>
              <a:t>Widely used for various applications</a:t>
            </a:r>
          </a:p>
          <a:p>
            <a:pPr marL="817880" lvl="2" indent="-285750">
              <a:spcBef>
                <a:spcPts val="1000"/>
              </a:spcBef>
              <a:buFont typeface="Wingdings,Sans-Serif" panose="020F0502020204030204" pitchFamily="34" charset="0"/>
              <a:buChar char="§"/>
            </a:pPr>
            <a:r>
              <a:rPr lang="en-US" sz="1600">
                <a:solidFill>
                  <a:srgbClr val="262626"/>
                </a:solidFill>
                <a:ea typeface="+mn-lt"/>
                <a:cs typeface="Arial"/>
              </a:rPr>
              <a:t>6 questions</a:t>
            </a:r>
          </a:p>
          <a:p>
            <a:pPr marL="817880" lvl="2" indent="-285750">
              <a:spcBef>
                <a:spcPts val="1000"/>
              </a:spcBef>
              <a:buFont typeface="Wingdings,Sans-Serif" panose="020F0502020204030204" pitchFamily="34" charset="0"/>
              <a:buChar char="§"/>
            </a:pPr>
            <a:r>
              <a:rPr lang="en-US" sz="1600" dirty="0">
                <a:solidFill>
                  <a:srgbClr val="262626"/>
                </a:solidFill>
                <a:ea typeface="+mn-lt"/>
                <a:cs typeface="Arial"/>
              </a:rPr>
              <a:t>Individual document uploads</a:t>
            </a:r>
          </a:p>
        </p:txBody>
      </p:sp>
    </p:spTree>
    <p:extLst>
      <p:ext uri="{BB962C8B-B14F-4D97-AF65-F5344CB8AC3E}">
        <p14:creationId xmlns:p14="http://schemas.microsoft.com/office/powerpoint/2010/main" val="237483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35751-DFF6-1083-58AF-B6CCB3C6D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84" y="570615"/>
            <a:ext cx="5116636" cy="14514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Methodology: Prompt </a:t>
            </a:r>
            <a:r>
              <a:rPr lang="en-US"/>
              <a:t>Questions</a:t>
            </a:r>
            <a:r>
              <a:rPr lang="en-US" kern="1200">
                <a:latin typeface="+mj-lt"/>
                <a:ea typeface="+mj-ea"/>
                <a:cs typeface="+mj-cs"/>
              </a:rPr>
              <a:t> </a:t>
            </a:r>
          </a:p>
        </p:txBody>
      </p:sp>
      <p:pic>
        <p:nvPicPr>
          <p:cNvPr id="8" name="Picture 7" descr="3D black question marks with one yellow question mark">
            <a:extLst>
              <a:ext uri="{FF2B5EF4-FFF2-40B4-BE49-F238E27FC236}">
                <a16:creationId xmlns:a16="http://schemas.microsoft.com/office/drawing/2014/main" id="{D722C70A-E6F6-A3FE-1E6C-AAAE7ED5BA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83" r="-5" b="-5"/>
          <a:stretch/>
        </p:blipFill>
        <p:spPr>
          <a:xfrm>
            <a:off x="4612147" y="10"/>
            <a:ext cx="7411218" cy="3589076"/>
          </a:xfrm>
          <a:custGeom>
            <a:avLst/>
            <a:gdLst/>
            <a:ahLst/>
            <a:cxnLst/>
            <a:rect l="l" t="t" r="r" b="b"/>
            <a:pathLst>
              <a:path w="4991611" h="2417325">
                <a:moveTo>
                  <a:pt x="1698515" y="1777228"/>
                </a:moveTo>
                <a:cubicBezTo>
                  <a:pt x="1741089" y="1769773"/>
                  <a:pt x="1786507" y="1778559"/>
                  <a:pt x="1824679" y="1805354"/>
                </a:cubicBezTo>
                <a:cubicBezTo>
                  <a:pt x="1901020" y="1858944"/>
                  <a:pt x="1919464" y="1964275"/>
                  <a:pt x="1865874" y="2040617"/>
                </a:cubicBezTo>
                <a:cubicBezTo>
                  <a:pt x="1812284" y="2116959"/>
                  <a:pt x="1706954" y="2135403"/>
                  <a:pt x="1630612" y="2081813"/>
                </a:cubicBezTo>
                <a:cubicBezTo>
                  <a:pt x="1554269" y="2028223"/>
                  <a:pt x="1535825" y="1922892"/>
                  <a:pt x="1589415" y="1846551"/>
                </a:cubicBezTo>
                <a:cubicBezTo>
                  <a:pt x="1616210" y="1808379"/>
                  <a:pt x="1655940" y="1784683"/>
                  <a:pt x="1698515" y="1777228"/>
                </a:cubicBezTo>
                <a:close/>
                <a:moveTo>
                  <a:pt x="203804" y="138075"/>
                </a:moveTo>
                <a:cubicBezTo>
                  <a:pt x="242325" y="138765"/>
                  <a:pt x="281060" y="150569"/>
                  <a:pt x="314966" y="174370"/>
                </a:cubicBezTo>
                <a:cubicBezTo>
                  <a:pt x="405384" y="237841"/>
                  <a:pt x="427228" y="362591"/>
                  <a:pt x="363758" y="453009"/>
                </a:cubicBezTo>
                <a:cubicBezTo>
                  <a:pt x="300287" y="543426"/>
                  <a:pt x="175537" y="565271"/>
                  <a:pt x="85119" y="501800"/>
                </a:cubicBezTo>
                <a:cubicBezTo>
                  <a:pt x="-5298" y="438330"/>
                  <a:pt x="-27143" y="313579"/>
                  <a:pt x="36328" y="223162"/>
                </a:cubicBezTo>
                <a:cubicBezTo>
                  <a:pt x="75997" y="166651"/>
                  <a:pt x="139603" y="136926"/>
                  <a:pt x="203804" y="138075"/>
                </a:cubicBezTo>
                <a:close/>
                <a:moveTo>
                  <a:pt x="4523751" y="0"/>
                </a:moveTo>
                <a:lnTo>
                  <a:pt x="4991611" y="0"/>
                </a:lnTo>
                <a:lnTo>
                  <a:pt x="4990548" y="56396"/>
                </a:lnTo>
                <a:cubicBezTo>
                  <a:pt x="4984038" y="86656"/>
                  <a:pt x="4971488" y="116139"/>
                  <a:pt x="4952586" y="143066"/>
                </a:cubicBezTo>
                <a:cubicBezTo>
                  <a:pt x="4876979" y="250772"/>
                  <a:pt x="4728373" y="276794"/>
                  <a:pt x="4620666" y="201187"/>
                </a:cubicBezTo>
                <a:cubicBezTo>
                  <a:pt x="4566812" y="163383"/>
                  <a:pt x="4533379" y="107329"/>
                  <a:pt x="4522861" y="47263"/>
                </a:cubicBezTo>
                <a:close/>
                <a:moveTo>
                  <a:pt x="541421" y="0"/>
                </a:moveTo>
                <a:lnTo>
                  <a:pt x="4356714" y="0"/>
                </a:lnTo>
                <a:lnTo>
                  <a:pt x="4356205" y="34459"/>
                </a:lnTo>
                <a:cubicBezTo>
                  <a:pt x="4362464" y="136224"/>
                  <a:pt x="4407157" y="234699"/>
                  <a:pt x="4484237" y="308330"/>
                </a:cubicBezTo>
                <a:cubicBezTo>
                  <a:pt x="4486133" y="310151"/>
                  <a:pt x="4488029" y="311972"/>
                  <a:pt x="4489907" y="313811"/>
                </a:cubicBezTo>
                <a:cubicBezTo>
                  <a:pt x="4733674" y="552267"/>
                  <a:pt x="4749088" y="944782"/>
                  <a:pt x="4524822" y="1201671"/>
                </a:cubicBezTo>
                <a:cubicBezTo>
                  <a:pt x="4437309" y="1301892"/>
                  <a:pt x="4326199" y="1368457"/>
                  <a:pt x="4207357" y="1400707"/>
                </a:cubicBezTo>
                <a:cubicBezTo>
                  <a:pt x="4066155" y="1439039"/>
                  <a:pt x="3957711" y="1552796"/>
                  <a:pt x="3920694" y="1694333"/>
                </a:cubicBezTo>
                <a:cubicBezTo>
                  <a:pt x="3882006" y="1842233"/>
                  <a:pt x="3807745" y="1983116"/>
                  <a:pt x="3697275" y="2103649"/>
                </a:cubicBezTo>
                <a:cubicBezTo>
                  <a:pt x="3339919" y="2493573"/>
                  <a:pt x="2728866" y="2524228"/>
                  <a:pt x="2334530" y="2171713"/>
                </a:cubicBezTo>
                <a:cubicBezTo>
                  <a:pt x="2237292" y="2084783"/>
                  <a:pt x="2161737" y="1982852"/>
                  <a:pt x="2108126" y="1872607"/>
                </a:cubicBezTo>
                <a:cubicBezTo>
                  <a:pt x="2041917" y="1736456"/>
                  <a:pt x="1902913" y="1651778"/>
                  <a:pt x="1751632" y="1647497"/>
                </a:cubicBezTo>
                <a:cubicBezTo>
                  <a:pt x="1363811" y="1636421"/>
                  <a:pt x="978655" y="1451953"/>
                  <a:pt x="721917" y="1088629"/>
                </a:cubicBezTo>
                <a:cubicBezTo>
                  <a:pt x="514495" y="795116"/>
                  <a:pt x="442915" y="431247"/>
                  <a:pt x="515690" y="89522"/>
                </a:cubicBezTo>
                <a:close/>
              </a:path>
            </a:pathLst>
          </a:cu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DE0A432-7944-3F93-6C14-CC0644F90F63}"/>
              </a:ext>
            </a:extLst>
          </p:cNvPr>
          <p:cNvSpPr>
            <a:spLocks noGrp="1"/>
          </p:cNvSpPr>
          <p:nvPr/>
        </p:nvSpPr>
        <p:spPr>
          <a:xfrm>
            <a:off x="205896" y="2159125"/>
            <a:ext cx="10112387" cy="435047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Total Revenue/Net Sales </a:t>
            </a:r>
            <a:endParaRPr lang="en-US" sz="2400">
              <a:solidFill>
                <a:srgbClr val="262626"/>
              </a:solidFill>
              <a:ea typeface="+mn-lt"/>
              <a:cs typeface="Arial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Operating Profits/loss 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Earnings Per Share (EPS) 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Research and Development (R&amp;D) 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Total Employees 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 Operating Margin %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endParaRPr lang="en-US" sz="2400">
              <a:solidFill>
                <a:srgbClr val="262626"/>
              </a:solidFill>
              <a:ea typeface="+mn-lt"/>
              <a:cs typeface="+mn-lt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endParaRPr lang="en-US" sz="2400">
              <a:solidFill>
                <a:srgbClr val="262626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776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4CCE7A-BF63-4F34-A790-506292F49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066AA63-76B1-4DA5-BDFB-DB2FD4E00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4776" y="211090"/>
            <a:ext cx="5544176" cy="6646910"/>
          </a:xfrm>
          <a:custGeom>
            <a:avLst/>
            <a:gdLst>
              <a:gd name="connsiteX0" fmla="*/ 4779974 w 5544176"/>
              <a:gd name="connsiteY0" fmla="*/ 685250 h 6646910"/>
              <a:gd name="connsiteX1" fmla="*/ 5309474 w 5544176"/>
              <a:gd name="connsiteY1" fmla="*/ 1126951 h 6646910"/>
              <a:gd name="connsiteX2" fmla="*/ 5001910 w 5544176"/>
              <a:gd name="connsiteY2" fmla="*/ 1690856 h 6646910"/>
              <a:gd name="connsiteX3" fmla="*/ 4306656 w 5544176"/>
              <a:gd name="connsiteY3" fmla="*/ 1273177 h 6646910"/>
              <a:gd name="connsiteX4" fmla="*/ 4621504 w 5544176"/>
              <a:gd name="connsiteY4" fmla="*/ 721515 h 6646910"/>
              <a:gd name="connsiteX5" fmla="*/ 4779974 w 5544176"/>
              <a:gd name="connsiteY5" fmla="*/ 685250 h 6646910"/>
              <a:gd name="connsiteX6" fmla="*/ 2760003 w 5544176"/>
              <a:gd name="connsiteY6" fmla="*/ 352577 h 6646910"/>
              <a:gd name="connsiteX7" fmla="*/ 2990385 w 5544176"/>
              <a:gd name="connsiteY7" fmla="*/ 544679 h 6646910"/>
              <a:gd name="connsiteX8" fmla="*/ 2856557 w 5544176"/>
              <a:gd name="connsiteY8" fmla="*/ 790095 h 6646910"/>
              <a:gd name="connsiteX9" fmla="*/ 2554030 w 5544176"/>
              <a:gd name="connsiteY9" fmla="*/ 608299 h 6646910"/>
              <a:gd name="connsiteX10" fmla="*/ 2691113 w 5544176"/>
              <a:gd name="connsiteY10" fmla="*/ 368075 h 6646910"/>
              <a:gd name="connsiteX11" fmla="*/ 2760003 w 5544176"/>
              <a:gd name="connsiteY11" fmla="*/ 352577 h 6646910"/>
              <a:gd name="connsiteX12" fmla="*/ 3630 w 5544176"/>
              <a:gd name="connsiteY12" fmla="*/ 28121 h 6646910"/>
              <a:gd name="connsiteX13" fmla="*/ 151871 w 5544176"/>
              <a:gd name="connsiteY13" fmla="*/ 38891 h 6646910"/>
              <a:gd name="connsiteX14" fmla="*/ 1031555 w 5544176"/>
              <a:gd name="connsiteY14" fmla="*/ 832871 h 6646910"/>
              <a:gd name="connsiteX15" fmla="*/ 1096338 w 5544176"/>
              <a:gd name="connsiteY15" fmla="*/ 964607 h 6646910"/>
              <a:gd name="connsiteX16" fmla="*/ 1409481 w 5544176"/>
              <a:gd name="connsiteY16" fmla="*/ 1265738 h 6646910"/>
              <a:gd name="connsiteX17" fmla="*/ 2318612 w 5544176"/>
              <a:gd name="connsiteY17" fmla="*/ 859062 h 6646910"/>
              <a:gd name="connsiteX18" fmla="*/ 2675615 w 5544176"/>
              <a:gd name="connsiteY18" fmla="*/ 1267985 h 6646910"/>
              <a:gd name="connsiteX19" fmla="*/ 2952957 w 5544176"/>
              <a:gd name="connsiteY19" fmla="*/ 1297896 h 6646910"/>
              <a:gd name="connsiteX20" fmla="*/ 3058268 w 5544176"/>
              <a:gd name="connsiteY20" fmla="*/ 1155778 h 6646910"/>
              <a:gd name="connsiteX21" fmla="*/ 3306706 w 5544176"/>
              <a:gd name="connsiteY21" fmla="*/ 310500 h 6646910"/>
              <a:gd name="connsiteX22" fmla="*/ 3735234 w 5544176"/>
              <a:gd name="connsiteY22" fmla="*/ 107395 h 6646910"/>
              <a:gd name="connsiteX23" fmla="*/ 3828224 w 5544176"/>
              <a:gd name="connsiteY23" fmla="*/ 117624 h 6646910"/>
              <a:gd name="connsiteX24" fmla="*/ 4231180 w 5544176"/>
              <a:gd name="connsiteY24" fmla="*/ 592260 h 6646910"/>
              <a:gd name="connsiteX25" fmla="*/ 3873092 w 5544176"/>
              <a:gd name="connsiteY25" fmla="*/ 1299370 h 6646910"/>
              <a:gd name="connsiteX26" fmla="*/ 4050935 w 5544176"/>
              <a:gd name="connsiteY26" fmla="*/ 1948439 h 6646910"/>
              <a:gd name="connsiteX27" fmla="*/ 5211525 w 5544176"/>
              <a:gd name="connsiteY27" fmla="*/ 2027402 h 6646910"/>
              <a:gd name="connsiteX28" fmla="*/ 5541097 w 5544176"/>
              <a:gd name="connsiteY28" fmla="*/ 2700958 h 6646910"/>
              <a:gd name="connsiteX29" fmla="*/ 5094823 w 5544176"/>
              <a:gd name="connsiteY29" fmla="*/ 3471378 h 6646910"/>
              <a:gd name="connsiteX30" fmla="*/ 5505528 w 5544176"/>
              <a:gd name="connsiteY30" fmla="*/ 4272564 h 6646910"/>
              <a:gd name="connsiteX31" fmla="*/ 5281423 w 5544176"/>
              <a:gd name="connsiteY31" fmla="*/ 4965183 h 6646910"/>
              <a:gd name="connsiteX32" fmla="*/ 4675749 w 5544176"/>
              <a:gd name="connsiteY32" fmla="*/ 5385343 h 6646910"/>
              <a:gd name="connsiteX33" fmla="*/ 4508838 w 5544176"/>
              <a:gd name="connsiteY33" fmla="*/ 6598516 h 6646910"/>
              <a:gd name="connsiteX34" fmla="*/ 4472787 w 5544176"/>
              <a:gd name="connsiteY34" fmla="*/ 6646910 h 6646910"/>
              <a:gd name="connsiteX35" fmla="*/ 3367517 w 5544176"/>
              <a:gd name="connsiteY35" fmla="*/ 6646910 h 6646910"/>
              <a:gd name="connsiteX36" fmla="*/ 2998981 w 5544176"/>
              <a:gd name="connsiteY36" fmla="*/ 6646910 h 6646910"/>
              <a:gd name="connsiteX37" fmla="*/ 2648733 w 5544176"/>
              <a:gd name="connsiteY37" fmla="*/ 6646910 h 6646910"/>
              <a:gd name="connsiteX38" fmla="*/ 0 w 5544176"/>
              <a:gd name="connsiteY38" fmla="*/ 6646910 h 6646910"/>
              <a:gd name="connsiteX39" fmla="*/ 0 w 5544176"/>
              <a:gd name="connsiteY39" fmla="*/ 28222 h 6646910"/>
              <a:gd name="connsiteX40" fmla="*/ 1509522 w 5544176"/>
              <a:gd name="connsiteY40" fmla="*/ 767 h 6646910"/>
              <a:gd name="connsiteX41" fmla="*/ 1986017 w 5544176"/>
              <a:gd name="connsiteY41" fmla="*/ 398066 h 6646910"/>
              <a:gd name="connsiteX42" fmla="*/ 1709217 w 5544176"/>
              <a:gd name="connsiteY42" fmla="*/ 905558 h 6646910"/>
              <a:gd name="connsiteX43" fmla="*/ 1083551 w 5544176"/>
              <a:gd name="connsiteY43" fmla="*/ 529879 h 6646910"/>
              <a:gd name="connsiteX44" fmla="*/ 1366937 w 5544176"/>
              <a:gd name="connsiteY44" fmla="*/ 33390 h 6646910"/>
              <a:gd name="connsiteX45" fmla="*/ 1509522 w 5544176"/>
              <a:gd name="connsiteY45" fmla="*/ 767 h 66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44176" h="6646910">
                <a:moveTo>
                  <a:pt x="4779974" y="685250"/>
                </a:moveTo>
                <a:cubicBezTo>
                  <a:pt x="5032054" y="670215"/>
                  <a:pt x="5267008" y="852320"/>
                  <a:pt x="5309474" y="1126951"/>
                </a:cubicBezTo>
                <a:cubicBezTo>
                  <a:pt x="5346050" y="1363456"/>
                  <a:pt x="5216949" y="1600813"/>
                  <a:pt x="5001910" y="1690856"/>
                </a:cubicBezTo>
                <a:cubicBezTo>
                  <a:pt x="4692098" y="1820733"/>
                  <a:pt x="4350283" y="1615922"/>
                  <a:pt x="4306656" y="1273177"/>
                </a:cubicBezTo>
                <a:cubicBezTo>
                  <a:pt x="4276590" y="1039231"/>
                  <a:pt x="4408479" y="807918"/>
                  <a:pt x="4621504" y="721515"/>
                </a:cubicBezTo>
                <a:cubicBezTo>
                  <a:pt x="4671997" y="700903"/>
                  <a:pt x="4725528" y="688659"/>
                  <a:pt x="4779974" y="685250"/>
                </a:cubicBezTo>
                <a:close/>
                <a:moveTo>
                  <a:pt x="2760003" y="352577"/>
                </a:moveTo>
                <a:cubicBezTo>
                  <a:pt x="2869653" y="345991"/>
                  <a:pt x="2971942" y="425187"/>
                  <a:pt x="2990385" y="544679"/>
                </a:cubicBezTo>
                <a:cubicBezTo>
                  <a:pt x="3006348" y="647665"/>
                  <a:pt x="2950167" y="750884"/>
                  <a:pt x="2856557" y="790095"/>
                </a:cubicBezTo>
                <a:cubicBezTo>
                  <a:pt x="2721799" y="846585"/>
                  <a:pt x="2573171" y="757470"/>
                  <a:pt x="2554030" y="608299"/>
                </a:cubicBezTo>
                <a:cubicBezTo>
                  <a:pt x="2540934" y="506165"/>
                  <a:pt x="2598123" y="405659"/>
                  <a:pt x="2691113" y="368075"/>
                </a:cubicBezTo>
                <a:cubicBezTo>
                  <a:pt x="2713089" y="359242"/>
                  <a:pt x="2736352" y="353973"/>
                  <a:pt x="2760003" y="352577"/>
                </a:cubicBezTo>
                <a:close/>
                <a:moveTo>
                  <a:pt x="3630" y="28121"/>
                </a:moveTo>
                <a:cubicBezTo>
                  <a:pt x="53278" y="26959"/>
                  <a:pt x="102920" y="30524"/>
                  <a:pt x="151871" y="38891"/>
                </a:cubicBezTo>
                <a:cubicBezTo>
                  <a:pt x="865103" y="112200"/>
                  <a:pt x="964292" y="593344"/>
                  <a:pt x="1031555" y="832871"/>
                </a:cubicBezTo>
                <a:cubicBezTo>
                  <a:pt x="1053330" y="878203"/>
                  <a:pt x="1074563" y="922528"/>
                  <a:pt x="1096338" y="964607"/>
                </a:cubicBezTo>
                <a:cubicBezTo>
                  <a:pt x="1174682" y="1115560"/>
                  <a:pt x="1260852" y="1237377"/>
                  <a:pt x="1409481" y="1265738"/>
                </a:cubicBezTo>
                <a:cubicBezTo>
                  <a:pt x="1767492" y="1334008"/>
                  <a:pt x="1973154" y="762896"/>
                  <a:pt x="2318612" y="859062"/>
                </a:cubicBezTo>
                <a:cubicBezTo>
                  <a:pt x="2496300" y="908501"/>
                  <a:pt x="2583943" y="1098510"/>
                  <a:pt x="2675615" y="1267985"/>
                </a:cubicBezTo>
                <a:cubicBezTo>
                  <a:pt x="2731099" y="1370507"/>
                  <a:pt x="2875466" y="1386005"/>
                  <a:pt x="2952957" y="1297896"/>
                </a:cubicBezTo>
                <a:cubicBezTo>
                  <a:pt x="2992292" y="1253804"/>
                  <a:pt x="3027543" y="1206225"/>
                  <a:pt x="3058268" y="1155778"/>
                </a:cubicBezTo>
                <a:cubicBezTo>
                  <a:pt x="3256027" y="815280"/>
                  <a:pt x="3063848" y="537317"/>
                  <a:pt x="3306706" y="310500"/>
                </a:cubicBezTo>
                <a:cubicBezTo>
                  <a:pt x="3358006" y="262378"/>
                  <a:pt x="3524148" y="107395"/>
                  <a:pt x="3735234" y="107395"/>
                </a:cubicBezTo>
                <a:cubicBezTo>
                  <a:pt x="3766510" y="107395"/>
                  <a:pt x="3797693" y="110804"/>
                  <a:pt x="3828224" y="117624"/>
                </a:cubicBezTo>
                <a:cubicBezTo>
                  <a:pt x="4046595" y="166056"/>
                  <a:pt x="4222967" y="384349"/>
                  <a:pt x="4231180" y="592260"/>
                </a:cubicBezTo>
                <a:cubicBezTo>
                  <a:pt x="4242339" y="872003"/>
                  <a:pt x="3941207" y="932136"/>
                  <a:pt x="3873092" y="1299370"/>
                </a:cubicBezTo>
                <a:cubicBezTo>
                  <a:pt x="3837368" y="1492245"/>
                  <a:pt x="3867280" y="1798492"/>
                  <a:pt x="4050935" y="1948439"/>
                </a:cubicBezTo>
                <a:cubicBezTo>
                  <a:pt x="4358421" y="2199435"/>
                  <a:pt x="4810507" y="1777182"/>
                  <a:pt x="5211525" y="2027402"/>
                </a:cubicBezTo>
                <a:cubicBezTo>
                  <a:pt x="5429122" y="2163013"/>
                  <a:pt x="5566824" y="2456164"/>
                  <a:pt x="5541097" y="2700958"/>
                </a:cubicBezTo>
                <a:cubicBezTo>
                  <a:pt x="5501654" y="3076251"/>
                  <a:pt x="5098698" y="3142194"/>
                  <a:pt x="5094823" y="3471378"/>
                </a:cubicBezTo>
                <a:cubicBezTo>
                  <a:pt x="5091415" y="3745236"/>
                  <a:pt x="5419668" y="3893242"/>
                  <a:pt x="5505528" y="4272564"/>
                </a:cubicBezTo>
                <a:cubicBezTo>
                  <a:pt x="5569691" y="4556184"/>
                  <a:pt x="5439041" y="4752005"/>
                  <a:pt x="5281423" y="4965183"/>
                </a:cubicBezTo>
                <a:cubicBezTo>
                  <a:pt x="5068244" y="5253608"/>
                  <a:pt x="4866301" y="5146281"/>
                  <a:pt x="4675749" y="5385343"/>
                </a:cubicBezTo>
                <a:cubicBezTo>
                  <a:pt x="4370191" y="5769070"/>
                  <a:pt x="4714176" y="6260683"/>
                  <a:pt x="4508838" y="6598516"/>
                </a:cubicBezTo>
                <a:lnTo>
                  <a:pt x="4472787" y="6646910"/>
                </a:lnTo>
                <a:lnTo>
                  <a:pt x="3367517" y="6646910"/>
                </a:lnTo>
                <a:lnTo>
                  <a:pt x="2998981" y="6646910"/>
                </a:lnTo>
                <a:lnTo>
                  <a:pt x="2648733" y="6646910"/>
                </a:lnTo>
                <a:lnTo>
                  <a:pt x="0" y="6646910"/>
                </a:lnTo>
                <a:lnTo>
                  <a:pt x="0" y="28222"/>
                </a:lnTo>
                <a:close/>
                <a:moveTo>
                  <a:pt x="1509522" y="767"/>
                </a:moveTo>
                <a:cubicBezTo>
                  <a:pt x="1736339" y="-12639"/>
                  <a:pt x="1947814" y="150946"/>
                  <a:pt x="1986017" y="398066"/>
                </a:cubicBezTo>
                <a:cubicBezTo>
                  <a:pt x="2019183" y="611090"/>
                  <a:pt x="1902946" y="824502"/>
                  <a:pt x="1709217" y="905558"/>
                </a:cubicBezTo>
                <a:cubicBezTo>
                  <a:pt x="1430403" y="1021795"/>
                  <a:pt x="1123149" y="837830"/>
                  <a:pt x="1083551" y="529879"/>
                </a:cubicBezTo>
                <a:cubicBezTo>
                  <a:pt x="1056506" y="319025"/>
                  <a:pt x="1175223" y="110882"/>
                  <a:pt x="1366937" y="33390"/>
                </a:cubicBezTo>
                <a:cubicBezTo>
                  <a:pt x="1412379" y="14871"/>
                  <a:pt x="1460539" y="3866"/>
                  <a:pt x="1509522" y="7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43CD97-8264-59AA-6C9F-B8F76282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53" y="185198"/>
            <a:ext cx="7986244" cy="112429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kern="1200">
                <a:latin typeface="+mj-lt"/>
                <a:ea typeface="+mj-ea"/>
                <a:cs typeface="+mj-cs"/>
              </a:rPr>
              <a:t>Methodology: Data </a:t>
            </a:r>
            <a:r>
              <a:rPr lang="en-US" sz="3400"/>
              <a:t>Analysis Procedure</a:t>
            </a:r>
            <a:endParaRPr lang="en-US" sz="3400" kern="1200"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C989CE9-7801-0FC3-0980-13A5C1400BDE}"/>
              </a:ext>
            </a:extLst>
          </p:cNvPr>
          <p:cNvSpPr>
            <a:spLocks noGrp="1"/>
          </p:cNvSpPr>
          <p:nvPr/>
        </p:nvSpPr>
        <p:spPr>
          <a:xfrm>
            <a:off x="610198" y="2356598"/>
            <a:ext cx="5355276" cy="36361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0">
              <a:spcBef>
                <a:spcPts val="1000"/>
              </a:spcBef>
              <a:buClr>
                <a:schemeClr val="accent5"/>
              </a:buClr>
              <a:buNone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6" name="Graphic 15" descr="Presentation with Org Chart">
            <a:extLst>
              <a:ext uri="{FF2B5EF4-FFF2-40B4-BE49-F238E27FC236}">
                <a16:creationId xmlns:a16="http://schemas.microsoft.com/office/drawing/2014/main" id="{F3FEE2C2-2D7A-7FC8-F25D-B52A5BFA1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3866" y="2175847"/>
            <a:ext cx="3956501" cy="395650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1437396-C14D-DD70-1473-052DAE387AFF}"/>
              </a:ext>
            </a:extLst>
          </p:cNvPr>
          <p:cNvSpPr>
            <a:spLocks noGrp="1"/>
          </p:cNvSpPr>
          <p:nvPr/>
        </p:nvSpPr>
        <p:spPr>
          <a:xfrm>
            <a:off x="608488" y="1840671"/>
            <a:ext cx="6341595" cy="4015187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1000"/>
              </a:spcBef>
              <a:buClr>
                <a:srgbClr val="1EBE9B"/>
              </a:buClr>
              <a:buFont typeface="Arial,Sans-Serif" panose="020F050202020403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venir Next LT Pro"/>
                <a:cs typeface="Arial"/>
              </a:rPr>
              <a:t>Speed ratio</a:t>
            </a:r>
            <a:endParaRPr lang="en-US" sz="2200">
              <a:solidFill>
                <a:schemeClr val="tx1"/>
              </a:solidFill>
              <a:latin typeface="Avenir Next LT Pro"/>
              <a:cs typeface="Arial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Clr>
                <a:srgbClr val="1EBE9B"/>
              </a:buClr>
              <a:buFont typeface="Arial,Sans-Serif" panose="020F050202020403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venir Next LT Pro"/>
                <a:cs typeface="Arial"/>
              </a:rPr>
              <a:t>Total Errors</a:t>
            </a:r>
            <a:endParaRPr lang="en-US" sz="220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Clr>
                <a:srgbClr val="1EBE9B"/>
              </a:buClr>
              <a:buFont typeface="Arial,Sans-Serif" panose="020F050202020403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Average, Median and Standard deviation of Errors</a:t>
            </a:r>
            <a:endParaRPr lang="en-US" sz="2400">
              <a:solidFill>
                <a:schemeClr val="tx1"/>
              </a:solidFill>
              <a:latin typeface="Avenir Next LT Pro"/>
              <a:cs typeface="Arial"/>
            </a:endParaRPr>
          </a:p>
          <a:p>
            <a:pPr>
              <a:lnSpc>
                <a:spcPct val="150000"/>
              </a:lnSpc>
              <a:spcBef>
                <a:spcPts val="1000"/>
              </a:spcBef>
              <a:buClr>
                <a:srgbClr val="1EBE9B"/>
              </a:buClr>
              <a:buFont typeface="Arial,Sans-Serif" panose="020F050202020403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venir Next LT Pro"/>
                <a:cs typeface="Arial"/>
              </a:rPr>
              <a:t>   k-Percentiles of error calculation </a:t>
            </a:r>
            <a:endParaRPr lang="en-US" sz="2400">
              <a:solidFill>
                <a:schemeClr val="tx1"/>
              </a:solidFill>
              <a:latin typeface="Avenir Next LT Pro"/>
              <a:cs typeface="Segoe UI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Clr>
                <a:srgbClr val="1EBE9B"/>
              </a:buClr>
              <a:buFont typeface="Arial,Sans-Serif" panose="020F050202020403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venir Next LT Pro"/>
                <a:cs typeface="Segoe UI"/>
              </a:rPr>
              <a:t>Absolute </a:t>
            </a: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k-Percentiles of error calculation</a:t>
            </a:r>
            <a:r>
              <a:rPr lang="en-US" sz="2400" dirty="0">
                <a:solidFill>
                  <a:schemeClr val="tx1"/>
                </a:solidFill>
                <a:latin typeface="Avenir Next LT Pro"/>
                <a:cs typeface="Segoe UI"/>
              </a:rPr>
              <a:t> </a:t>
            </a:r>
            <a:endParaRPr lang="en-US" sz="2400">
              <a:solidFill>
                <a:schemeClr val="tx1"/>
              </a:solidFill>
              <a:cs typeface="Segoe UI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Clr>
                <a:srgbClr val="1EBE9B"/>
              </a:buClr>
              <a:buFont typeface="Arial,Sans-Serif" panose="020F0502020204030204" pitchFamily="34" charset="0"/>
              <a:buChar char="•"/>
            </a:pPr>
            <a:endParaRPr lang="en-US" sz="2400">
              <a:solidFill>
                <a:srgbClr val="262626"/>
              </a:solidFill>
              <a:latin typeface="Avenir Next LT Pro"/>
              <a:cs typeface="Segoe UI"/>
            </a:endParaRPr>
          </a:p>
          <a:p>
            <a:pPr marL="342900" indent="-342900">
              <a:spcBef>
                <a:spcPts val="1000"/>
              </a:spcBef>
              <a:buClr>
                <a:srgbClr val="1EBE9B"/>
              </a:buClr>
              <a:buFont typeface="Arial,Sans-Serif" panose="020F0502020204030204" pitchFamily="34" charset="0"/>
              <a:buChar char="•"/>
            </a:pPr>
            <a:endParaRPr lang="en-US" sz="2400">
              <a:solidFill>
                <a:schemeClr val="tx1"/>
              </a:solidFill>
              <a:cs typeface="Segoe UI"/>
            </a:endParaRPr>
          </a:p>
          <a:p>
            <a:pPr marL="342900" indent="-342900">
              <a:spcBef>
                <a:spcPts val="1000"/>
              </a:spcBef>
              <a:buFont typeface="Arial,Sans-Serif" panose="020F0502020204030204" pitchFamily="34" charset="0"/>
              <a:buChar char="•"/>
            </a:pPr>
            <a:endParaRPr lang="en-US" sz="2400">
              <a:solidFill>
                <a:schemeClr val="tx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0832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D7C93-FD9A-C9D7-ECF3-1B9EDC19B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074" y="491822"/>
            <a:ext cx="5149326" cy="7414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Results: Speed Analysis</a:t>
            </a:r>
          </a:p>
        </p:txBody>
      </p:sp>
      <p:pic>
        <p:nvPicPr>
          <p:cNvPr id="28" name="Picture 27" descr="Free Images : watch, hand, clock, time, hour, gauge, minute, control ...">
            <a:extLst>
              <a:ext uri="{FF2B5EF4-FFF2-40B4-BE49-F238E27FC236}">
                <a16:creationId xmlns:a16="http://schemas.microsoft.com/office/drawing/2014/main" id="{E4085C72-DF02-0D4E-7D1B-FF56741124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96" r="14690" b="-2"/>
          <a:stretch/>
        </p:blipFill>
        <p:spPr>
          <a:xfrm>
            <a:off x="2" y="10"/>
            <a:ext cx="6164130" cy="5529421"/>
          </a:xfrm>
          <a:custGeom>
            <a:avLst/>
            <a:gdLst/>
            <a:ahLst/>
            <a:cxnLst/>
            <a:rect l="l" t="t" r="r" b="b"/>
            <a:pathLst>
              <a:path w="6972657" h="6356349">
                <a:moveTo>
                  <a:pt x="4162425" y="4810724"/>
                </a:moveTo>
                <a:cubicBezTo>
                  <a:pt x="4508954" y="4810724"/>
                  <a:pt x="4789872" y="5103559"/>
                  <a:pt x="4789872" y="5464789"/>
                </a:cubicBezTo>
                <a:cubicBezTo>
                  <a:pt x="4789872" y="5826019"/>
                  <a:pt x="4508954" y="6118855"/>
                  <a:pt x="4162425" y="6118855"/>
                </a:cubicBezTo>
                <a:cubicBezTo>
                  <a:pt x="3815896" y="6118855"/>
                  <a:pt x="3534978" y="5826019"/>
                  <a:pt x="3534978" y="5464789"/>
                </a:cubicBezTo>
                <a:cubicBezTo>
                  <a:pt x="3534978" y="5103559"/>
                  <a:pt x="3815896" y="4810724"/>
                  <a:pt x="4162425" y="4810724"/>
                </a:cubicBezTo>
                <a:close/>
                <a:moveTo>
                  <a:pt x="92101" y="4731176"/>
                </a:moveTo>
                <a:cubicBezTo>
                  <a:pt x="540880" y="4731176"/>
                  <a:pt x="904688" y="5094984"/>
                  <a:pt x="904688" y="5543763"/>
                </a:cubicBezTo>
                <a:cubicBezTo>
                  <a:pt x="904688" y="5964494"/>
                  <a:pt x="584935" y="6310542"/>
                  <a:pt x="175183" y="6352155"/>
                </a:cubicBezTo>
                <a:lnTo>
                  <a:pt x="92121" y="6356349"/>
                </a:lnTo>
                <a:lnTo>
                  <a:pt x="92081" y="6356349"/>
                </a:lnTo>
                <a:lnTo>
                  <a:pt x="9019" y="6352155"/>
                </a:lnTo>
                <a:lnTo>
                  <a:pt x="4079" y="6351401"/>
                </a:lnTo>
                <a:lnTo>
                  <a:pt x="0" y="6352492"/>
                </a:lnTo>
                <a:lnTo>
                  <a:pt x="0" y="4736748"/>
                </a:lnTo>
                <a:lnTo>
                  <a:pt x="9019" y="4735372"/>
                </a:lnTo>
                <a:cubicBezTo>
                  <a:pt x="36336" y="4732597"/>
                  <a:pt x="64052" y="4731176"/>
                  <a:pt x="92101" y="4731176"/>
                </a:cubicBezTo>
                <a:close/>
                <a:moveTo>
                  <a:pt x="6385770" y="2098604"/>
                </a:moveTo>
                <a:cubicBezTo>
                  <a:pt x="6543907" y="2107100"/>
                  <a:pt x="6698935" y="2178483"/>
                  <a:pt x="6813407" y="2310776"/>
                </a:cubicBezTo>
                <a:cubicBezTo>
                  <a:pt x="7042252" y="2575278"/>
                  <a:pt x="7022052" y="2983098"/>
                  <a:pt x="6768322" y="3221698"/>
                </a:cubicBezTo>
                <a:cubicBezTo>
                  <a:pt x="6718815" y="3268040"/>
                  <a:pt x="6662527" y="3305861"/>
                  <a:pt x="6601629" y="3333787"/>
                </a:cubicBezTo>
                <a:cubicBezTo>
                  <a:pt x="6357584" y="3444872"/>
                  <a:pt x="6072796" y="3380857"/>
                  <a:pt x="5894479" y="3174765"/>
                </a:cubicBezTo>
                <a:cubicBezTo>
                  <a:pt x="5665537" y="2910180"/>
                  <a:pt x="5685739" y="2502359"/>
                  <a:pt x="5939476" y="2263752"/>
                </a:cubicBezTo>
                <a:cubicBezTo>
                  <a:pt x="6066385" y="2144498"/>
                  <a:pt x="6227633" y="2090107"/>
                  <a:pt x="6385770" y="2098604"/>
                </a:cubicBezTo>
                <a:close/>
                <a:moveTo>
                  <a:pt x="0" y="0"/>
                </a:moveTo>
                <a:lnTo>
                  <a:pt x="5609109" y="0"/>
                </a:lnTo>
                <a:lnTo>
                  <a:pt x="5710855" y="100163"/>
                </a:lnTo>
                <a:cubicBezTo>
                  <a:pt x="5940043" y="363896"/>
                  <a:pt x="6060564" y="781193"/>
                  <a:pt x="5983550" y="1133306"/>
                </a:cubicBezTo>
                <a:cubicBezTo>
                  <a:pt x="5820740" y="1874471"/>
                  <a:pt x="4868226" y="1916819"/>
                  <a:pt x="4807924" y="2551785"/>
                </a:cubicBezTo>
                <a:cubicBezTo>
                  <a:pt x="4772098" y="2931077"/>
                  <a:pt x="5073952" y="3310271"/>
                  <a:pt x="5323480" y="3486493"/>
                </a:cubicBezTo>
                <a:cubicBezTo>
                  <a:pt x="5798207" y="3822498"/>
                  <a:pt x="6190925" y="3545085"/>
                  <a:pt x="6484693" y="3873055"/>
                </a:cubicBezTo>
                <a:cubicBezTo>
                  <a:pt x="6702769" y="4116667"/>
                  <a:pt x="6749067" y="4564067"/>
                  <a:pt x="6564699" y="4869471"/>
                </a:cubicBezTo>
                <a:cubicBezTo>
                  <a:pt x="6538929" y="4912110"/>
                  <a:pt x="6508772" y="4951720"/>
                  <a:pt x="6474766" y="4987555"/>
                </a:cubicBezTo>
                <a:lnTo>
                  <a:pt x="6475634" y="4987552"/>
                </a:lnTo>
                <a:cubicBezTo>
                  <a:pt x="6246183" y="5229347"/>
                  <a:pt x="5896158" y="5245005"/>
                  <a:pt x="5787911" y="5249784"/>
                </a:cubicBezTo>
                <a:cubicBezTo>
                  <a:pt x="5276208" y="5272608"/>
                  <a:pt x="5181583" y="4739335"/>
                  <a:pt x="4594647" y="4582595"/>
                </a:cubicBezTo>
                <a:cubicBezTo>
                  <a:pt x="4553401" y="4571414"/>
                  <a:pt x="4047262" y="4444111"/>
                  <a:pt x="3576692" y="4689896"/>
                </a:cubicBezTo>
                <a:cubicBezTo>
                  <a:pt x="2903508" y="5041365"/>
                  <a:pt x="3035835" y="5772616"/>
                  <a:pt x="2439534" y="6019748"/>
                </a:cubicBezTo>
                <a:cubicBezTo>
                  <a:pt x="2062607" y="6175963"/>
                  <a:pt x="1545662" y="6076257"/>
                  <a:pt x="1262869" y="5786450"/>
                </a:cubicBezTo>
                <a:cubicBezTo>
                  <a:pt x="864056" y="5377550"/>
                  <a:pt x="1125562" y="4799418"/>
                  <a:pt x="734842" y="4526254"/>
                </a:cubicBezTo>
                <a:cubicBezTo>
                  <a:pt x="506361" y="4366061"/>
                  <a:pt x="192715" y="4446641"/>
                  <a:pt x="19856" y="4511293"/>
                </a:cubicBezTo>
                <a:lnTo>
                  <a:pt x="0" y="4519330"/>
                </a:lnTo>
                <a:close/>
              </a:path>
            </a:pathLst>
          </a:custGeom>
        </p:spPr>
      </p:pic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FDC55A22-60FC-2B3D-9417-145D78173FA5}"/>
              </a:ext>
            </a:extLst>
          </p:cNvPr>
          <p:cNvSpPr>
            <a:spLocks noGrp="1"/>
          </p:cNvSpPr>
          <p:nvPr/>
        </p:nvSpPr>
        <p:spPr>
          <a:xfrm>
            <a:off x="7164379" y="1715324"/>
            <a:ext cx="4418321" cy="455980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venir Next LT Pro"/>
                <a:ea typeface="+mn-lt"/>
                <a:cs typeface="Arial"/>
              </a:rPr>
              <a:t>8hrs 30mins approx. spent manually searching</a:t>
            </a:r>
            <a:endParaRPr lang="en-US" sz="2400">
              <a:solidFill>
                <a:schemeClr val="tx1"/>
              </a:solidFill>
              <a:latin typeface="Avenir Next LT Pro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endParaRPr lang="en-US" sz="2400">
              <a:solidFill>
                <a:schemeClr val="tx1"/>
              </a:solidFill>
              <a:latin typeface="Avenir Next LT Pro"/>
              <a:ea typeface="+mn-lt"/>
              <a:cs typeface="Arial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venir Next LT Pro"/>
                <a:ea typeface="+mn-lt"/>
                <a:cs typeface="Arial"/>
              </a:rPr>
              <a:t>1hr 30mins approx. spent with GPT-4o</a:t>
            </a:r>
            <a:endParaRPr lang="en-US" sz="240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endParaRPr lang="en-US" sz="2400">
              <a:solidFill>
                <a:schemeClr val="tx1"/>
              </a:solidFill>
              <a:ea typeface="+mn-lt"/>
              <a:cs typeface="Arial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62626"/>
                </a:solidFill>
                <a:ea typeface="+mn-lt"/>
                <a:cs typeface="+mn-lt"/>
              </a:rPr>
              <a:t>Chat GPT is 5.67 times faster</a:t>
            </a:r>
          </a:p>
        </p:txBody>
      </p:sp>
    </p:spTree>
    <p:extLst>
      <p:ext uri="{BB962C8B-B14F-4D97-AF65-F5344CB8AC3E}">
        <p14:creationId xmlns:p14="http://schemas.microsoft.com/office/powerpoint/2010/main" val="1195585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C48F90-AFD5-4232-AE7D-27B956BF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3C96EE1-9524-4300-BFAC-56AA55EB4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55747" y="-1"/>
            <a:ext cx="6336253" cy="6858001"/>
          </a:xfrm>
          <a:custGeom>
            <a:avLst/>
            <a:gdLst>
              <a:gd name="connsiteX0" fmla="*/ 5721063 w 6336253"/>
              <a:gd name="connsiteY0" fmla="*/ 3536635 h 6858001"/>
              <a:gd name="connsiteX1" fmla="*/ 6230651 w 6336253"/>
              <a:gd name="connsiteY1" fmla="*/ 4046223 h 6858001"/>
              <a:gd name="connsiteX2" fmla="*/ 5721063 w 6336253"/>
              <a:gd name="connsiteY2" fmla="*/ 4555811 h 6858001"/>
              <a:gd name="connsiteX3" fmla="*/ 5211475 w 6336253"/>
              <a:gd name="connsiteY3" fmla="*/ 4046223 h 6858001"/>
              <a:gd name="connsiteX4" fmla="*/ 5721063 w 6336253"/>
              <a:gd name="connsiteY4" fmla="*/ 3536635 h 6858001"/>
              <a:gd name="connsiteX5" fmla="*/ 5456902 w 6336253"/>
              <a:gd name="connsiteY5" fmla="*/ 0 h 6858001"/>
              <a:gd name="connsiteX6" fmla="*/ 6321710 w 6336253"/>
              <a:gd name="connsiteY6" fmla="*/ 0 h 6858001"/>
              <a:gd name="connsiteX7" fmla="*/ 6332019 w 6336253"/>
              <a:gd name="connsiteY7" fmla="*/ 42969 h 6858001"/>
              <a:gd name="connsiteX8" fmla="*/ 6320934 w 6336253"/>
              <a:gd name="connsiteY8" fmla="*/ 219852 h 6858001"/>
              <a:gd name="connsiteX9" fmla="*/ 5774313 w 6336253"/>
              <a:gd name="connsiteY9" fmla="*/ 535443 h 6858001"/>
              <a:gd name="connsiteX10" fmla="*/ 5444200 w 6336253"/>
              <a:gd name="connsiteY10" fmla="*/ 78052 h 6858001"/>
              <a:gd name="connsiteX11" fmla="*/ 609600 w 6336253"/>
              <a:gd name="connsiteY11" fmla="*/ 0 h 6858001"/>
              <a:gd name="connsiteX12" fmla="*/ 1171409 w 6336253"/>
              <a:gd name="connsiteY12" fmla="*/ 0 h 6858001"/>
              <a:gd name="connsiteX13" fmla="*/ 4838473 w 6336253"/>
              <a:gd name="connsiteY13" fmla="*/ 0 h 6858001"/>
              <a:gd name="connsiteX14" fmla="*/ 4830349 w 6336253"/>
              <a:gd name="connsiteY14" fmla="*/ 184996 h 6858001"/>
              <a:gd name="connsiteX15" fmla="*/ 4833376 w 6336253"/>
              <a:gd name="connsiteY15" fmla="*/ 419995 h 6858001"/>
              <a:gd name="connsiteX16" fmla="*/ 5281338 w 6336253"/>
              <a:gd name="connsiteY16" fmla="*/ 1068099 h 6858001"/>
              <a:gd name="connsiteX17" fmla="*/ 5729205 w 6336253"/>
              <a:gd name="connsiteY17" fmla="*/ 2589405 h 6858001"/>
              <a:gd name="connsiteX18" fmla="*/ 5283212 w 6336253"/>
              <a:gd name="connsiteY18" fmla="*/ 3164269 h 6858001"/>
              <a:gd name="connsiteX19" fmla="*/ 5124820 w 6336253"/>
              <a:gd name="connsiteY19" fmla="*/ 4641255 h 6858001"/>
              <a:gd name="connsiteX20" fmla="*/ 5736551 w 6336253"/>
              <a:gd name="connsiteY20" fmla="*/ 5670858 h 6858001"/>
              <a:gd name="connsiteX21" fmla="*/ 6022123 w 6336253"/>
              <a:gd name="connsiteY21" fmla="*/ 6707670 h 6858001"/>
              <a:gd name="connsiteX22" fmla="*/ 6024496 w 6336253"/>
              <a:gd name="connsiteY22" fmla="*/ 6858000 h 6858001"/>
              <a:gd name="connsiteX23" fmla="*/ 2242268 w 6336253"/>
              <a:gd name="connsiteY23" fmla="*/ 6858000 h 6858001"/>
              <a:gd name="connsiteX24" fmla="*/ 2242268 w 6336253"/>
              <a:gd name="connsiteY24" fmla="*/ 6858001 h 6858001"/>
              <a:gd name="connsiteX25" fmla="*/ 0 w 6336253"/>
              <a:gd name="connsiteY25" fmla="*/ 6858001 h 6858001"/>
              <a:gd name="connsiteX26" fmla="*/ 0 w 6336253"/>
              <a:gd name="connsiteY26" fmla="*/ 1 h 6858001"/>
              <a:gd name="connsiteX27" fmla="*/ 609600 w 6336253"/>
              <a:gd name="connsiteY27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6253" h="6858001">
                <a:moveTo>
                  <a:pt x="5721063" y="3536635"/>
                </a:moveTo>
                <a:cubicBezTo>
                  <a:pt x="6002501" y="3536635"/>
                  <a:pt x="6230651" y="3764785"/>
                  <a:pt x="6230651" y="4046223"/>
                </a:cubicBezTo>
                <a:cubicBezTo>
                  <a:pt x="6230651" y="4327661"/>
                  <a:pt x="6002501" y="4555811"/>
                  <a:pt x="5721063" y="4555811"/>
                </a:cubicBezTo>
                <a:cubicBezTo>
                  <a:pt x="5439625" y="4555811"/>
                  <a:pt x="5211475" y="4327661"/>
                  <a:pt x="5211475" y="4046223"/>
                </a:cubicBezTo>
                <a:cubicBezTo>
                  <a:pt x="5211475" y="3764785"/>
                  <a:pt x="5439625" y="3536635"/>
                  <a:pt x="5721063" y="3536635"/>
                </a:cubicBezTo>
                <a:close/>
                <a:moveTo>
                  <a:pt x="5456902" y="0"/>
                </a:moveTo>
                <a:lnTo>
                  <a:pt x="6321710" y="0"/>
                </a:lnTo>
                <a:lnTo>
                  <a:pt x="6332019" y="42969"/>
                </a:lnTo>
                <a:cubicBezTo>
                  <a:pt x="6340015" y="100391"/>
                  <a:pt x="6336884" y="160329"/>
                  <a:pt x="6320934" y="219852"/>
                </a:cubicBezTo>
                <a:cubicBezTo>
                  <a:pt x="6257137" y="457945"/>
                  <a:pt x="6012407" y="599240"/>
                  <a:pt x="5774313" y="535443"/>
                </a:cubicBezTo>
                <a:cubicBezTo>
                  <a:pt x="5565982" y="479621"/>
                  <a:pt x="5431761" y="285271"/>
                  <a:pt x="5444200" y="78052"/>
                </a:cubicBezTo>
                <a:close/>
                <a:moveTo>
                  <a:pt x="609600" y="0"/>
                </a:moveTo>
                <a:lnTo>
                  <a:pt x="1171409" y="0"/>
                </a:lnTo>
                <a:lnTo>
                  <a:pt x="4838473" y="0"/>
                </a:lnTo>
                <a:lnTo>
                  <a:pt x="4830349" y="184996"/>
                </a:lnTo>
                <a:cubicBezTo>
                  <a:pt x="4828991" y="263520"/>
                  <a:pt x="4829864" y="341910"/>
                  <a:pt x="4833376" y="419995"/>
                </a:cubicBezTo>
                <a:cubicBezTo>
                  <a:pt x="4846565" y="709488"/>
                  <a:pt x="5075226" y="891535"/>
                  <a:pt x="5281338" y="1068099"/>
                </a:cubicBezTo>
                <a:cubicBezTo>
                  <a:pt x="5795128" y="1508061"/>
                  <a:pt x="5969974" y="2032158"/>
                  <a:pt x="5729205" y="2589405"/>
                </a:cubicBezTo>
                <a:cubicBezTo>
                  <a:pt x="5635831" y="2805523"/>
                  <a:pt x="5454276" y="2993264"/>
                  <a:pt x="5283212" y="3164269"/>
                </a:cubicBezTo>
                <a:cubicBezTo>
                  <a:pt x="4824418" y="3622744"/>
                  <a:pt x="4843217" y="4154456"/>
                  <a:pt x="5124820" y="4641255"/>
                </a:cubicBezTo>
                <a:cubicBezTo>
                  <a:pt x="5325440" y="4986832"/>
                  <a:pt x="5565996" y="5311556"/>
                  <a:pt x="5736551" y="5670858"/>
                </a:cubicBezTo>
                <a:cubicBezTo>
                  <a:pt x="5902602" y="6019042"/>
                  <a:pt x="6001121" y="6366409"/>
                  <a:pt x="6022123" y="6707670"/>
                </a:cubicBezTo>
                <a:lnTo>
                  <a:pt x="6024496" y="6858000"/>
                </a:lnTo>
                <a:lnTo>
                  <a:pt x="2242268" y="6858000"/>
                </a:lnTo>
                <a:lnTo>
                  <a:pt x="2242268" y="6858001"/>
                </a:lnTo>
                <a:lnTo>
                  <a:pt x="0" y="6858001"/>
                </a:lnTo>
                <a:lnTo>
                  <a:pt x="0" y="1"/>
                </a:lnTo>
                <a:lnTo>
                  <a:pt x="60960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61C02D-EEED-304A-B00D-B5A0A46D8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451579"/>
            <a:ext cx="7177027" cy="70007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Result: Total Error Analysis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E255A5-8A15-B608-DDB3-D066FB66D848}"/>
              </a:ext>
            </a:extLst>
          </p:cNvPr>
          <p:cNvSpPr>
            <a:spLocks noGrp="1"/>
          </p:cNvSpPr>
          <p:nvPr/>
        </p:nvSpPr>
        <p:spPr>
          <a:xfrm>
            <a:off x="609600" y="2548521"/>
            <a:ext cx="5545867" cy="34706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0">
              <a:spcBef>
                <a:spcPts val="1000"/>
              </a:spcBef>
              <a:buClr>
                <a:schemeClr val="accent5"/>
              </a:buClr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>
              <a:spcBef>
                <a:spcPts val="1000"/>
              </a:spcBef>
              <a:buClr>
                <a:schemeClr val="accent5"/>
              </a:buClr>
              <a:buNone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4495EE5-DE9B-8989-E7E2-136BAEC819A3}"/>
              </a:ext>
            </a:extLst>
          </p:cNvPr>
          <p:cNvSpPr>
            <a:spLocks noGrp="1"/>
          </p:cNvSpPr>
          <p:nvPr/>
        </p:nvSpPr>
        <p:spPr>
          <a:xfrm>
            <a:off x="489259" y="1141405"/>
            <a:ext cx="6180769" cy="5487616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a typeface="+mn-lt"/>
                <a:cs typeface="Arial"/>
              </a:rPr>
              <a:t>120</a:t>
            </a: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 observations for manual and ai data sets each (240 total)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,Sans-Serif" panose="020F050202020403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40 errors:</a:t>
            </a:r>
          </a:p>
          <a:p>
            <a:pPr marL="474980" lvl="2">
              <a:lnSpc>
                <a:spcPct val="15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&lt;1% = 19 errors</a:t>
            </a:r>
          </a:p>
          <a:p>
            <a:pPr marL="474980" lvl="2">
              <a:lnSpc>
                <a:spcPct val="15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1%≤x&lt;10% = 7 errors</a:t>
            </a:r>
          </a:p>
          <a:p>
            <a:pPr marL="474980" lvl="2">
              <a:lnSpc>
                <a:spcPct val="15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10%≤x&lt;100% = 6 errors</a:t>
            </a:r>
          </a:p>
          <a:p>
            <a:pPr marL="474980" lvl="2">
              <a:lnSpc>
                <a:spcPct val="150000"/>
              </a:lnSpc>
              <a:spcBef>
                <a:spcPts val="1000"/>
              </a:spcBef>
              <a:buFont typeface="Wingdings,Sans-Serif" panose="020F0502020204030204" pitchFamily="34" charset="0"/>
              <a:buChar char="§"/>
            </a:pPr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≥100% = 8 errors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,Sans-Serif" panose="020F0502020204030204" pitchFamily="34" charset="0"/>
              <a:buChar char="•"/>
            </a:pPr>
            <a:endParaRPr lang="en-US" sz="240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endParaRPr lang="en-US" sz="2400">
              <a:solidFill>
                <a:schemeClr val="tx1"/>
              </a:solidFill>
              <a:latin typeface="Avenir Next LT Pr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2A2459-CCA9-6330-6B70-A1A57561E2DE}"/>
              </a:ext>
            </a:extLst>
          </p:cNvPr>
          <p:cNvSpPr txBox="1"/>
          <p:nvPr/>
        </p:nvSpPr>
        <p:spPr>
          <a:xfrm>
            <a:off x="7575255" y="315646"/>
            <a:ext cx="435428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Error Occurrences </a:t>
            </a:r>
            <a:endParaRPr lang="en-US"/>
          </a:p>
          <a:p>
            <a:pPr algn="ctr"/>
            <a:r>
              <a:rPr lang="en-US" sz="2400"/>
              <a:t>(Total % value)</a:t>
            </a:r>
            <a:endParaRPr lang="en-US"/>
          </a:p>
        </p:txBody>
      </p:sp>
      <p:pic>
        <p:nvPicPr>
          <p:cNvPr id="15" name="Picture 14" descr="A pie chart with numbers and symbols&#10;&#10;Description automatically generated">
            <a:extLst>
              <a:ext uri="{FF2B5EF4-FFF2-40B4-BE49-F238E27FC236}">
                <a16:creationId xmlns:a16="http://schemas.microsoft.com/office/drawing/2014/main" id="{3E8962DA-9A62-A69F-AF1A-AA6DCA99A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098" y="1513283"/>
            <a:ext cx="4912521" cy="491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53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4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1D2FD7-6B37-4C42-99CD-F4B81E44B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B7EB8C5-C0C0-4972-BAC0-E75EC7235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2630" cy="2848482"/>
          </a:xfrm>
          <a:custGeom>
            <a:avLst/>
            <a:gdLst>
              <a:gd name="connsiteX0" fmla="*/ 1193013 w 2432630"/>
              <a:gd name="connsiteY0" fmla="*/ 1609830 h 2848482"/>
              <a:gd name="connsiteX1" fmla="*/ 1452520 w 2432630"/>
              <a:gd name="connsiteY1" fmla="*/ 1771993 h 2848482"/>
              <a:gd name="connsiteX2" fmla="*/ 1333256 w 2432630"/>
              <a:gd name="connsiteY2" fmla="*/ 2217094 h 2848482"/>
              <a:gd name="connsiteX3" fmla="*/ 888154 w 2432630"/>
              <a:gd name="connsiteY3" fmla="*/ 2097829 h 2848482"/>
              <a:gd name="connsiteX4" fmla="*/ 1007419 w 2432630"/>
              <a:gd name="connsiteY4" fmla="*/ 1652728 h 2848482"/>
              <a:gd name="connsiteX5" fmla="*/ 1193013 w 2432630"/>
              <a:gd name="connsiteY5" fmla="*/ 1609830 h 2848482"/>
              <a:gd name="connsiteX6" fmla="*/ 1721013 w 2432630"/>
              <a:gd name="connsiteY6" fmla="*/ 1345937 h 2848482"/>
              <a:gd name="connsiteX7" fmla="*/ 1880524 w 2432630"/>
              <a:gd name="connsiteY7" fmla="*/ 1425334 h 2848482"/>
              <a:gd name="connsiteX8" fmla="*/ 1821528 w 2432630"/>
              <a:gd name="connsiteY8" fmla="*/ 1645511 h 2848482"/>
              <a:gd name="connsiteX9" fmla="*/ 1601350 w 2432630"/>
              <a:gd name="connsiteY9" fmla="*/ 1586514 h 2848482"/>
              <a:gd name="connsiteX10" fmla="*/ 1660347 w 2432630"/>
              <a:gd name="connsiteY10" fmla="*/ 1366337 h 2848482"/>
              <a:gd name="connsiteX11" fmla="*/ 1721013 w 2432630"/>
              <a:gd name="connsiteY11" fmla="*/ 1345937 h 2848482"/>
              <a:gd name="connsiteX12" fmla="*/ 0 w 2432630"/>
              <a:gd name="connsiteY12" fmla="*/ 0 h 2848482"/>
              <a:gd name="connsiteX13" fmla="*/ 2420476 w 2432630"/>
              <a:gd name="connsiteY13" fmla="*/ 0 h 2848482"/>
              <a:gd name="connsiteX14" fmla="*/ 2431096 w 2432630"/>
              <a:gd name="connsiteY14" fmla="*/ 94052 h 2848482"/>
              <a:gd name="connsiteX15" fmla="*/ 2426545 w 2432630"/>
              <a:gd name="connsiteY15" fmla="*/ 261706 h 2848482"/>
              <a:gd name="connsiteX16" fmla="*/ 1347411 w 2432630"/>
              <a:gd name="connsiteY16" fmla="*/ 1289202 h 2848482"/>
              <a:gd name="connsiteX17" fmla="*/ 678423 w 2432630"/>
              <a:gd name="connsiteY17" fmla="*/ 1606118 h 2848482"/>
              <a:gd name="connsiteX18" fmla="*/ 284014 w 2432630"/>
              <a:gd name="connsiteY18" fmla="*/ 2398976 h 2848482"/>
              <a:gd name="connsiteX19" fmla="*/ 97407 w 2432630"/>
              <a:gd name="connsiteY19" fmla="*/ 2742323 h 2848482"/>
              <a:gd name="connsiteX20" fmla="*/ 0 w 2432630"/>
              <a:gd name="connsiteY20" fmla="*/ 2848482 h 2848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432630" h="2848482">
                <a:moveTo>
                  <a:pt x="1193013" y="1609830"/>
                </a:moveTo>
                <a:cubicBezTo>
                  <a:pt x="1297352" y="1617205"/>
                  <a:pt x="1396284" y="1674588"/>
                  <a:pt x="1452520" y="1771993"/>
                </a:cubicBezTo>
                <a:cubicBezTo>
                  <a:pt x="1542498" y="1927838"/>
                  <a:pt x="1489101" y="2127117"/>
                  <a:pt x="1333256" y="2217094"/>
                </a:cubicBezTo>
                <a:cubicBezTo>
                  <a:pt x="1177410" y="2307071"/>
                  <a:pt x="978131" y="2253675"/>
                  <a:pt x="888154" y="2097829"/>
                </a:cubicBezTo>
                <a:cubicBezTo>
                  <a:pt x="798176" y="1941984"/>
                  <a:pt x="851572" y="1742705"/>
                  <a:pt x="1007419" y="1652728"/>
                </a:cubicBezTo>
                <a:cubicBezTo>
                  <a:pt x="1065861" y="1618986"/>
                  <a:pt x="1130410" y="1605406"/>
                  <a:pt x="1193013" y="1609830"/>
                </a:cubicBezTo>
                <a:close/>
                <a:moveTo>
                  <a:pt x="1721013" y="1345937"/>
                </a:moveTo>
                <a:cubicBezTo>
                  <a:pt x="1783347" y="1338202"/>
                  <a:pt x="1847142" y="1367515"/>
                  <a:pt x="1880524" y="1425334"/>
                </a:cubicBezTo>
                <a:cubicBezTo>
                  <a:pt x="1925033" y="1502425"/>
                  <a:pt x="1898619" y="1601002"/>
                  <a:pt x="1821528" y="1645511"/>
                </a:cubicBezTo>
                <a:cubicBezTo>
                  <a:pt x="1744436" y="1690020"/>
                  <a:pt x="1645859" y="1663606"/>
                  <a:pt x="1601350" y="1586514"/>
                </a:cubicBezTo>
                <a:cubicBezTo>
                  <a:pt x="1556841" y="1509423"/>
                  <a:pt x="1583254" y="1410846"/>
                  <a:pt x="1660347" y="1366337"/>
                </a:cubicBezTo>
                <a:cubicBezTo>
                  <a:pt x="1679620" y="1355210"/>
                  <a:pt x="1700235" y="1348515"/>
                  <a:pt x="1721013" y="1345937"/>
                </a:cubicBezTo>
                <a:close/>
                <a:moveTo>
                  <a:pt x="0" y="0"/>
                </a:moveTo>
                <a:lnTo>
                  <a:pt x="2420476" y="0"/>
                </a:lnTo>
                <a:lnTo>
                  <a:pt x="2431096" y="94052"/>
                </a:lnTo>
                <a:cubicBezTo>
                  <a:pt x="2434004" y="150699"/>
                  <a:pt x="2432933" y="206775"/>
                  <a:pt x="2426545" y="261706"/>
                </a:cubicBezTo>
                <a:cubicBezTo>
                  <a:pt x="2360669" y="828256"/>
                  <a:pt x="1972176" y="1172577"/>
                  <a:pt x="1347411" y="1289202"/>
                </a:cubicBezTo>
                <a:cubicBezTo>
                  <a:pt x="1096744" y="1336043"/>
                  <a:pt x="825156" y="1376752"/>
                  <a:pt x="678423" y="1606118"/>
                </a:cubicBezTo>
                <a:cubicBezTo>
                  <a:pt x="520257" y="1853673"/>
                  <a:pt x="394149" y="2125038"/>
                  <a:pt x="284014" y="2398976"/>
                </a:cubicBezTo>
                <a:cubicBezTo>
                  <a:pt x="233465" y="2524954"/>
                  <a:pt x="173906" y="2641107"/>
                  <a:pt x="97407" y="2742323"/>
                </a:cubicBezTo>
                <a:lnTo>
                  <a:pt x="0" y="28484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9AAC33-A65D-500A-8289-72FB00DF1642}"/>
              </a:ext>
            </a:extLst>
          </p:cNvPr>
          <p:cNvSpPr>
            <a:spLocks noGrp="1"/>
          </p:cNvSpPr>
          <p:nvPr/>
        </p:nvSpPr>
        <p:spPr>
          <a:xfrm>
            <a:off x="489259" y="1975026"/>
            <a:ext cx="9955453" cy="4618276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latin typeface="Avenir Next LT Pro"/>
                <a:ea typeface="+mn-lt"/>
                <a:cs typeface="Arial"/>
              </a:rPr>
              <a:t>Total average error rate (absolute): 11.78%</a:t>
            </a:r>
            <a:endParaRPr lang="en-US" sz="2400">
              <a:solidFill>
                <a:schemeClr val="tx1"/>
              </a:solidFill>
              <a:latin typeface="Avenir Next LT Pro"/>
              <a:cs typeface="Arial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endParaRPr lang="en-US" sz="2400">
              <a:solidFill>
                <a:schemeClr val="tx1"/>
              </a:solidFill>
              <a:latin typeface="Avenir Next LT Pro"/>
              <a:cs typeface="Arial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latin typeface="Avenir Next LT Pro"/>
                <a:cs typeface="Arial"/>
              </a:rPr>
              <a:t>Total median error rate of total dataset (absolute): 0.00%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endParaRPr lang="en-US" sz="2400">
              <a:solidFill>
                <a:schemeClr val="tx1"/>
              </a:solidFill>
              <a:latin typeface="Avenir Next LT Pro"/>
              <a:cs typeface="Arial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latin typeface="Avenir Next LT Pro"/>
                <a:cs typeface="Arial"/>
              </a:rPr>
              <a:t>Total standard Deviation of total </a:t>
            </a:r>
            <a:r>
              <a:rPr lang="en-US" sz="2400">
                <a:solidFill>
                  <a:schemeClr val="tx1"/>
                </a:solidFill>
                <a:ea typeface="+mn-lt"/>
                <a:cs typeface="+mn-lt"/>
              </a:rPr>
              <a:t>dataset (absolute): 41.34%</a:t>
            </a:r>
            <a:endParaRPr lang="en-US" sz="2400">
              <a:solidFill>
                <a:schemeClr val="tx1"/>
              </a:solidFill>
              <a:latin typeface="Avenir Next LT Pr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D7C93-FD9A-C9D7-ECF3-1B9EDC19B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48" y="540185"/>
            <a:ext cx="8537905" cy="10310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>
                <a:cs typeface="Posterama"/>
              </a:rPr>
              <a:t>Results: Absolute Error Rates</a:t>
            </a:r>
          </a:p>
        </p:txBody>
      </p:sp>
    </p:spTree>
    <p:extLst>
      <p:ext uri="{BB962C8B-B14F-4D97-AF65-F5344CB8AC3E}">
        <p14:creationId xmlns:p14="http://schemas.microsoft.com/office/powerpoint/2010/main" val="3941717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441D-CC2A-D9F9-603F-452269877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990" y="176799"/>
            <a:ext cx="10972800" cy="772904"/>
          </a:xfrm>
        </p:spPr>
        <p:txBody>
          <a:bodyPr>
            <a:normAutofit/>
          </a:bodyPr>
          <a:lstStyle/>
          <a:p>
            <a:pPr algn="ctr"/>
            <a:r>
              <a:rPr lang="en-US">
                <a:ea typeface="+mj-lt"/>
                <a:cs typeface="+mj-lt"/>
              </a:rPr>
              <a:t>Results: Absolute Error Rates</a:t>
            </a:r>
            <a:endParaRPr lang="en-US">
              <a:cs typeface="Posterama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48AF577-9FCA-A062-B2EC-73B72CC8AE7A}"/>
              </a:ext>
            </a:extLst>
          </p:cNvPr>
          <p:cNvCxnSpPr/>
          <p:nvPr/>
        </p:nvCxnSpPr>
        <p:spPr>
          <a:xfrm>
            <a:off x="5892800" y="1119459"/>
            <a:ext cx="9913" cy="6263883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77960A4-0CE5-8A4E-7DFC-F08FBF51B25F}"/>
              </a:ext>
            </a:extLst>
          </p:cNvPr>
          <p:cNvCxnSpPr>
            <a:cxnSpLocks/>
          </p:cNvCxnSpPr>
          <p:nvPr/>
        </p:nvCxnSpPr>
        <p:spPr>
          <a:xfrm flipH="1">
            <a:off x="-115846" y="1119458"/>
            <a:ext cx="12352449" cy="618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E8D87F3-8EED-62AA-7CF0-81BFA7946C43}"/>
              </a:ext>
              <a:ext uri="{147F2762-F138-4A5C-976F-8EAC2B608ADB}">
                <a16:predDERef xmlns:a16="http://schemas.microsoft.com/office/drawing/2014/main" pred="{1A4A973F-659E-5054-AC20-76525E1000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5230234"/>
              </p:ext>
            </p:extLst>
          </p:nvPr>
        </p:nvGraphicFramePr>
        <p:xfrm>
          <a:off x="-2197" y="1131279"/>
          <a:ext cx="5911361" cy="5555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CACB296-E001-0D3E-C5CE-2796298AD87C}"/>
              </a:ext>
              <a:ext uri="{147F2762-F138-4A5C-976F-8EAC2B608ADB}">
                <a16:predDERef xmlns:a16="http://schemas.microsoft.com/office/drawing/2014/main" pred="{EE8D87F3-8EED-62AA-7CF0-81BFA7946C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0824056"/>
              </p:ext>
            </p:extLst>
          </p:nvPr>
        </p:nvGraphicFramePr>
        <p:xfrm>
          <a:off x="5898908" y="1127614"/>
          <a:ext cx="6289427" cy="5568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21487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2EB82B4-D9A1-4145-93F1-004DC0B9B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56630" y="4160168"/>
            <a:ext cx="2832322" cy="2697833"/>
          </a:xfrm>
          <a:custGeom>
            <a:avLst/>
            <a:gdLst>
              <a:gd name="connsiteX0" fmla="*/ 638993 w 2832322"/>
              <a:gd name="connsiteY0" fmla="*/ 1429605 h 2697833"/>
              <a:gd name="connsiteX1" fmla="*/ 798503 w 2832322"/>
              <a:gd name="connsiteY1" fmla="*/ 1509001 h 2697833"/>
              <a:gd name="connsiteX2" fmla="*/ 739507 w 2832322"/>
              <a:gd name="connsiteY2" fmla="*/ 1729178 h 2697833"/>
              <a:gd name="connsiteX3" fmla="*/ 519329 w 2832322"/>
              <a:gd name="connsiteY3" fmla="*/ 1670181 h 2697833"/>
              <a:gd name="connsiteX4" fmla="*/ 578327 w 2832322"/>
              <a:gd name="connsiteY4" fmla="*/ 1450005 h 2697833"/>
              <a:gd name="connsiteX5" fmla="*/ 638993 w 2832322"/>
              <a:gd name="connsiteY5" fmla="*/ 1429605 h 2697833"/>
              <a:gd name="connsiteX6" fmla="*/ 1252193 w 2832322"/>
              <a:gd name="connsiteY6" fmla="*/ 835524 h 2697833"/>
              <a:gd name="connsiteX7" fmla="*/ 1511699 w 2832322"/>
              <a:gd name="connsiteY7" fmla="*/ 997686 h 2697833"/>
              <a:gd name="connsiteX8" fmla="*/ 1392436 w 2832322"/>
              <a:gd name="connsiteY8" fmla="*/ 1442788 h 2697833"/>
              <a:gd name="connsiteX9" fmla="*/ 947333 w 2832322"/>
              <a:gd name="connsiteY9" fmla="*/ 1323523 h 2697833"/>
              <a:gd name="connsiteX10" fmla="*/ 1066598 w 2832322"/>
              <a:gd name="connsiteY10" fmla="*/ 878421 h 2697833"/>
              <a:gd name="connsiteX11" fmla="*/ 1252193 w 2832322"/>
              <a:gd name="connsiteY11" fmla="*/ 835524 h 2697833"/>
              <a:gd name="connsiteX12" fmla="*/ 2832322 w 2832322"/>
              <a:gd name="connsiteY12" fmla="*/ 0 h 2697833"/>
              <a:gd name="connsiteX13" fmla="*/ 2832322 w 2832322"/>
              <a:gd name="connsiteY13" fmla="*/ 2697833 h 2697833"/>
              <a:gd name="connsiteX14" fmla="*/ 0 w 2832322"/>
              <a:gd name="connsiteY14" fmla="*/ 2697833 h 2697833"/>
              <a:gd name="connsiteX15" fmla="*/ 12966 w 2832322"/>
              <a:gd name="connsiteY15" fmla="*/ 2631781 h 2697833"/>
              <a:gd name="connsiteX16" fmla="*/ 1052443 w 2832322"/>
              <a:gd name="connsiteY16" fmla="*/ 1806313 h 2697833"/>
              <a:gd name="connsiteX17" fmla="*/ 1721430 w 2832322"/>
              <a:gd name="connsiteY17" fmla="*/ 1489397 h 2697833"/>
              <a:gd name="connsiteX18" fmla="*/ 2115839 w 2832322"/>
              <a:gd name="connsiteY18" fmla="*/ 696540 h 2697833"/>
              <a:gd name="connsiteX19" fmla="*/ 2590689 w 2832322"/>
              <a:gd name="connsiteY19" fmla="*/ 99461 h 2697833"/>
              <a:gd name="connsiteX20" fmla="*/ 2730434 w 2832322"/>
              <a:gd name="connsiteY20" fmla="*/ 32840 h 269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32322" h="2697833">
                <a:moveTo>
                  <a:pt x="638993" y="1429605"/>
                </a:moveTo>
                <a:cubicBezTo>
                  <a:pt x="701328" y="1421871"/>
                  <a:pt x="765121" y="1451183"/>
                  <a:pt x="798503" y="1509001"/>
                </a:cubicBezTo>
                <a:cubicBezTo>
                  <a:pt x="843012" y="1586093"/>
                  <a:pt x="816599" y="1684670"/>
                  <a:pt x="739507" y="1729178"/>
                </a:cubicBezTo>
                <a:cubicBezTo>
                  <a:pt x="662415" y="1773688"/>
                  <a:pt x="563838" y="1747275"/>
                  <a:pt x="519329" y="1670181"/>
                </a:cubicBezTo>
                <a:cubicBezTo>
                  <a:pt x="474820" y="1593091"/>
                  <a:pt x="501234" y="1494514"/>
                  <a:pt x="578327" y="1450005"/>
                </a:cubicBezTo>
                <a:cubicBezTo>
                  <a:pt x="597599" y="1438878"/>
                  <a:pt x="618215" y="1432183"/>
                  <a:pt x="638993" y="1429605"/>
                </a:cubicBezTo>
                <a:close/>
                <a:moveTo>
                  <a:pt x="1252193" y="835524"/>
                </a:moveTo>
                <a:cubicBezTo>
                  <a:pt x="1356532" y="842898"/>
                  <a:pt x="1455464" y="900282"/>
                  <a:pt x="1511699" y="997686"/>
                </a:cubicBezTo>
                <a:cubicBezTo>
                  <a:pt x="1601677" y="1153532"/>
                  <a:pt x="1548280" y="1352810"/>
                  <a:pt x="1392436" y="1442788"/>
                </a:cubicBezTo>
                <a:cubicBezTo>
                  <a:pt x="1236589" y="1532766"/>
                  <a:pt x="1037311" y="1479369"/>
                  <a:pt x="947333" y="1323523"/>
                </a:cubicBezTo>
                <a:cubicBezTo>
                  <a:pt x="857356" y="1167678"/>
                  <a:pt x="910753" y="968399"/>
                  <a:pt x="1066598" y="878421"/>
                </a:cubicBezTo>
                <a:cubicBezTo>
                  <a:pt x="1125040" y="844680"/>
                  <a:pt x="1189590" y="831101"/>
                  <a:pt x="1252193" y="835524"/>
                </a:cubicBezTo>
                <a:close/>
                <a:moveTo>
                  <a:pt x="2832322" y="0"/>
                </a:moveTo>
                <a:lnTo>
                  <a:pt x="2832322" y="2697833"/>
                </a:lnTo>
                <a:lnTo>
                  <a:pt x="0" y="2697833"/>
                </a:lnTo>
                <a:lnTo>
                  <a:pt x="12966" y="2631781"/>
                </a:lnTo>
                <a:cubicBezTo>
                  <a:pt x="140000" y="2184738"/>
                  <a:pt x="505773" y="1908362"/>
                  <a:pt x="1052443" y="1806313"/>
                </a:cubicBezTo>
                <a:cubicBezTo>
                  <a:pt x="1303109" y="1759472"/>
                  <a:pt x="1574698" y="1718763"/>
                  <a:pt x="1721430" y="1489397"/>
                </a:cubicBezTo>
                <a:cubicBezTo>
                  <a:pt x="1879597" y="1241842"/>
                  <a:pt x="2005704" y="970478"/>
                  <a:pt x="2115839" y="696540"/>
                </a:cubicBezTo>
                <a:cubicBezTo>
                  <a:pt x="2216937" y="444582"/>
                  <a:pt x="2354076" y="231931"/>
                  <a:pt x="2590689" y="99461"/>
                </a:cubicBezTo>
                <a:cubicBezTo>
                  <a:pt x="2637069" y="73498"/>
                  <a:pt x="2683655" y="51402"/>
                  <a:pt x="2730434" y="328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52A07D-F261-79EE-F447-64918BAA2764}"/>
              </a:ext>
            </a:extLst>
          </p:cNvPr>
          <p:cNvSpPr>
            <a:spLocks noGrp="1"/>
          </p:cNvSpPr>
          <p:nvPr/>
        </p:nvSpPr>
        <p:spPr>
          <a:xfrm>
            <a:off x="481053" y="2093898"/>
            <a:ext cx="6655553" cy="3624628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latin typeface="Avenir Next LT Pro"/>
                <a:ea typeface="+mn-lt"/>
                <a:cs typeface="Arial"/>
              </a:rPr>
              <a:t>Total average Error rate:</a:t>
            </a:r>
            <a:r>
              <a:rPr lang="en-US" sz="2400">
                <a:solidFill>
                  <a:schemeClr val="tx1"/>
                </a:solidFill>
                <a:latin typeface="Avenir Next LT Pro"/>
                <a:cs typeface="Arial"/>
              </a:rPr>
              <a:t> -10.60</a:t>
            </a:r>
            <a:r>
              <a:rPr lang="en-US" sz="2400">
                <a:solidFill>
                  <a:schemeClr val="tx1"/>
                </a:solidFill>
                <a:latin typeface="Avenir Next LT Pro"/>
                <a:ea typeface="+mn-lt"/>
                <a:cs typeface="Arial"/>
              </a:rPr>
              <a:t>%</a:t>
            </a:r>
            <a:endParaRPr lang="en-US" sz="2400">
              <a:solidFill>
                <a:schemeClr val="tx1"/>
              </a:solidFill>
              <a:latin typeface="Avenir Next LT Pro"/>
              <a:cs typeface="Arial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endParaRPr lang="en-US" sz="2400">
              <a:solidFill>
                <a:schemeClr val="tx1"/>
              </a:solidFill>
              <a:latin typeface="Avenir Next LT Pro"/>
              <a:cs typeface="Arial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latin typeface="Avenir Next LT Pro"/>
                <a:cs typeface="Arial"/>
              </a:rPr>
              <a:t>Median Error rate of total dataset: 0.00%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endParaRPr lang="en-US" sz="2400">
              <a:solidFill>
                <a:schemeClr val="tx1"/>
              </a:solidFill>
              <a:latin typeface="Avenir Next LT Pro"/>
              <a:cs typeface="Arial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latin typeface="Avenir Next LT Pro"/>
                <a:cs typeface="Arial"/>
              </a:rPr>
              <a:t>Standard Deviation of total </a:t>
            </a:r>
            <a:r>
              <a:rPr lang="en-US" sz="2400">
                <a:solidFill>
                  <a:schemeClr val="tx1"/>
                </a:solidFill>
                <a:latin typeface="Avenir Next LT Pro"/>
                <a:ea typeface="+mn-lt"/>
                <a:cs typeface="Arial"/>
              </a:rPr>
              <a:t>dataset: 41.66%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5C0F8B-8A5E-94CC-915B-E6DEEB600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86" y="799712"/>
            <a:ext cx="6209468" cy="10312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>
                <a:cs typeface="Posterama"/>
              </a:rPr>
              <a:t>Results: Error Rates</a:t>
            </a:r>
          </a:p>
        </p:txBody>
      </p:sp>
    </p:spTree>
    <p:extLst>
      <p:ext uri="{BB962C8B-B14F-4D97-AF65-F5344CB8AC3E}">
        <p14:creationId xmlns:p14="http://schemas.microsoft.com/office/powerpoint/2010/main" val="3381570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441D-CC2A-D9F9-603F-452269877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990" y="176799"/>
            <a:ext cx="10972800" cy="772904"/>
          </a:xfrm>
        </p:spPr>
        <p:txBody>
          <a:bodyPr>
            <a:normAutofit/>
          </a:bodyPr>
          <a:lstStyle/>
          <a:p>
            <a:pPr algn="ctr"/>
            <a:r>
              <a:rPr lang="en-US">
                <a:ea typeface="+mj-lt"/>
                <a:cs typeface="+mj-lt"/>
              </a:rPr>
              <a:t>Results: Error rates</a:t>
            </a:r>
            <a:endParaRPr lang="en-US">
              <a:cs typeface="Posterama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A4A973F-659E-5054-AC20-76525E10003F}"/>
              </a:ext>
              <a:ext uri="{147F2762-F138-4A5C-976F-8EAC2B608ADB}">
                <a16:predDERef xmlns:a16="http://schemas.microsoft.com/office/drawing/2014/main" pred="{F401C07C-CDD6-3F22-16D3-502AAA641C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7242114"/>
              </p:ext>
            </p:extLst>
          </p:nvPr>
        </p:nvGraphicFramePr>
        <p:xfrm>
          <a:off x="5900621" y="1165072"/>
          <a:ext cx="6430536" cy="55217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48AF577-9FCA-A062-B2EC-73B72CC8AE7A}"/>
              </a:ext>
            </a:extLst>
          </p:cNvPr>
          <p:cNvCxnSpPr/>
          <p:nvPr/>
        </p:nvCxnSpPr>
        <p:spPr>
          <a:xfrm>
            <a:off x="5892800" y="1119459"/>
            <a:ext cx="9913" cy="6263883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77960A4-0CE5-8A4E-7DFC-F08FBF51B25F}"/>
              </a:ext>
            </a:extLst>
          </p:cNvPr>
          <p:cNvCxnSpPr>
            <a:cxnSpLocks/>
          </p:cNvCxnSpPr>
          <p:nvPr/>
        </p:nvCxnSpPr>
        <p:spPr>
          <a:xfrm flipH="1">
            <a:off x="-115846" y="1119458"/>
            <a:ext cx="12352449" cy="618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401C07C-CDD6-3F22-16D3-502AAA641C2E}"/>
              </a:ext>
              <a:ext uri="{147F2762-F138-4A5C-976F-8EAC2B608ADB}">
                <a16:predDERef xmlns:a16="http://schemas.microsoft.com/office/drawing/2014/main" pred="{1C45C19A-7E50-FAF8-FC04-F98F64205A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8775500"/>
              </p:ext>
            </p:extLst>
          </p:nvPr>
        </p:nvGraphicFramePr>
        <p:xfrm>
          <a:off x="9044" y="1160021"/>
          <a:ext cx="5901474" cy="5526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55133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4ADF8E3-1B35-4C33-95FB-BAAD781AF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8188" y="0"/>
            <a:ext cx="2933812" cy="2750153"/>
          </a:xfrm>
          <a:custGeom>
            <a:avLst/>
            <a:gdLst>
              <a:gd name="connsiteX0" fmla="*/ 1067830 w 2933812"/>
              <a:gd name="connsiteY0" fmla="*/ 776732 h 2750153"/>
              <a:gd name="connsiteX1" fmla="*/ 1305537 w 2933812"/>
              <a:gd name="connsiteY1" fmla="*/ 842083 h 2750153"/>
              <a:gd name="connsiteX2" fmla="*/ 1421053 w 2933812"/>
              <a:gd name="connsiteY2" fmla="*/ 1397856 h 2750153"/>
              <a:gd name="connsiteX3" fmla="*/ 865267 w 2933812"/>
              <a:gd name="connsiteY3" fmla="*/ 1513301 h 2750153"/>
              <a:gd name="connsiteX4" fmla="*/ 749819 w 2933812"/>
              <a:gd name="connsiteY4" fmla="*/ 957568 h 2750153"/>
              <a:gd name="connsiteX5" fmla="*/ 836727 w 2933812"/>
              <a:gd name="connsiteY5" fmla="*/ 862679 h 2750153"/>
              <a:gd name="connsiteX6" fmla="*/ 1067830 w 2933812"/>
              <a:gd name="connsiteY6" fmla="*/ 776732 h 2750153"/>
              <a:gd name="connsiteX7" fmla="*/ 209205 w 2933812"/>
              <a:gd name="connsiteY7" fmla="*/ 551704 h 2750153"/>
              <a:gd name="connsiteX8" fmla="*/ 328901 w 2933812"/>
              <a:gd name="connsiteY8" fmla="*/ 567267 h 2750153"/>
              <a:gd name="connsiteX9" fmla="*/ 460887 w 2933812"/>
              <a:gd name="connsiteY9" fmla="*/ 878648 h 2750153"/>
              <a:gd name="connsiteX10" fmla="*/ 149506 w 2933812"/>
              <a:gd name="connsiteY10" fmla="*/ 1010633 h 2750153"/>
              <a:gd name="connsiteX11" fmla="*/ 17517 w 2933812"/>
              <a:gd name="connsiteY11" fmla="*/ 699260 h 2750153"/>
              <a:gd name="connsiteX12" fmla="*/ 97142 w 2933812"/>
              <a:gd name="connsiteY12" fmla="*/ 596577 h 2750153"/>
              <a:gd name="connsiteX13" fmla="*/ 209205 w 2933812"/>
              <a:gd name="connsiteY13" fmla="*/ 551704 h 2750153"/>
              <a:gd name="connsiteX14" fmla="*/ 603014 w 2933812"/>
              <a:gd name="connsiteY14" fmla="*/ 0 h 2750153"/>
              <a:gd name="connsiteX15" fmla="*/ 2933812 w 2933812"/>
              <a:gd name="connsiteY15" fmla="*/ 0 h 2750153"/>
              <a:gd name="connsiteX16" fmla="*/ 2933812 w 2933812"/>
              <a:gd name="connsiteY16" fmla="*/ 2748233 h 2750153"/>
              <a:gd name="connsiteX17" fmla="*/ 2877044 w 2933812"/>
              <a:gd name="connsiteY17" fmla="*/ 2704219 h 2750153"/>
              <a:gd name="connsiteX18" fmla="*/ 1987800 w 2933812"/>
              <a:gd name="connsiteY18" fmla="*/ 2707378 h 2750153"/>
              <a:gd name="connsiteX19" fmla="*/ 1571775 w 2933812"/>
              <a:gd name="connsiteY19" fmla="*/ 2085562 h 2750153"/>
              <a:gd name="connsiteX20" fmla="*/ 2085622 w 2933812"/>
              <a:gd name="connsiteY20" fmla="*/ 1038354 h 2750153"/>
              <a:gd name="connsiteX21" fmla="*/ 1614635 w 2933812"/>
              <a:gd name="connsiteY21" fmla="*/ 560521 h 2750153"/>
              <a:gd name="connsiteX22" fmla="*/ 825009 w 2933812"/>
              <a:gd name="connsiteY22" fmla="*/ 518839 h 2750153"/>
              <a:gd name="connsiteX23" fmla="*/ 599925 w 2933812"/>
              <a:gd name="connsiteY23" fmla="*/ 14372 h 275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933812" h="2750153">
                <a:moveTo>
                  <a:pt x="1067830" y="776732"/>
                </a:moveTo>
                <a:cubicBezTo>
                  <a:pt x="1150031" y="773119"/>
                  <a:pt x="1233332" y="794722"/>
                  <a:pt x="1305537" y="842083"/>
                </a:cubicBezTo>
                <a:cubicBezTo>
                  <a:pt x="1490941" y="963689"/>
                  <a:pt x="1542616" y="1212493"/>
                  <a:pt x="1421053" y="1397856"/>
                </a:cubicBezTo>
                <a:cubicBezTo>
                  <a:pt x="1299424" y="1583173"/>
                  <a:pt x="1050671" y="1634906"/>
                  <a:pt x="865267" y="1513301"/>
                </a:cubicBezTo>
                <a:cubicBezTo>
                  <a:pt x="679936" y="1391729"/>
                  <a:pt x="628260" y="1142925"/>
                  <a:pt x="749819" y="957568"/>
                </a:cubicBezTo>
                <a:cubicBezTo>
                  <a:pt x="773570" y="921529"/>
                  <a:pt x="802922" y="889506"/>
                  <a:pt x="836727" y="862679"/>
                </a:cubicBezTo>
                <a:cubicBezTo>
                  <a:pt x="904529" y="809175"/>
                  <a:pt x="985629" y="780345"/>
                  <a:pt x="1067830" y="776732"/>
                </a:cubicBezTo>
                <a:close/>
                <a:moveTo>
                  <a:pt x="209205" y="551704"/>
                </a:moveTo>
                <a:cubicBezTo>
                  <a:pt x="249147" y="546653"/>
                  <a:pt x="290360" y="551675"/>
                  <a:pt x="328901" y="567267"/>
                </a:cubicBezTo>
                <a:cubicBezTo>
                  <a:pt x="451346" y="616809"/>
                  <a:pt x="510410" y="756201"/>
                  <a:pt x="460887" y="878648"/>
                </a:cubicBezTo>
                <a:cubicBezTo>
                  <a:pt x="411366" y="1001087"/>
                  <a:pt x="271948" y="1060182"/>
                  <a:pt x="149506" y="1010633"/>
                </a:cubicBezTo>
                <a:cubicBezTo>
                  <a:pt x="27060" y="961092"/>
                  <a:pt x="-32003" y="821699"/>
                  <a:pt x="17517" y="699260"/>
                </a:cubicBezTo>
                <a:cubicBezTo>
                  <a:pt x="34058" y="658332"/>
                  <a:pt x="61655" y="622811"/>
                  <a:pt x="97142" y="596577"/>
                </a:cubicBezTo>
                <a:cubicBezTo>
                  <a:pt x="130594" y="571878"/>
                  <a:pt x="169264" y="556754"/>
                  <a:pt x="209205" y="551704"/>
                </a:cubicBezTo>
                <a:close/>
                <a:moveTo>
                  <a:pt x="603014" y="0"/>
                </a:moveTo>
                <a:lnTo>
                  <a:pt x="2933812" y="0"/>
                </a:lnTo>
                <a:lnTo>
                  <a:pt x="2933812" y="2748233"/>
                </a:lnTo>
                <a:lnTo>
                  <a:pt x="2877044" y="2704219"/>
                </a:lnTo>
                <a:cubicBezTo>
                  <a:pt x="2590402" y="2543052"/>
                  <a:pt x="2331640" y="2859871"/>
                  <a:pt x="1987800" y="2707378"/>
                </a:cubicBezTo>
                <a:cubicBezTo>
                  <a:pt x="1763640" y="2607782"/>
                  <a:pt x="1580044" y="2342268"/>
                  <a:pt x="1571775" y="2085562"/>
                </a:cubicBezTo>
                <a:cubicBezTo>
                  <a:pt x="1556983" y="1612648"/>
                  <a:pt x="2147977" y="1430482"/>
                  <a:pt x="2085622" y="1038354"/>
                </a:cubicBezTo>
                <a:cubicBezTo>
                  <a:pt x="2048252" y="804151"/>
                  <a:pt x="1799013" y="625551"/>
                  <a:pt x="1614635" y="560521"/>
                </a:cubicBezTo>
                <a:cubicBezTo>
                  <a:pt x="1263737" y="436354"/>
                  <a:pt x="1061091" y="667936"/>
                  <a:pt x="825009" y="518839"/>
                </a:cubicBezTo>
                <a:cubicBezTo>
                  <a:pt x="671642" y="421917"/>
                  <a:pt x="576178" y="209445"/>
                  <a:pt x="599925" y="143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847F666-90F5-1631-207D-7277BE01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07" y="157324"/>
            <a:ext cx="6150854" cy="104885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600">
                <a:cs typeface="Posterama"/>
              </a:rPr>
              <a:t>Results: Possibility of error (occurrences)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06AE25-35AB-8C31-4F12-7BBD5B22F3B7}"/>
              </a:ext>
            </a:extLst>
          </p:cNvPr>
          <p:cNvSpPr>
            <a:spLocks noGrp="1"/>
          </p:cNvSpPr>
          <p:nvPr/>
        </p:nvSpPr>
        <p:spPr>
          <a:xfrm>
            <a:off x="369594" y="2232004"/>
            <a:ext cx="4476250" cy="2881126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ea typeface="+mn-lt"/>
                <a:cs typeface="+mn-lt"/>
              </a:rPr>
              <a:t> 67th percentile</a:t>
            </a:r>
            <a:r>
              <a:rPr lang="en-US" sz="2400">
                <a:solidFill>
                  <a:schemeClr val="tx1"/>
                </a:solidFill>
                <a:latin typeface="Avenir Next LT Pro"/>
                <a:ea typeface="+mn-lt"/>
                <a:cs typeface="Arial"/>
              </a:rPr>
              <a:t> absolute p.o.e.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Clr>
                <a:srgbClr val="1EBE9B"/>
              </a:buClr>
              <a:buFont typeface="Calibri" panose="020F0502020204030204" pitchFamily="34" charset="0"/>
              <a:buChar char="•"/>
            </a:pPr>
            <a:endParaRPr lang="en-US" sz="2400">
              <a:solidFill>
                <a:schemeClr val="tx1"/>
              </a:solidFill>
              <a:latin typeface="Avenir Next LT Pro"/>
              <a:ea typeface="+mn-lt"/>
              <a:cs typeface="Arial"/>
            </a:endParaRPr>
          </a:p>
          <a:p>
            <a:pPr marL="474980" lvl="2" indent="-285750">
              <a:lnSpc>
                <a:spcPct val="10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1800">
                <a:solidFill>
                  <a:schemeClr val="tx1"/>
                </a:solidFill>
                <a:latin typeface="Avenir Next LT Pro"/>
                <a:ea typeface="+mn-lt"/>
                <a:cs typeface="Arial"/>
              </a:rPr>
              <a:t>&gt;</a:t>
            </a:r>
            <a:r>
              <a:rPr lang="en-US" sz="1800">
                <a:solidFill>
                  <a:schemeClr val="tx1"/>
                </a:solidFill>
                <a:ea typeface="+mn-lt"/>
                <a:cs typeface="Arial"/>
              </a:rPr>
              <a:t>1% = 83rd </a:t>
            </a:r>
            <a:r>
              <a:rPr lang="en-US" sz="1800">
                <a:solidFill>
                  <a:schemeClr val="tx1"/>
                </a:solidFill>
                <a:ea typeface="+mn-lt"/>
                <a:cs typeface="+mn-lt"/>
              </a:rPr>
              <a:t>percentile upwards</a:t>
            </a:r>
          </a:p>
          <a:p>
            <a:pPr marL="474980" lvl="2" indent="-285750">
              <a:lnSpc>
                <a:spcPct val="10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endParaRPr lang="en-US" sz="1800">
              <a:solidFill>
                <a:schemeClr val="tx1"/>
              </a:solidFill>
              <a:ea typeface="+mn-lt"/>
              <a:cs typeface="+mn-lt"/>
            </a:endParaRPr>
          </a:p>
          <a:p>
            <a:pPr marL="474980" lvl="2" indent="-285750">
              <a:lnSpc>
                <a:spcPct val="10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1800">
                <a:solidFill>
                  <a:schemeClr val="tx1"/>
                </a:solidFill>
                <a:ea typeface="+mn-lt"/>
                <a:cs typeface="+mn-lt"/>
              </a:rPr>
              <a:t>86% major accuracy (&gt;5% = 87th to max)</a:t>
            </a:r>
            <a:endParaRPr lang="en-US" sz="1800">
              <a:solidFill>
                <a:schemeClr val="tx1"/>
              </a:solidFill>
            </a:endParaRPr>
          </a:p>
        </p:txBody>
      </p:sp>
      <p:graphicFrame>
        <p:nvGraphicFramePr>
          <p:cNvPr id="2" name="Chart 1" descr="Chart type: Area. 'Field2'&#10;&#10;Description automatically generated">
            <a:extLst>
              <a:ext uri="{FF2B5EF4-FFF2-40B4-BE49-F238E27FC236}">
                <a16:creationId xmlns:a16="http://schemas.microsoft.com/office/drawing/2014/main" id="{5D3E6F21-D379-4481-A052-0275E803D998}"/>
              </a:ext>
              <a:ext uri="{147F2762-F138-4A5C-976F-8EAC2B608ADB}">
                <a16:predDERef xmlns:a16="http://schemas.microsoft.com/office/drawing/2014/main" pred="{749C7A4B-B53E-36CD-078D-BC2E9D7F71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6164579"/>
              </p:ext>
            </p:extLst>
          </p:nvPr>
        </p:nvGraphicFramePr>
        <p:xfrm>
          <a:off x="4843828" y="805230"/>
          <a:ext cx="7344507" cy="5773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97461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6BDF4D-4826-490A-8307-7247A295E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E0FF4CF-25CB-4537-9BBF-28B36C76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5328" y="1352190"/>
            <a:ext cx="7823624" cy="5505810"/>
          </a:xfrm>
          <a:custGeom>
            <a:avLst/>
            <a:gdLst>
              <a:gd name="connsiteX0" fmla="*/ 7676365 w 7823624"/>
              <a:gd name="connsiteY0" fmla="*/ 583688 h 5505810"/>
              <a:gd name="connsiteX1" fmla="*/ 7807957 w 7823624"/>
              <a:gd name="connsiteY1" fmla="*/ 609260 h 5505810"/>
              <a:gd name="connsiteX2" fmla="*/ 7823624 w 7823624"/>
              <a:gd name="connsiteY2" fmla="*/ 618028 h 5505810"/>
              <a:gd name="connsiteX3" fmla="*/ 7823624 w 7823624"/>
              <a:gd name="connsiteY3" fmla="*/ 1356037 h 5505810"/>
              <a:gd name="connsiteX4" fmla="*/ 7783921 w 7823624"/>
              <a:gd name="connsiteY4" fmla="*/ 1367061 h 5505810"/>
              <a:gd name="connsiteX5" fmla="*/ 7685829 w 7823624"/>
              <a:gd name="connsiteY5" fmla="*/ 1364631 h 5505810"/>
              <a:gd name="connsiteX6" fmla="*/ 7556041 w 7823624"/>
              <a:gd name="connsiteY6" fmla="*/ 1308528 h 5505810"/>
              <a:gd name="connsiteX7" fmla="*/ 7412440 w 7823624"/>
              <a:gd name="connsiteY7" fmla="*/ 765688 h 5505810"/>
              <a:gd name="connsiteX8" fmla="*/ 7676365 w 7823624"/>
              <a:gd name="connsiteY8" fmla="*/ 583688 h 5505810"/>
              <a:gd name="connsiteX9" fmla="*/ 7062857 w 7823624"/>
              <a:gd name="connsiteY9" fmla="*/ 396783 h 5505810"/>
              <a:gd name="connsiteX10" fmla="*/ 7127059 w 7823624"/>
              <a:gd name="connsiteY10" fmla="*/ 424535 h 5505810"/>
              <a:gd name="connsiteX11" fmla="*/ 7198094 w 7823624"/>
              <a:gd name="connsiteY11" fmla="*/ 693059 h 5505810"/>
              <a:gd name="connsiteX12" fmla="*/ 7099157 w 7823624"/>
              <a:gd name="connsiteY12" fmla="*/ 778505 h 5505810"/>
              <a:gd name="connsiteX13" fmla="*/ 7034998 w 7823624"/>
              <a:gd name="connsiteY13" fmla="*/ 780480 h 5505810"/>
              <a:gd name="connsiteX14" fmla="*/ 6970795 w 7823624"/>
              <a:gd name="connsiteY14" fmla="*/ 752727 h 5505810"/>
              <a:gd name="connsiteX15" fmla="*/ 6899760 w 7823624"/>
              <a:gd name="connsiteY15" fmla="*/ 484203 h 5505810"/>
              <a:gd name="connsiteX16" fmla="*/ 7062857 w 7823624"/>
              <a:gd name="connsiteY16" fmla="*/ 396783 h 5505810"/>
              <a:gd name="connsiteX17" fmla="*/ 1780739 w 7823624"/>
              <a:gd name="connsiteY17" fmla="*/ 1190 h 5505810"/>
              <a:gd name="connsiteX18" fmla="*/ 2850847 w 7823624"/>
              <a:gd name="connsiteY18" fmla="*/ 384530 h 5505810"/>
              <a:gd name="connsiteX19" fmla="*/ 3809413 w 7823624"/>
              <a:gd name="connsiteY19" fmla="*/ 1153764 h 5505810"/>
              <a:gd name="connsiteX20" fmla="*/ 5160376 w 7823624"/>
              <a:gd name="connsiteY20" fmla="*/ 1003825 h 5505810"/>
              <a:gd name="connsiteX21" fmla="*/ 5677238 w 7823624"/>
              <a:gd name="connsiteY21" fmla="*/ 480424 h 5505810"/>
              <a:gd name="connsiteX22" fmla="*/ 7082965 w 7823624"/>
              <a:gd name="connsiteY22" fmla="*/ 1065272 h 5505810"/>
              <a:gd name="connsiteX23" fmla="*/ 7687818 w 7823624"/>
              <a:gd name="connsiteY23" fmla="*/ 1625585 h 5505810"/>
              <a:gd name="connsiteX24" fmla="*/ 7823624 w 7823624"/>
              <a:gd name="connsiteY24" fmla="*/ 1633445 h 5505810"/>
              <a:gd name="connsiteX25" fmla="*/ 7823624 w 7823624"/>
              <a:gd name="connsiteY25" fmla="*/ 5505810 h 5505810"/>
              <a:gd name="connsiteX26" fmla="*/ 1419133 w 7823624"/>
              <a:gd name="connsiteY26" fmla="*/ 5505810 h 5505810"/>
              <a:gd name="connsiteX27" fmla="*/ 1422753 w 7823624"/>
              <a:gd name="connsiteY27" fmla="*/ 5488656 h 5505810"/>
              <a:gd name="connsiteX28" fmla="*/ 1543078 w 7823624"/>
              <a:gd name="connsiteY28" fmla="*/ 4961644 h 5505810"/>
              <a:gd name="connsiteX29" fmla="*/ 1334564 w 7823624"/>
              <a:gd name="connsiteY29" fmla="*/ 4133160 h 5505810"/>
              <a:gd name="connsiteX30" fmla="*/ 670875 w 7823624"/>
              <a:gd name="connsiteY30" fmla="*/ 3489628 h 5505810"/>
              <a:gd name="connsiteX31" fmla="*/ 499515 w 7823624"/>
              <a:gd name="connsiteY31" fmla="*/ 578153 h 5505810"/>
              <a:gd name="connsiteX32" fmla="*/ 1780739 w 7823624"/>
              <a:gd name="connsiteY32" fmla="*/ 1190 h 550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823624" h="5505810">
                <a:moveTo>
                  <a:pt x="7676365" y="583688"/>
                </a:moveTo>
                <a:cubicBezTo>
                  <a:pt x="7719804" y="582304"/>
                  <a:pt x="7764489" y="590613"/>
                  <a:pt x="7807957" y="609260"/>
                </a:cubicBezTo>
                <a:lnTo>
                  <a:pt x="7823624" y="618028"/>
                </a:lnTo>
                <a:lnTo>
                  <a:pt x="7823624" y="1356037"/>
                </a:lnTo>
                <a:lnTo>
                  <a:pt x="7783921" y="1367061"/>
                </a:lnTo>
                <a:cubicBezTo>
                  <a:pt x="7751926" y="1371702"/>
                  <a:pt x="7718882" y="1370985"/>
                  <a:pt x="7685829" y="1364631"/>
                </a:cubicBezTo>
                <a:cubicBezTo>
                  <a:pt x="7641760" y="1356162"/>
                  <a:pt x="7597675" y="1337676"/>
                  <a:pt x="7556041" y="1308528"/>
                </a:cubicBezTo>
                <a:cubicBezTo>
                  <a:pt x="7389499" y="1191936"/>
                  <a:pt x="7325207" y="948898"/>
                  <a:pt x="7412440" y="765688"/>
                </a:cubicBezTo>
                <a:cubicBezTo>
                  <a:pt x="7466961" y="651183"/>
                  <a:pt x="7567768" y="587147"/>
                  <a:pt x="7676365" y="583688"/>
                </a:cubicBezTo>
                <a:close/>
                <a:moveTo>
                  <a:pt x="7062857" y="396783"/>
                </a:moveTo>
                <a:cubicBezTo>
                  <a:pt x="7084657" y="400973"/>
                  <a:pt x="7106463" y="410117"/>
                  <a:pt x="7127059" y="424535"/>
                </a:cubicBezTo>
                <a:cubicBezTo>
                  <a:pt x="7209442" y="482209"/>
                  <a:pt x="7241245" y="602433"/>
                  <a:pt x="7198094" y="693059"/>
                </a:cubicBezTo>
                <a:cubicBezTo>
                  <a:pt x="7176519" y="738373"/>
                  <a:pt x="7140289" y="767709"/>
                  <a:pt x="7099157" y="778505"/>
                </a:cubicBezTo>
                <a:cubicBezTo>
                  <a:pt x="7078590" y="783905"/>
                  <a:pt x="7056797" y="784670"/>
                  <a:pt x="7034998" y="780480"/>
                </a:cubicBezTo>
                <a:cubicBezTo>
                  <a:pt x="7013198" y="776289"/>
                  <a:pt x="6991391" y="767146"/>
                  <a:pt x="6970795" y="752727"/>
                </a:cubicBezTo>
                <a:cubicBezTo>
                  <a:pt x="6888412" y="695052"/>
                  <a:pt x="6856608" y="574829"/>
                  <a:pt x="6899760" y="484203"/>
                </a:cubicBezTo>
                <a:cubicBezTo>
                  <a:pt x="6932124" y="416232"/>
                  <a:pt x="6997458" y="384213"/>
                  <a:pt x="7062857" y="396783"/>
                </a:cubicBezTo>
                <a:close/>
                <a:moveTo>
                  <a:pt x="1780739" y="1190"/>
                </a:moveTo>
                <a:cubicBezTo>
                  <a:pt x="2129768" y="14988"/>
                  <a:pt x="2488852" y="148495"/>
                  <a:pt x="2850847" y="384530"/>
                </a:cubicBezTo>
                <a:cubicBezTo>
                  <a:pt x="3184362" y="601036"/>
                  <a:pt x="3487788" y="901267"/>
                  <a:pt x="3809413" y="1153764"/>
                </a:cubicBezTo>
                <a:cubicBezTo>
                  <a:pt x="4262448" y="1508236"/>
                  <a:pt x="4750558" y="1545992"/>
                  <a:pt x="5160376" y="1003825"/>
                </a:cubicBezTo>
                <a:cubicBezTo>
                  <a:pt x="5313232" y="801671"/>
                  <a:pt x="5481196" y="587300"/>
                  <a:pt x="5677238" y="480424"/>
                </a:cubicBezTo>
                <a:cubicBezTo>
                  <a:pt x="6182723" y="204840"/>
                  <a:pt x="6667481" y="431193"/>
                  <a:pt x="7082965" y="1065272"/>
                </a:cubicBezTo>
                <a:cubicBezTo>
                  <a:pt x="7249706" y="1319645"/>
                  <a:pt x="7421998" y="1601453"/>
                  <a:pt x="7687818" y="1625585"/>
                </a:cubicBezTo>
                <a:lnTo>
                  <a:pt x="7823624" y="1633445"/>
                </a:lnTo>
                <a:lnTo>
                  <a:pt x="7823624" y="5505810"/>
                </a:lnTo>
                <a:lnTo>
                  <a:pt x="1419133" y="5505810"/>
                </a:lnTo>
                <a:lnTo>
                  <a:pt x="1422753" y="5488656"/>
                </a:lnTo>
                <a:cubicBezTo>
                  <a:pt x="1462649" y="5312984"/>
                  <a:pt x="1506176" y="5138278"/>
                  <a:pt x="1543078" y="4961644"/>
                </a:cubicBezTo>
                <a:cubicBezTo>
                  <a:pt x="1609806" y="4640258"/>
                  <a:pt x="1539760" y="4343419"/>
                  <a:pt x="1334564" y="4133160"/>
                </a:cubicBezTo>
                <a:cubicBezTo>
                  <a:pt x="1117562" y="3910930"/>
                  <a:pt x="900716" y="3685928"/>
                  <a:pt x="670875" y="3489628"/>
                </a:cubicBezTo>
                <a:cubicBezTo>
                  <a:pt x="-321639" y="2642174"/>
                  <a:pt x="-67393" y="1165752"/>
                  <a:pt x="499515" y="578153"/>
                </a:cubicBezTo>
                <a:cubicBezTo>
                  <a:pt x="899852" y="163598"/>
                  <a:pt x="1331986" y="-16550"/>
                  <a:pt x="1780739" y="11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97629EA-303C-1007-E715-492355554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41" y="147970"/>
            <a:ext cx="10972800" cy="7849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Results: Possibility of error (occurrences)</a:t>
            </a:r>
          </a:p>
        </p:txBody>
      </p:sp>
      <p:graphicFrame>
        <p:nvGraphicFramePr>
          <p:cNvPr id="9" name="Chart 8" descr="Chart type: Area. 'Field2'&#10;&#10;Description automatically generated">
            <a:extLst>
              <a:ext uri="{FF2B5EF4-FFF2-40B4-BE49-F238E27FC236}">
                <a16:creationId xmlns:a16="http://schemas.microsoft.com/office/drawing/2014/main" id="{60F2A88E-0A2D-450E-B835-09F8FA92D16C}"/>
              </a:ext>
              <a:ext uri="{147F2762-F138-4A5C-976F-8EAC2B608ADB}">
                <a16:predDERef xmlns:a16="http://schemas.microsoft.com/office/drawing/2014/main" pred="{346D511C-2895-2600-D450-8CB65F4A2A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4317341"/>
              </p:ext>
            </p:extLst>
          </p:nvPr>
        </p:nvGraphicFramePr>
        <p:xfrm>
          <a:off x="5527117" y="2624450"/>
          <a:ext cx="6656549" cy="3832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A64187F-79EB-05FD-0344-373A14444464}"/>
              </a:ext>
            </a:extLst>
          </p:cNvPr>
          <p:cNvSpPr>
            <a:spLocks noGrp="1"/>
          </p:cNvSpPr>
          <p:nvPr/>
        </p:nvSpPr>
        <p:spPr>
          <a:xfrm>
            <a:off x="399360" y="1244517"/>
            <a:ext cx="3857675" cy="52273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000"/>
              </a:spcBef>
              <a:buChar char="•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 (left) 21st percentile p.o.e. (&lt; value)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474980" lvl="2" indent="-285750">
              <a:lnSpc>
                <a:spcPct val="10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&lt;-1% = min to12th percentile </a:t>
            </a:r>
          </a:p>
          <a:p>
            <a:pPr marL="474980" lvl="2" indent="-285750">
              <a:lnSpc>
                <a:spcPct val="10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91% major accuracy (&gt;5% = min to 9th)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spcBef>
                <a:spcPts val="1000"/>
              </a:spcBef>
              <a:buClr>
                <a:srgbClr val="1EBE9B"/>
              </a:buClr>
              <a:buFont typeface="Calibri,Sans-Serif" panose="020F0502020204030204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Arial"/>
                <a:ea typeface="+mn-lt"/>
                <a:cs typeface="Arial"/>
              </a:rPr>
              <a:t> </a:t>
            </a:r>
            <a:r>
              <a:rPr lang="en-US" sz="2000">
                <a:solidFill>
                  <a:schemeClr val="tx1"/>
                </a:solidFill>
                <a:latin typeface="Avenir Next LT Pro"/>
                <a:ea typeface="+mn-lt"/>
                <a:cs typeface="Arial"/>
              </a:rPr>
              <a:t>(</a:t>
            </a: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right) 87th percentile p.o.e. (&gt; value)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474980" lvl="2" indent="-285750">
              <a:lnSpc>
                <a:spcPct val="15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&gt;1% = 94th percentile upwards</a:t>
            </a:r>
          </a:p>
          <a:p>
            <a:pPr marL="474980" lvl="2" indent="-285750">
              <a:lnSpc>
                <a:spcPct val="15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96% major accuracy (&gt;5% = 97th to max)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58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999E4-E364-20CC-AE9A-5A6590D60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93" y="705466"/>
            <a:ext cx="6582244" cy="569495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/>
              <a:t>Relevance</a:t>
            </a:r>
            <a:endParaRPr lang="en-US" sz="4000">
              <a:cs typeface="Posterama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3F6FDC-82D4-5C89-6353-D35E3B15508F}"/>
              </a:ext>
            </a:extLst>
          </p:cNvPr>
          <p:cNvSpPr>
            <a:spLocks noGrp="1"/>
          </p:cNvSpPr>
          <p:nvPr/>
        </p:nvSpPr>
        <p:spPr>
          <a:xfrm>
            <a:off x="610198" y="2391995"/>
            <a:ext cx="4594537" cy="31747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None/>
            </a:pPr>
            <a:endParaRPr lang="en-US" sz="1500">
              <a:solidFill>
                <a:schemeClr val="tx1"/>
              </a:solidFill>
            </a:endParaRPr>
          </a:p>
        </p:txBody>
      </p:sp>
      <p:pic>
        <p:nvPicPr>
          <p:cNvPr id="17" name="Picture 16" descr="Tall office building looking up">
            <a:extLst>
              <a:ext uri="{FF2B5EF4-FFF2-40B4-BE49-F238E27FC236}">
                <a16:creationId xmlns:a16="http://schemas.microsoft.com/office/drawing/2014/main" id="{49FA799D-0F9D-65D7-E85B-A7505023D3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64" r="17157" b="-1"/>
          <a:stretch/>
        </p:blipFill>
        <p:spPr>
          <a:xfrm>
            <a:off x="5879198" y="490264"/>
            <a:ext cx="6312802" cy="6367736"/>
          </a:xfrm>
          <a:custGeom>
            <a:avLst/>
            <a:gdLst/>
            <a:ahLst/>
            <a:cxnLst/>
            <a:rect l="l" t="t" r="r" b="b"/>
            <a:pathLst>
              <a:path w="6312802" h="6367736">
                <a:moveTo>
                  <a:pt x="789715" y="708127"/>
                </a:moveTo>
                <a:cubicBezTo>
                  <a:pt x="845978" y="711650"/>
                  <a:pt x="901296" y="724302"/>
                  <a:pt x="953475" y="745602"/>
                </a:cubicBezTo>
                <a:cubicBezTo>
                  <a:pt x="1173612" y="834890"/>
                  <a:pt x="1309905" y="1073925"/>
                  <a:pt x="1278834" y="1315681"/>
                </a:cubicBezTo>
                <a:cubicBezTo>
                  <a:pt x="1233750" y="1669869"/>
                  <a:pt x="880524" y="1881517"/>
                  <a:pt x="560369" y="1747304"/>
                </a:cubicBezTo>
                <a:cubicBezTo>
                  <a:pt x="338151" y="1654256"/>
                  <a:pt x="204742" y="1408974"/>
                  <a:pt x="242538" y="1164574"/>
                </a:cubicBezTo>
                <a:cubicBezTo>
                  <a:pt x="286421" y="880774"/>
                  <a:pt x="529219" y="692590"/>
                  <a:pt x="789715" y="708127"/>
                </a:cubicBezTo>
                <a:close/>
                <a:moveTo>
                  <a:pt x="2877121" y="364348"/>
                </a:moveTo>
                <a:cubicBezTo>
                  <a:pt x="2901561" y="365790"/>
                  <a:pt x="2925601" y="371235"/>
                  <a:pt x="2948310" y="380363"/>
                </a:cubicBezTo>
                <a:cubicBezTo>
                  <a:pt x="3044405" y="419202"/>
                  <a:pt x="3103503" y="523063"/>
                  <a:pt x="3089970" y="628607"/>
                </a:cubicBezTo>
                <a:cubicBezTo>
                  <a:pt x="3070190" y="782758"/>
                  <a:pt x="2916600" y="874848"/>
                  <a:pt x="2777343" y="816472"/>
                </a:cubicBezTo>
                <a:cubicBezTo>
                  <a:pt x="2680608" y="775952"/>
                  <a:pt x="2622552" y="669287"/>
                  <a:pt x="2639048" y="562863"/>
                </a:cubicBezTo>
                <a:cubicBezTo>
                  <a:pt x="2658106" y="439382"/>
                  <a:pt x="2763810" y="357542"/>
                  <a:pt x="2877121" y="364348"/>
                </a:cubicBezTo>
                <a:close/>
                <a:moveTo>
                  <a:pt x="5725514" y="29060"/>
                </a:moveTo>
                <a:lnTo>
                  <a:pt x="5748657" y="29701"/>
                </a:lnTo>
                <a:cubicBezTo>
                  <a:pt x="5935681" y="36387"/>
                  <a:pt x="6081789" y="65616"/>
                  <a:pt x="6194082" y="113315"/>
                </a:cubicBezTo>
                <a:lnTo>
                  <a:pt x="6312802" y="183322"/>
                </a:lnTo>
                <a:lnTo>
                  <a:pt x="6312802" y="6367736"/>
                </a:lnTo>
                <a:lnTo>
                  <a:pt x="3171877" y="6367736"/>
                </a:lnTo>
                <a:lnTo>
                  <a:pt x="3171635" y="6367591"/>
                </a:lnTo>
                <a:lnTo>
                  <a:pt x="2683232" y="6367591"/>
                </a:lnTo>
                <a:lnTo>
                  <a:pt x="2683031" y="6367736"/>
                </a:lnTo>
                <a:lnTo>
                  <a:pt x="1006759" y="6367736"/>
                </a:lnTo>
                <a:lnTo>
                  <a:pt x="1017798" y="6253705"/>
                </a:lnTo>
                <a:cubicBezTo>
                  <a:pt x="1043303" y="6019815"/>
                  <a:pt x="1065826" y="5776617"/>
                  <a:pt x="897420" y="5565130"/>
                </a:cubicBezTo>
                <a:cubicBezTo>
                  <a:pt x="700507" y="5318087"/>
                  <a:pt x="491822" y="5428997"/>
                  <a:pt x="271526" y="5130943"/>
                </a:cubicBezTo>
                <a:cubicBezTo>
                  <a:pt x="108646" y="4910648"/>
                  <a:pt x="-26366" y="4708290"/>
                  <a:pt x="39940" y="4415201"/>
                </a:cubicBezTo>
                <a:cubicBezTo>
                  <a:pt x="128666" y="4023216"/>
                  <a:pt x="467878" y="3870268"/>
                  <a:pt x="464356" y="3587268"/>
                </a:cubicBezTo>
                <a:cubicBezTo>
                  <a:pt x="460351" y="3247094"/>
                  <a:pt x="43943" y="3178950"/>
                  <a:pt x="3183" y="2791128"/>
                </a:cubicBezTo>
                <a:cubicBezTo>
                  <a:pt x="-23403" y="2538162"/>
                  <a:pt x="118896" y="2235225"/>
                  <a:pt x="343758" y="2095087"/>
                </a:cubicBezTo>
                <a:cubicBezTo>
                  <a:pt x="758163" y="1836512"/>
                  <a:pt x="1225342" y="2272862"/>
                  <a:pt x="1543093" y="2013487"/>
                </a:cubicBezTo>
                <a:cubicBezTo>
                  <a:pt x="1732879" y="1858534"/>
                  <a:pt x="1763790" y="1542064"/>
                  <a:pt x="1726873" y="1342749"/>
                </a:cubicBezTo>
                <a:cubicBezTo>
                  <a:pt x="1656484" y="963255"/>
                  <a:pt x="1345299" y="901114"/>
                  <a:pt x="1356831" y="612032"/>
                </a:cubicBezTo>
                <a:cubicBezTo>
                  <a:pt x="1365319" y="397180"/>
                  <a:pt x="1547578" y="171600"/>
                  <a:pt x="1773239" y="121551"/>
                </a:cubicBezTo>
                <a:cubicBezTo>
                  <a:pt x="1804789" y="114503"/>
                  <a:pt x="1837013" y="110980"/>
                  <a:pt x="1869333" y="110980"/>
                </a:cubicBezTo>
                <a:cubicBezTo>
                  <a:pt x="2087466" y="110980"/>
                  <a:pt x="2259155" y="271137"/>
                  <a:pt x="2312167" y="320866"/>
                </a:cubicBezTo>
                <a:cubicBezTo>
                  <a:pt x="2563133" y="555255"/>
                  <a:pt x="2364538" y="842498"/>
                  <a:pt x="2568899" y="1194363"/>
                </a:cubicBezTo>
                <a:cubicBezTo>
                  <a:pt x="2600650" y="1246494"/>
                  <a:pt x="2637078" y="1295662"/>
                  <a:pt x="2677726" y="1341226"/>
                </a:cubicBezTo>
                <a:cubicBezTo>
                  <a:pt x="2757804" y="1432276"/>
                  <a:pt x="2906990" y="1416261"/>
                  <a:pt x="2964327" y="1310316"/>
                </a:cubicBezTo>
                <a:cubicBezTo>
                  <a:pt x="3059059" y="1135183"/>
                  <a:pt x="3149628" y="938831"/>
                  <a:pt x="3333248" y="887741"/>
                </a:cubicBezTo>
                <a:cubicBezTo>
                  <a:pt x="3690239" y="788365"/>
                  <a:pt x="3902767" y="1378543"/>
                  <a:pt x="4272730" y="1307994"/>
                </a:cubicBezTo>
                <a:cubicBezTo>
                  <a:pt x="4426320" y="1278686"/>
                  <a:pt x="4515368" y="1152802"/>
                  <a:pt x="4596327" y="996810"/>
                </a:cubicBezTo>
                <a:cubicBezTo>
                  <a:pt x="4618829" y="953326"/>
                  <a:pt x="4640770" y="907521"/>
                  <a:pt x="4663272" y="860676"/>
                </a:cubicBezTo>
                <a:cubicBezTo>
                  <a:pt x="4732781" y="613153"/>
                  <a:pt x="4835282" y="115946"/>
                  <a:pt x="5572324" y="40189"/>
                </a:cubicBezTo>
                <a:cubicBezTo>
                  <a:pt x="5622910" y="31543"/>
                  <a:pt x="5674208" y="27859"/>
                  <a:pt x="5725514" y="29060"/>
                </a:cubicBezTo>
                <a:close/>
                <a:moveTo>
                  <a:pt x="4169348" y="793"/>
                </a:moveTo>
                <a:cubicBezTo>
                  <a:pt x="4219966" y="3995"/>
                  <a:pt x="4269734" y="15368"/>
                  <a:pt x="4316693" y="34505"/>
                </a:cubicBezTo>
                <a:cubicBezTo>
                  <a:pt x="4514808" y="114584"/>
                  <a:pt x="4637488" y="329676"/>
                  <a:pt x="4609540" y="547569"/>
                </a:cubicBezTo>
                <a:cubicBezTo>
                  <a:pt x="4568620" y="865801"/>
                  <a:pt x="4251108" y="1055907"/>
                  <a:pt x="3962986" y="935790"/>
                </a:cubicBezTo>
                <a:cubicBezTo>
                  <a:pt x="3762790" y="852028"/>
                  <a:pt x="3642672" y="631491"/>
                  <a:pt x="3676946" y="411355"/>
                </a:cubicBezTo>
                <a:cubicBezTo>
                  <a:pt x="3716424" y="155985"/>
                  <a:pt x="3934959" y="-13061"/>
                  <a:pt x="4169348" y="793"/>
                </a:cubicBezTo>
                <a:close/>
              </a:path>
            </a:pathLst>
          </a:cu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4FB9B98-CD54-C096-D2AF-1E2A5BBB6FAD}"/>
              </a:ext>
            </a:extLst>
          </p:cNvPr>
          <p:cNvSpPr>
            <a:spLocks noGrp="1"/>
          </p:cNvSpPr>
          <p:nvPr/>
        </p:nvSpPr>
        <p:spPr>
          <a:xfrm>
            <a:off x="276184" y="1711620"/>
            <a:ext cx="5600007" cy="4149352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Promotes </a:t>
            </a:r>
            <a:r>
              <a:rPr lang="en-US" sz="2400">
                <a:solidFill>
                  <a:srgbClr val="262626"/>
                </a:solidFill>
                <a:highlight>
                  <a:srgbClr val="94C6C5"/>
                </a:highlight>
                <a:ea typeface="+mn-lt"/>
                <a:cs typeface="+mn-lt"/>
              </a:rPr>
              <a:t>drug discovery</a:t>
            </a: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 and </a:t>
            </a:r>
            <a:r>
              <a:rPr lang="en-US" sz="2400">
                <a:solidFill>
                  <a:srgbClr val="262626"/>
                </a:solidFill>
                <a:highlight>
                  <a:srgbClr val="94C6C5"/>
                </a:highlight>
                <a:ea typeface="+mn-lt"/>
                <a:cs typeface="+mn-lt"/>
              </a:rPr>
              <a:t>patient care</a:t>
            </a:r>
            <a:endParaRPr lang="en-US" sz="2400">
              <a:solidFill>
                <a:srgbClr val="262626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Inspires research for </a:t>
            </a:r>
            <a:r>
              <a:rPr lang="en-US" sz="2400">
                <a:solidFill>
                  <a:srgbClr val="262626"/>
                </a:solidFill>
                <a:highlight>
                  <a:srgbClr val="94C6C5"/>
                </a:highlight>
                <a:ea typeface="+mn-lt"/>
                <a:cs typeface="+mn-lt"/>
              </a:rPr>
              <a:t>enhanced data management</a:t>
            </a:r>
            <a:endParaRPr lang="en-US" sz="2400">
              <a:solidFill>
                <a:srgbClr val="262626"/>
              </a:solidFill>
              <a:latin typeface="Avenir Next LT Pro"/>
              <a:cs typeface="Arial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r>
              <a:rPr lang="en-US" sz="2400">
                <a:solidFill>
                  <a:srgbClr val="262626"/>
                </a:solidFill>
                <a:latin typeface="Avenir Next LT Pro"/>
                <a:ea typeface="Calibri"/>
                <a:cs typeface="Arial"/>
              </a:rPr>
              <a:t>Provides </a:t>
            </a: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valuable </a:t>
            </a:r>
            <a:r>
              <a:rPr lang="en-US" sz="2400">
                <a:solidFill>
                  <a:srgbClr val="262626"/>
                </a:solidFill>
                <a:highlight>
                  <a:srgbClr val="94C6C5"/>
                </a:highlight>
                <a:ea typeface="+mn-lt"/>
                <a:cs typeface="+mn-lt"/>
              </a:rPr>
              <a:t>feedback</a:t>
            </a: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for AI developers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US" sz="2400">
              <a:solidFill>
                <a:srgbClr val="262626"/>
              </a:solidFill>
              <a:latin typeface="Avenir Next LT Pro"/>
              <a:ea typeface="Calibri" panose="020F050202020403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4392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6BDF4D-4826-490A-8307-7247A295E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E0FF4CF-25CB-4537-9BBF-28B36C76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5328" y="1352190"/>
            <a:ext cx="7823624" cy="5505810"/>
          </a:xfrm>
          <a:custGeom>
            <a:avLst/>
            <a:gdLst>
              <a:gd name="connsiteX0" fmla="*/ 7676365 w 7823624"/>
              <a:gd name="connsiteY0" fmla="*/ 583688 h 5505810"/>
              <a:gd name="connsiteX1" fmla="*/ 7807957 w 7823624"/>
              <a:gd name="connsiteY1" fmla="*/ 609260 h 5505810"/>
              <a:gd name="connsiteX2" fmla="*/ 7823624 w 7823624"/>
              <a:gd name="connsiteY2" fmla="*/ 618028 h 5505810"/>
              <a:gd name="connsiteX3" fmla="*/ 7823624 w 7823624"/>
              <a:gd name="connsiteY3" fmla="*/ 1356037 h 5505810"/>
              <a:gd name="connsiteX4" fmla="*/ 7783921 w 7823624"/>
              <a:gd name="connsiteY4" fmla="*/ 1367061 h 5505810"/>
              <a:gd name="connsiteX5" fmla="*/ 7685829 w 7823624"/>
              <a:gd name="connsiteY5" fmla="*/ 1364631 h 5505810"/>
              <a:gd name="connsiteX6" fmla="*/ 7556041 w 7823624"/>
              <a:gd name="connsiteY6" fmla="*/ 1308528 h 5505810"/>
              <a:gd name="connsiteX7" fmla="*/ 7412440 w 7823624"/>
              <a:gd name="connsiteY7" fmla="*/ 765688 h 5505810"/>
              <a:gd name="connsiteX8" fmla="*/ 7676365 w 7823624"/>
              <a:gd name="connsiteY8" fmla="*/ 583688 h 5505810"/>
              <a:gd name="connsiteX9" fmla="*/ 7062857 w 7823624"/>
              <a:gd name="connsiteY9" fmla="*/ 396783 h 5505810"/>
              <a:gd name="connsiteX10" fmla="*/ 7127059 w 7823624"/>
              <a:gd name="connsiteY10" fmla="*/ 424535 h 5505810"/>
              <a:gd name="connsiteX11" fmla="*/ 7198094 w 7823624"/>
              <a:gd name="connsiteY11" fmla="*/ 693059 h 5505810"/>
              <a:gd name="connsiteX12" fmla="*/ 7099157 w 7823624"/>
              <a:gd name="connsiteY12" fmla="*/ 778505 h 5505810"/>
              <a:gd name="connsiteX13" fmla="*/ 7034998 w 7823624"/>
              <a:gd name="connsiteY13" fmla="*/ 780480 h 5505810"/>
              <a:gd name="connsiteX14" fmla="*/ 6970795 w 7823624"/>
              <a:gd name="connsiteY14" fmla="*/ 752727 h 5505810"/>
              <a:gd name="connsiteX15" fmla="*/ 6899760 w 7823624"/>
              <a:gd name="connsiteY15" fmla="*/ 484203 h 5505810"/>
              <a:gd name="connsiteX16" fmla="*/ 7062857 w 7823624"/>
              <a:gd name="connsiteY16" fmla="*/ 396783 h 5505810"/>
              <a:gd name="connsiteX17" fmla="*/ 1780739 w 7823624"/>
              <a:gd name="connsiteY17" fmla="*/ 1190 h 5505810"/>
              <a:gd name="connsiteX18" fmla="*/ 2850847 w 7823624"/>
              <a:gd name="connsiteY18" fmla="*/ 384530 h 5505810"/>
              <a:gd name="connsiteX19" fmla="*/ 3809413 w 7823624"/>
              <a:gd name="connsiteY19" fmla="*/ 1153764 h 5505810"/>
              <a:gd name="connsiteX20" fmla="*/ 5160376 w 7823624"/>
              <a:gd name="connsiteY20" fmla="*/ 1003825 h 5505810"/>
              <a:gd name="connsiteX21" fmla="*/ 5677238 w 7823624"/>
              <a:gd name="connsiteY21" fmla="*/ 480424 h 5505810"/>
              <a:gd name="connsiteX22" fmla="*/ 7082965 w 7823624"/>
              <a:gd name="connsiteY22" fmla="*/ 1065272 h 5505810"/>
              <a:gd name="connsiteX23" fmla="*/ 7687818 w 7823624"/>
              <a:gd name="connsiteY23" fmla="*/ 1625585 h 5505810"/>
              <a:gd name="connsiteX24" fmla="*/ 7823624 w 7823624"/>
              <a:gd name="connsiteY24" fmla="*/ 1633445 h 5505810"/>
              <a:gd name="connsiteX25" fmla="*/ 7823624 w 7823624"/>
              <a:gd name="connsiteY25" fmla="*/ 5505810 h 5505810"/>
              <a:gd name="connsiteX26" fmla="*/ 1419133 w 7823624"/>
              <a:gd name="connsiteY26" fmla="*/ 5505810 h 5505810"/>
              <a:gd name="connsiteX27" fmla="*/ 1422753 w 7823624"/>
              <a:gd name="connsiteY27" fmla="*/ 5488656 h 5505810"/>
              <a:gd name="connsiteX28" fmla="*/ 1543078 w 7823624"/>
              <a:gd name="connsiteY28" fmla="*/ 4961644 h 5505810"/>
              <a:gd name="connsiteX29" fmla="*/ 1334564 w 7823624"/>
              <a:gd name="connsiteY29" fmla="*/ 4133160 h 5505810"/>
              <a:gd name="connsiteX30" fmla="*/ 670875 w 7823624"/>
              <a:gd name="connsiteY30" fmla="*/ 3489628 h 5505810"/>
              <a:gd name="connsiteX31" fmla="*/ 499515 w 7823624"/>
              <a:gd name="connsiteY31" fmla="*/ 578153 h 5505810"/>
              <a:gd name="connsiteX32" fmla="*/ 1780739 w 7823624"/>
              <a:gd name="connsiteY32" fmla="*/ 1190 h 550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823624" h="5505810">
                <a:moveTo>
                  <a:pt x="7676365" y="583688"/>
                </a:moveTo>
                <a:cubicBezTo>
                  <a:pt x="7719804" y="582304"/>
                  <a:pt x="7764489" y="590613"/>
                  <a:pt x="7807957" y="609260"/>
                </a:cubicBezTo>
                <a:lnTo>
                  <a:pt x="7823624" y="618028"/>
                </a:lnTo>
                <a:lnTo>
                  <a:pt x="7823624" y="1356037"/>
                </a:lnTo>
                <a:lnTo>
                  <a:pt x="7783921" y="1367061"/>
                </a:lnTo>
                <a:cubicBezTo>
                  <a:pt x="7751926" y="1371702"/>
                  <a:pt x="7718882" y="1370985"/>
                  <a:pt x="7685829" y="1364631"/>
                </a:cubicBezTo>
                <a:cubicBezTo>
                  <a:pt x="7641760" y="1356162"/>
                  <a:pt x="7597675" y="1337676"/>
                  <a:pt x="7556041" y="1308528"/>
                </a:cubicBezTo>
                <a:cubicBezTo>
                  <a:pt x="7389499" y="1191936"/>
                  <a:pt x="7325207" y="948898"/>
                  <a:pt x="7412440" y="765688"/>
                </a:cubicBezTo>
                <a:cubicBezTo>
                  <a:pt x="7466961" y="651183"/>
                  <a:pt x="7567768" y="587147"/>
                  <a:pt x="7676365" y="583688"/>
                </a:cubicBezTo>
                <a:close/>
                <a:moveTo>
                  <a:pt x="7062857" y="396783"/>
                </a:moveTo>
                <a:cubicBezTo>
                  <a:pt x="7084657" y="400973"/>
                  <a:pt x="7106463" y="410117"/>
                  <a:pt x="7127059" y="424535"/>
                </a:cubicBezTo>
                <a:cubicBezTo>
                  <a:pt x="7209442" y="482209"/>
                  <a:pt x="7241245" y="602433"/>
                  <a:pt x="7198094" y="693059"/>
                </a:cubicBezTo>
                <a:cubicBezTo>
                  <a:pt x="7176519" y="738373"/>
                  <a:pt x="7140289" y="767709"/>
                  <a:pt x="7099157" y="778505"/>
                </a:cubicBezTo>
                <a:cubicBezTo>
                  <a:pt x="7078590" y="783905"/>
                  <a:pt x="7056797" y="784670"/>
                  <a:pt x="7034998" y="780480"/>
                </a:cubicBezTo>
                <a:cubicBezTo>
                  <a:pt x="7013198" y="776289"/>
                  <a:pt x="6991391" y="767146"/>
                  <a:pt x="6970795" y="752727"/>
                </a:cubicBezTo>
                <a:cubicBezTo>
                  <a:pt x="6888412" y="695052"/>
                  <a:pt x="6856608" y="574829"/>
                  <a:pt x="6899760" y="484203"/>
                </a:cubicBezTo>
                <a:cubicBezTo>
                  <a:pt x="6932124" y="416232"/>
                  <a:pt x="6997458" y="384213"/>
                  <a:pt x="7062857" y="396783"/>
                </a:cubicBezTo>
                <a:close/>
                <a:moveTo>
                  <a:pt x="1780739" y="1190"/>
                </a:moveTo>
                <a:cubicBezTo>
                  <a:pt x="2129768" y="14988"/>
                  <a:pt x="2488852" y="148495"/>
                  <a:pt x="2850847" y="384530"/>
                </a:cubicBezTo>
                <a:cubicBezTo>
                  <a:pt x="3184362" y="601036"/>
                  <a:pt x="3487788" y="901267"/>
                  <a:pt x="3809413" y="1153764"/>
                </a:cubicBezTo>
                <a:cubicBezTo>
                  <a:pt x="4262448" y="1508236"/>
                  <a:pt x="4750558" y="1545992"/>
                  <a:pt x="5160376" y="1003825"/>
                </a:cubicBezTo>
                <a:cubicBezTo>
                  <a:pt x="5313232" y="801671"/>
                  <a:pt x="5481196" y="587300"/>
                  <a:pt x="5677238" y="480424"/>
                </a:cubicBezTo>
                <a:cubicBezTo>
                  <a:pt x="6182723" y="204840"/>
                  <a:pt x="6667481" y="431193"/>
                  <a:pt x="7082965" y="1065272"/>
                </a:cubicBezTo>
                <a:cubicBezTo>
                  <a:pt x="7249706" y="1319645"/>
                  <a:pt x="7421998" y="1601453"/>
                  <a:pt x="7687818" y="1625585"/>
                </a:cubicBezTo>
                <a:lnTo>
                  <a:pt x="7823624" y="1633445"/>
                </a:lnTo>
                <a:lnTo>
                  <a:pt x="7823624" y="5505810"/>
                </a:lnTo>
                <a:lnTo>
                  <a:pt x="1419133" y="5505810"/>
                </a:lnTo>
                <a:lnTo>
                  <a:pt x="1422753" y="5488656"/>
                </a:lnTo>
                <a:cubicBezTo>
                  <a:pt x="1462649" y="5312984"/>
                  <a:pt x="1506176" y="5138278"/>
                  <a:pt x="1543078" y="4961644"/>
                </a:cubicBezTo>
                <a:cubicBezTo>
                  <a:pt x="1609806" y="4640258"/>
                  <a:pt x="1539760" y="4343419"/>
                  <a:pt x="1334564" y="4133160"/>
                </a:cubicBezTo>
                <a:cubicBezTo>
                  <a:pt x="1117562" y="3910930"/>
                  <a:pt x="900716" y="3685928"/>
                  <a:pt x="670875" y="3489628"/>
                </a:cubicBezTo>
                <a:cubicBezTo>
                  <a:pt x="-321639" y="2642174"/>
                  <a:pt x="-67393" y="1165752"/>
                  <a:pt x="499515" y="578153"/>
                </a:cubicBezTo>
                <a:cubicBezTo>
                  <a:pt x="899852" y="163598"/>
                  <a:pt x="1331986" y="-16550"/>
                  <a:pt x="1780739" y="11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E87253-3CB5-DF5F-DF56-882EBAE6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79" y="250696"/>
            <a:ext cx="10972800" cy="78535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Limitations</a:t>
            </a:r>
          </a:p>
        </p:txBody>
      </p:sp>
      <p:pic>
        <p:nvPicPr>
          <p:cNvPr id="5" name="Picture 4" descr="A person holding a chain&#10;&#10;Description automatically generated">
            <a:extLst>
              <a:ext uri="{FF2B5EF4-FFF2-40B4-BE49-F238E27FC236}">
                <a16:creationId xmlns:a16="http://schemas.microsoft.com/office/drawing/2014/main" id="{DC460F6D-EAF5-8658-C671-9A2F3C5FE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644734" y="2577036"/>
            <a:ext cx="7544312" cy="3663619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C4E0DBF-A011-EA82-41EA-FB7FFC4D21DC}"/>
              </a:ext>
            </a:extLst>
          </p:cNvPr>
          <p:cNvSpPr>
            <a:spLocks noGrp="1"/>
          </p:cNvSpPr>
          <p:nvPr/>
        </p:nvSpPr>
        <p:spPr>
          <a:xfrm>
            <a:off x="153798" y="1614832"/>
            <a:ext cx="4638051" cy="480584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venir Next LT Pro"/>
                <a:ea typeface="+mn-lt"/>
                <a:cs typeface="Segoe UI"/>
              </a:rPr>
              <a:t>Scope of data</a:t>
            </a:r>
            <a:endParaRPr lang="en-US" sz="2400" dirty="0">
              <a:solidFill>
                <a:schemeClr val="tx1"/>
              </a:solidFill>
              <a:latin typeface="Avenir Next LT Pro"/>
              <a:cs typeface="Segoe UI"/>
            </a:endParaRPr>
          </a:p>
          <a:p>
            <a:pPr marL="817880" lvl="2" indent="-342900">
              <a:lnSpc>
                <a:spcPct val="15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1800" dirty="0">
                <a:solidFill>
                  <a:schemeClr val="tx1"/>
                </a:solidFill>
                <a:latin typeface="Avenir Next LT Pro"/>
                <a:ea typeface="Calibri"/>
                <a:cs typeface="Segoe UI"/>
              </a:rPr>
              <a:t>20 companies, 6 questions</a:t>
            </a:r>
          </a:p>
          <a:p>
            <a:pPr marL="817880" lvl="2" indent="-342900">
              <a:lnSpc>
                <a:spcPct val="15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endParaRPr lang="en-US" sz="1800">
              <a:solidFill>
                <a:schemeClr val="tx1"/>
              </a:solidFill>
              <a:ea typeface="Calibri"/>
              <a:cs typeface="Segoe UI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r>
              <a:rPr lang="en-US" sz="2400" dirty="0">
                <a:solidFill>
                  <a:srgbClr val="262626"/>
                </a:solidFill>
                <a:ea typeface="+mn-lt"/>
                <a:cs typeface="+mn-lt"/>
              </a:rPr>
              <a:t>Comparative Analysis Constraints</a:t>
            </a:r>
            <a:endParaRPr lang="en-US" sz="2400" dirty="0">
              <a:solidFill>
                <a:srgbClr val="262626"/>
              </a:solidFill>
              <a:latin typeface="Avenir Next LT Pro"/>
              <a:ea typeface="Calibri" panose="020F0502020204030204" pitchFamily="34" charset="0"/>
              <a:cs typeface="Arial"/>
            </a:endParaRPr>
          </a:p>
          <a:p>
            <a:pPr marL="817880" lvl="2" indent="-342900">
              <a:lnSpc>
                <a:spcPct val="15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1800">
                <a:solidFill>
                  <a:srgbClr val="262626"/>
                </a:solidFill>
                <a:ea typeface="Calibri"/>
                <a:cs typeface="Arial"/>
              </a:rPr>
              <a:t>Does not account for </a:t>
            </a:r>
            <a:r>
              <a:rPr lang="en-US" sz="1800">
                <a:solidFill>
                  <a:srgbClr val="262626"/>
                </a:solidFill>
                <a:highlight>
                  <a:srgbClr val="94C6C5"/>
                </a:highlight>
                <a:ea typeface="Calibri"/>
                <a:cs typeface="Arial"/>
              </a:rPr>
              <a:t>context-specific factors</a:t>
            </a:r>
            <a:r>
              <a:rPr lang="en-US" sz="1800">
                <a:solidFill>
                  <a:srgbClr val="262626"/>
                </a:solidFill>
                <a:ea typeface="Calibri"/>
                <a:cs typeface="Arial"/>
              </a:rPr>
              <a:t> influencing data accuracy</a:t>
            </a:r>
            <a:endParaRPr lang="en-US" sz="1800">
              <a:solidFill>
                <a:srgbClr val="262626"/>
              </a:solidFill>
              <a:latin typeface="Avenir Next LT Pro"/>
              <a:ea typeface="Calibri" panose="020F0502020204030204" pitchFamily="34" charset="0"/>
              <a:cs typeface="Arial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US" sz="2400">
              <a:solidFill>
                <a:srgbClr val="262626"/>
              </a:solidFill>
              <a:latin typeface="Avenir Next LT Pro"/>
              <a:ea typeface="Calibri" panose="020F050202020403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5251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2B6D96-D9A2-4E4A-8064-FCA9A1D3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1591A-0F87-E6D0-6BA1-86ADFAD30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76" y="19807"/>
            <a:ext cx="8197977" cy="1349314"/>
          </a:xfrm>
        </p:spPr>
        <p:txBody>
          <a:bodyPr>
            <a:normAutofit/>
          </a:bodyPr>
          <a:lstStyle/>
          <a:p>
            <a:r>
              <a:rPr lang="en-US">
                <a:cs typeface="Posterama"/>
              </a:rPr>
              <a:t>Conclusion</a:t>
            </a:r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4ADF8E3-1B35-4C33-95FB-BAAD781AF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8188" y="0"/>
            <a:ext cx="2933812" cy="2750153"/>
          </a:xfrm>
          <a:custGeom>
            <a:avLst/>
            <a:gdLst>
              <a:gd name="connsiteX0" fmla="*/ 1067830 w 2933812"/>
              <a:gd name="connsiteY0" fmla="*/ 776732 h 2750153"/>
              <a:gd name="connsiteX1" fmla="*/ 1305537 w 2933812"/>
              <a:gd name="connsiteY1" fmla="*/ 842083 h 2750153"/>
              <a:gd name="connsiteX2" fmla="*/ 1421053 w 2933812"/>
              <a:gd name="connsiteY2" fmla="*/ 1397856 h 2750153"/>
              <a:gd name="connsiteX3" fmla="*/ 865267 w 2933812"/>
              <a:gd name="connsiteY3" fmla="*/ 1513301 h 2750153"/>
              <a:gd name="connsiteX4" fmla="*/ 749819 w 2933812"/>
              <a:gd name="connsiteY4" fmla="*/ 957568 h 2750153"/>
              <a:gd name="connsiteX5" fmla="*/ 836727 w 2933812"/>
              <a:gd name="connsiteY5" fmla="*/ 862679 h 2750153"/>
              <a:gd name="connsiteX6" fmla="*/ 1067830 w 2933812"/>
              <a:gd name="connsiteY6" fmla="*/ 776732 h 2750153"/>
              <a:gd name="connsiteX7" fmla="*/ 209205 w 2933812"/>
              <a:gd name="connsiteY7" fmla="*/ 551704 h 2750153"/>
              <a:gd name="connsiteX8" fmla="*/ 328901 w 2933812"/>
              <a:gd name="connsiteY8" fmla="*/ 567267 h 2750153"/>
              <a:gd name="connsiteX9" fmla="*/ 460887 w 2933812"/>
              <a:gd name="connsiteY9" fmla="*/ 878648 h 2750153"/>
              <a:gd name="connsiteX10" fmla="*/ 149506 w 2933812"/>
              <a:gd name="connsiteY10" fmla="*/ 1010633 h 2750153"/>
              <a:gd name="connsiteX11" fmla="*/ 17517 w 2933812"/>
              <a:gd name="connsiteY11" fmla="*/ 699260 h 2750153"/>
              <a:gd name="connsiteX12" fmla="*/ 97142 w 2933812"/>
              <a:gd name="connsiteY12" fmla="*/ 596577 h 2750153"/>
              <a:gd name="connsiteX13" fmla="*/ 209205 w 2933812"/>
              <a:gd name="connsiteY13" fmla="*/ 551704 h 2750153"/>
              <a:gd name="connsiteX14" fmla="*/ 603014 w 2933812"/>
              <a:gd name="connsiteY14" fmla="*/ 0 h 2750153"/>
              <a:gd name="connsiteX15" fmla="*/ 2933812 w 2933812"/>
              <a:gd name="connsiteY15" fmla="*/ 0 h 2750153"/>
              <a:gd name="connsiteX16" fmla="*/ 2933812 w 2933812"/>
              <a:gd name="connsiteY16" fmla="*/ 2748233 h 2750153"/>
              <a:gd name="connsiteX17" fmla="*/ 2877044 w 2933812"/>
              <a:gd name="connsiteY17" fmla="*/ 2704219 h 2750153"/>
              <a:gd name="connsiteX18" fmla="*/ 1987800 w 2933812"/>
              <a:gd name="connsiteY18" fmla="*/ 2707378 h 2750153"/>
              <a:gd name="connsiteX19" fmla="*/ 1571775 w 2933812"/>
              <a:gd name="connsiteY19" fmla="*/ 2085562 h 2750153"/>
              <a:gd name="connsiteX20" fmla="*/ 2085622 w 2933812"/>
              <a:gd name="connsiteY20" fmla="*/ 1038354 h 2750153"/>
              <a:gd name="connsiteX21" fmla="*/ 1614635 w 2933812"/>
              <a:gd name="connsiteY21" fmla="*/ 560521 h 2750153"/>
              <a:gd name="connsiteX22" fmla="*/ 825009 w 2933812"/>
              <a:gd name="connsiteY22" fmla="*/ 518839 h 2750153"/>
              <a:gd name="connsiteX23" fmla="*/ 599925 w 2933812"/>
              <a:gd name="connsiteY23" fmla="*/ 14372 h 275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933812" h="2750153">
                <a:moveTo>
                  <a:pt x="1067830" y="776732"/>
                </a:moveTo>
                <a:cubicBezTo>
                  <a:pt x="1150031" y="773119"/>
                  <a:pt x="1233332" y="794722"/>
                  <a:pt x="1305537" y="842083"/>
                </a:cubicBezTo>
                <a:cubicBezTo>
                  <a:pt x="1490941" y="963689"/>
                  <a:pt x="1542616" y="1212493"/>
                  <a:pt x="1421053" y="1397856"/>
                </a:cubicBezTo>
                <a:cubicBezTo>
                  <a:pt x="1299424" y="1583173"/>
                  <a:pt x="1050671" y="1634906"/>
                  <a:pt x="865267" y="1513301"/>
                </a:cubicBezTo>
                <a:cubicBezTo>
                  <a:pt x="679936" y="1391729"/>
                  <a:pt x="628260" y="1142925"/>
                  <a:pt x="749819" y="957568"/>
                </a:cubicBezTo>
                <a:cubicBezTo>
                  <a:pt x="773570" y="921529"/>
                  <a:pt x="802922" y="889506"/>
                  <a:pt x="836727" y="862679"/>
                </a:cubicBezTo>
                <a:cubicBezTo>
                  <a:pt x="904529" y="809175"/>
                  <a:pt x="985629" y="780345"/>
                  <a:pt x="1067830" y="776732"/>
                </a:cubicBezTo>
                <a:close/>
                <a:moveTo>
                  <a:pt x="209205" y="551704"/>
                </a:moveTo>
                <a:cubicBezTo>
                  <a:pt x="249147" y="546653"/>
                  <a:pt x="290360" y="551675"/>
                  <a:pt x="328901" y="567267"/>
                </a:cubicBezTo>
                <a:cubicBezTo>
                  <a:pt x="451346" y="616809"/>
                  <a:pt x="510410" y="756201"/>
                  <a:pt x="460887" y="878648"/>
                </a:cubicBezTo>
                <a:cubicBezTo>
                  <a:pt x="411366" y="1001087"/>
                  <a:pt x="271948" y="1060182"/>
                  <a:pt x="149506" y="1010633"/>
                </a:cubicBezTo>
                <a:cubicBezTo>
                  <a:pt x="27060" y="961092"/>
                  <a:pt x="-32003" y="821699"/>
                  <a:pt x="17517" y="699260"/>
                </a:cubicBezTo>
                <a:cubicBezTo>
                  <a:pt x="34058" y="658332"/>
                  <a:pt x="61655" y="622811"/>
                  <a:pt x="97142" y="596577"/>
                </a:cubicBezTo>
                <a:cubicBezTo>
                  <a:pt x="130594" y="571878"/>
                  <a:pt x="169264" y="556754"/>
                  <a:pt x="209205" y="551704"/>
                </a:cubicBezTo>
                <a:close/>
                <a:moveTo>
                  <a:pt x="603014" y="0"/>
                </a:moveTo>
                <a:lnTo>
                  <a:pt x="2933812" y="0"/>
                </a:lnTo>
                <a:lnTo>
                  <a:pt x="2933812" y="2748233"/>
                </a:lnTo>
                <a:lnTo>
                  <a:pt x="2877044" y="2704219"/>
                </a:lnTo>
                <a:cubicBezTo>
                  <a:pt x="2590402" y="2543052"/>
                  <a:pt x="2331640" y="2859871"/>
                  <a:pt x="1987800" y="2707378"/>
                </a:cubicBezTo>
                <a:cubicBezTo>
                  <a:pt x="1763640" y="2607782"/>
                  <a:pt x="1580044" y="2342268"/>
                  <a:pt x="1571775" y="2085562"/>
                </a:cubicBezTo>
                <a:cubicBezTo>
                  <a:pt x="1556983" y="1612648"/>
                  <a:pt x="2147977" y="1430482"/>
                  <a:pt x="2085622" y="1038354"/>
                </a:cubicBezTo>
                <a:cubicBezTo>
                  <a:pt x="2048252" y="804151"/>
                  <a:pt x="1799013" y="625551"/>
                  <a:pt x="1614635" y="560521"/>
                </a:cubicBezTo>
                <a:cubicBezTo>
                  <a:pt x="1263737" y="436354"/>
                  <a:pt x="1061091" y="667936"/>
                  <a:pt x="825009" y="518839"/>
                </a:cubicBezTo>
                <a:cubicBezTo>
                  <a:pt x="671642" y="421917"/>
                  <a:pt x="576178" y="209445"/>
                  <a:pt x="599925" y="143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2CE4786-E1A8-13F6-9031-977FA9C7FFA4}"/>
              </a:ext>
            </a:extLst>
          </p:cNvPr>
          <p:cNvSpPr>
            <a:spLocks noGrp="1"/>
          </p:cNvSpPr>
          <p:nvPr/>
        </p:nvSpPr>
        <p:spPr>
          <a:xfrm>
            <a:off x="247429" y="2157318"/>
            <a:ext cx="5600007" cy="4149352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r>
              <a:rPr lang="en-US" sz="2400" dirty="0">
                <a:solidFill>
                  <a:srgbClr val="262626"/>
                </a:solidFill>
                <a:ea typeface="+mn-lt"/>
                <a:cs typeface="+mn-lt"/>
              </a:rPr>
              <a:t>Significant time savings.</a:t>
            </a:r>
            <a:endParaRPr lang="en-US" sz="2400" dirty="0">
              <a:solidFill>
                <a:srgbClr val="262626"/>
              </a:solidFill>
              <a:latin typeface="Avenir Next LT Pro"/>
              <a:ea typeface="+mn-lt"/>
              <a:cs typeface="Arial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endParaRPr lang="en-US" sz="2400">
              <a:solidFill>
                <a:srgbClr val="262626"/>
              </a:solidFill>
              <a:latin typeface="Avenir Next LT Pro"/>
              <a:ea typeface="Calibri"/>
              <a:cs typeface="Arial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r>
              <a:rPr lang="en-US" sz="2400" dirty="0">
                <a:solidFill>
                  <a:srgbClr val="262626"/>
                </a:solidFill>
                <a:latin typeface="Avenir Next LT Pro"/>
                <a:ea typeface="Calibri"/>
                <a:cs typeface="Arial"/>
              </a:rPr>
              <a:t>Absolute accuracy rate is 86%</a:t>
            </a:r>
            <a:endParaRPr lang="en-US" sz="2400" dirty="0">
              <a:solidFill>
                <a:srgbClr val="262626"/>
              </a:solidFill>
              <a:latin typeface="Avenir Next LT Pro"/>
              <a:ea typeface="Calibri" panose="020F0502020204030204" pitchFamily="34" charset="0"/>
              <a:cs typeface="Arial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endParaRPr lang="en-US" sz="2400">
              <a:solidFill>
                <a:srgbClr val="262626"/>
              </a:solidFill>
              <a:latin typeface="Avenir Next LT Pro"/>
              <a:ea typeface="Calibri" panose="020F0502020204030204" pitchFamily="34" charset="0"/>
              <a:cs typeface="Arial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r>
              <a:rPr lang="en-US" sz="2400" dirty="0">
                <a:solidFill>
                  <a:srgbClr val="262626"/>
                </a:solidFill>
                <a:latin typeface="Avenir Next LT Pro"/>
                <a:ea typeface="Calibri" panose="020F0502020204030204" pitchFamily="34" charset="0"/>
                <a:cs typeface="Arial"/>
              </a:rPr>
              <a:t>Human and AI works best</a:t>
            </a: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endParaRPr lang="en-US" sz="2400">
              <a:solidFill>
                <a:srgbClr val="262626"/>
              </a:solidFill>
              <a:latin typeface="Avenir Next LT Pro"/>
              <a:ea typeface="Calibri" panose="020F0502020204030204" pitchFamily="34" charset="0"/>
              <a:cs typeface="Arial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US" sz="2400">
              <a:solidFill>
                <a:srgbClr val="262626"/>
              </a:solidFill>
              <a:latin typeface="Avenir Next LT Pro"/>
              <a:ea typeface="Calibri" panose="020F050202020403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705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4" name="Picture 13" descr="Long exposure shot from a moving train">
            <a:extLst>
              <a:ext uri="{FF2B5EF4-FFF2-40B4-BE49-F238E27FC236}">
                <a16:creationId xmlns:a16="http://schemas.microsoft.com/office/drawing/2014/main" id="{C3FF2D65-65B4-5ABF-A88D-B55817FBE0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90" r="22882" b="10"/>
          <a:stretch/>
        </p:blipFill>
        <p:spPr>
          <a:xfrm>
            <a:off x="20" y="10"/>
            <a:ext cx="5710632" cy="6857990"/>
          </a:xfrm>
          <a:custGeom>
            <a:avLst/>
            <a:gdLst/>
            <a:ahLst/>
            <a:cxnLst/>
            <a:rect l="l" t="t" r="r" b="b"/>
            <a:pathLst>
              <a:path w="5710652" h="6858000">
                <a:moveTo>
                  <a:pt x="4831301" y="0"/>
                </a:moveTo>
                <a:lnTo>
                  <a:pt x="5696109" y="0"/>
                </a:lnTo>
                <a:lnTo>
                  <a:pt x="5706418" y="42969"/>
                </a:lnTo>
                <a:cubicBezTo>
                  <a:pt x="5714414" y="100391"/>
                  <a:pt x="5711283" y="160329"/>
                  <a:pt x="5695333" y="219852"/>
                </a:cubicBezTo>
                <a:cubicBezTo>
                  <a:pt x="5631536" y="457945"/>
                  <a:pt x="5386806" y="599240"/>
                  <a:pt x="5148712" y="535443"/>
                </a:cubicBezTo>
                <a:cubicBezTo>
                  <a:pt x="4940381" y="479621"/>
                  <a:pt x="4806160" y="285271"/>
                  <a:pt x="4818599" y="78052"/>
                </a:cubicBezTo>
                <a:close/>
                <a:moveTo>
                  <a:pt x="0" y="0"/>
                </a:moveTo>
                <a:lnTo>
                  <a:pt x="545808" y="0"/>
                </a:lnTo>
                <a:lnTo>
                  <a:pt x="4212872" y="0"/>
                </a:lnTo>
                <a:lnTo>
                  <a:pt x="4204748" y="184996"/>
                </a:lnTo>
                <a:cubicBezTo>
                  <a:pt x="4203390" y="263520"/>
                  <a:pt x="4204263" y="341910"/>
                  <a:pt x="4207775" y="419995"/>
                </a:cubicBezTo>
                <a:cubicBezTo>
                  <a:pt x="4220964" y="709488"/>
                  <a:pt x="4449625" y="891535"/>
                  <a:pt x="4655737" y="1068099"/>
                </a:cubicBezTo>
                <a:cubicBezTo>
                  <a:pt x="5169527" y="1508061"/>
                  <a:pt x="5344373" y="2032158"/>
                  <a:pt x="5103604" y="2589405"/>
                </a:cubicBezTo>
                <a:cubicBezTo>
                  <a:pt x="5010230" y="2805523"/>
                  <a:pt x="4828675" y="2993264"/>
                  <a:pt x="4657611" y="3164269"/>
                </a:cubicBezTo>
                <a:cubicBezTo>
                  <a:pt x="4198817" y="3622744"/>
                  <a:pt x="4217616" y="4154456"/>
                  <a:pt x="4499219" y="4641255"/>
                </a:cubicBezTo>
                <a:cubicBezTo>
                  <a:pt x="4699839" y="4986832"/>
                  <a:pt x="4940395" y="5311556"/>
                  <a:pt x="5110950" y="5670858"/>
                </a:cubicBezTo>
                <a:cubicBezTo>
                  <a:pt x="5277001" y="6019042"/>
                  <a:pt x="5375520" y="6366409"/>
                  <a:pt x="5396522" y="6707670"/>
                </a:cubicBezTo>
                <a:lnTo>
                  <a:pt x="539889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71591A-0F87-E6D0-6BA1-86ADFAD30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22" y="1113613"/>
            <a:ext cx="4325036" cy="603737"/>
          </a:xfrm>
          <a:solidFill>
            <a:srgbClr val="94C6C5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Future Directions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4C3F72-EDA2-7F6B-3F58-6660A7AE3176}"/>
              </a:ext>
            </a:extLst>
          </p:cNvPr>
          <p:cNvSpPr>
            <a:spLocks noGrp="1"/>
          </p:cNvSpPr>
          <p:nvPr/>
        </p:nvSpPr>
        <p:spPr>
          <a:xfrm>
            <a:off x="6583200" y="433805"/>
            <a:ext cx="5605868" cy="628881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r>
              <a:rPr lang="en-US" sz="2400" dirty="0">
                <a:solidFill>
                  <a:srgbClr val="262626"/>
                </a:solidFill>
                <a:latin typeface="Avenir Next LT Pro"/>
                <a:ea typeface="Calibri"/>
                <a:cs typeface="Arial"/>
              </a:rPr>
              <a:t>Cross-Disciplinary Applications.</a:t>
            </a:r>
          </a:p>
          <a:p>
            <a:pPr marL="817880" lvl="2" indent="-342900">
              <a:lnSpc>
                <a:spcPct val="150000"/>
              </a:lnSpc>
              <a:spcBef>
                <a:spcPts val="1000"/>
              </a:spcBef>
              <a:buFont typeface="Wingdings,Sans-Serif" panose="020F0502020204030204" pitchFamily="34" charset="0"/>
              <a:buChar char="§"/>
            </a:pPr>
            <a:r>
              <a:rPr lang="en-US" sz="1800" dirty="0">
                <a:solidFill>
                  <a:srgbClr val="262626"/>
                </a:solidFill>
                <a:latin typeface="Avenir Next LT Pro"/>
                <a:ea typeface="Calibri"/>
                <a:cs typeface="Arial"/>
              </a:rPr>
              <a:t>Other Industries</a:t>
            </a:r>
          </a:p>
          <a:p>
            <a:pPr marL="817880" lvl="2" indent="-342900">
              <a:lnSpc>
                <a:spcPct val="150000"/>
              </a:lnSpc>
              <a:spcBef>
                <a:spcPts val="1000"/>
              </a:spcBef>
              <a:buFont typeface="Wingdings,Sans-Serif" panose="020F0502020204030204" pitchFamily="34" charset="0"/>
              <a:buChar char="§"/>
            </a:pPr>
            <a:r>
              <a:rPr lang="en-US" sz="1800" dirty="0">
                <a:solidFill>
                  <a:srgbClr val="262626"/>
                </a:solidFill>
                <a:latin typeface="Avenir Next LT Pro"/>
                <a:ea typeface="Calibri"/>
                <a:cs typeface="Arial"/>
              </a:rPr>
              <a:t>Non-Financial Reports or broader industry analysis </a:t>
            </a:r>
            <a:endParaRPr lang="en-US" dirty="0">
              <a:solidFill>
                <a:srgbClr val="5C5C5C"/>
              </a:solidFill>
              <a:latin typeface="Avenir Next LT Pro"/>
              <a:ea typeface="Calibri"/>
              <a:cs typeface="Arial"/>
            </a:endParaRPr>
          </a:p>
          <a:p>
            <a:pPr marL="817880" lvl="2" indent="-342900">
              <a:lnSpc>
                <a:spcPct val="150000"/>
              </a:lnSpc>
              <a:spcBef>
                <a:spcPts val="1000"/>
              </a:spcBef>
              <a:buFont typeface="Wingdings,Sans-Serif" panose="020F0502020204030204" pitchFamily="34" charset="0"/>
              <a:buChar char="§"/>
            </a:pPr>
            <a:endParaRPr lang="en-US" sz="1800" dirty="0">
              <a:solidFill>
                <a:srgbClr val="262626"/>
              </a:solidFill>
              <a:latin typeface="Avenir Next LT Pro"/>
              <a:ea typeface="Calibri"/>
              <a:cs typeface="Arial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Clr>
                <a:srgbClr val="1EBE9B"/>
              </a:buClr>
              <a:buFont typeface="Arial,Sans-Serif" panose="020F0502020204030204" pitchFamily="34" charset="0"/>
              <a:buChar char="•"/>
            </a:pPr>
            <a:r>
              <a:rPr lang="en-US" sz="2400" dirty="0">
                <a:solidFill>
                  <a:srgbClr val="262626"/>
                </a:solidFill>
                <a:latin typeface="Avenir Next LT Pro"/>
                <a:ea typeface="Calibri"/>
                <a:cs typeface="Arial"/>
              </a:rPr>
              <a:t>Comparative AI Models.</a:t>
            </a:r>
          </a:p>
          <a:p>
            <a:pPr marL="817880" lvl="2" indent="-342900">
              <a:lnSpc>
                <a:spcPct val="15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r>
              <a:rPr lang="en-US" sz="1800" dirty="0">
                <a:solidFill>
                  <a:srgbClr val="262626"/>
                </a:solidFill>
                <a:latin typeface="Avenir Next LT Pro"/>
                <a:ea typeface="Calibri"/>
                <a:cs typeface="Arial"/>
              </a:rPr>
              <a:t>(e.g., GPT-5, BERT, T5)</a:t>
            </a:r>
          </a:p>
          <a:p>
            <a:pPr marL="817880" lvl="2" indent="-342900">
              <a:lnSpc>
                <a:spcPct val="150000"/>
              </a:lnSpc>
              <a:spcBef>
                <a:spcPts val="1000"/>
              </a:spcBef>
              <a:buFont typeface="Wingdings" panose="020F0502020204030204" pitchFamily="34" charset="0"/>
              <a:buChar char="§"/>
            </a:pPr>
            <a:endParaRPr lang="en-US" sz="1800" dirty="0">
              <a:solidFill>
                <a:srgbClr val="262626"/>
              </a:solidFill>
              <a:latin typeface="Avenir Next LT Pro"/>
              <a:ea typeface="Calibri" panose="020F0502020204030204" pitchFamily="34" charset="0"/>
              <a:cs typeface="Arial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r>
              <a:rPr lang="en-US" sz="2400" dirty="0">
                <a:solidFill>
                  <a:srgbClr val="262626"/>
                </a:solidFill>
                <a:latin typeface="Avenir Next LT Pro"/>
                <a:ea typeface="Calibri" panose="020F0502020204030204" pitchFamily="34" charset="0"/>
                <a:cs typeface="Arial"/>
              </a:rPr>
              <a:t>Advanced statistical and analytical tools.</a:t>
            </a: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endParaRPr lang="en-US" sz="1800" dirty="0">
              <a:solidFill>
                <a:srgbClr val="262626"/>
              </a:solidFill>
              <a:latin typeface="Avenir Next LT Pro"/>
              <a:ea typeface="Calibri"/>
              <a:cs typeface="Arial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endParaRPr lang="en-US" sz="2400">
              <a:solidFill>
                <a:srgbClr val="262626"/>
              </a:solidFill>
              <a:latin typeface="Avenir Next LT Pro"/>
              <a:ea typeface="Calibri" panose="020F0502020204030204" pitchFamily="34" charset="0"/>
              <a:cs typeface="Arial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endParaRPr lang="en-US" sz="2400">
              <a:solidFill>
                <a:srgbClr val="262626"/>
              </a:solidFill>
              <a:latin typeface="Avenir Next LT Pro"/>
              <a:ea typeface="Calibri" panose="020F0502020204030204" pitchFamily="34" charset="0"/>
              <a:cs typeface="Arial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,Sans-Serif" panose="020F0502020204030204" pitchFamily="34" charset="0"/>
              <a:buChar char="•"/>
            </a:pPr>
            <a:endParaRPr lang="en-US" sz="2400">
              <a:solidFill>
                <a:srgbClr val="262626"/>
              </a:solidFill>
              <a:latin typeface="Avenir Next LT Pro"/>
              <a:ea typeface="Calibri" panose="020F0502020204030204" pitchFamily="34" charset="0"/>
              <a:cs typeface="Arial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US" sz="2400">
              <a:solidFill>
                <a:srgbClr val="262626"/>
              </a:solidFill>
              <a:latin typeface="Avenir Next LT Pro"/>
              <a:ea typeface="Calibri" panose="020F050202020403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0374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26CD9-C15C-682B-9CB6-3C985DF5F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752" y="552782"/>
            <a:ext cx="5919373" cy="1611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Acknowledgments</a:t>
            </a:r>
          </a:p>
        </p:txBody>
      </p:sp>
      <p:pic>
        <p:nvPicPr>
          <p:cNvPr id="7" name="Picture 6" descr="Close up of blue gift ribbon">
            <a:extLst>
              <a:ext uri="{FF2B5EF4-FFF2-40B4-BE49-F238E27FC236}">
                <a16:creationId xmlns:a16="http://schemas.microsoft.com/office/drawing/2014/main" id="{BEDF7BBB-C800-6638-E5C2-B256D805BC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91" r="29808" b="-3"/>
          <a:stretch/>
        </p:blipFill>
        <p:spPr>
          <a:xfrm>
            <a:off x="20" y="10"/>
            <a:ext cx="5710632" cy="6857990"/>
          </a:xfrm>
          <a:custGeom>
            <a:avLst/>
            <a:gdLst/>
            <a:ahLst/>
            <a:cxnLst/>
            <a:rect l="l" t="t" r="r" b="b"/>
            <a:pathLst>
              <a:path w="5710652" h="6858000">
                <a:moveTo>
                  <a:pt x="4831301" y="0"/>
                </a:moveTo>
                <a:lnTo>
                  <a:pt x="5696109" y="0"/>
                </a:lnTo>
                <a:lnTo>
                  <a:pt x="5706418" y="42969"/>
                </a:lnTo>
                <a:cubicBezTo>
                  <a:pt x="5714414" y="100391"/>
                  <a:pt x="5711283" y="160329"/>
                  <a:pt x="5695333" y="219852"/>
                </a:cubicBezTo>
                <a:cubicBezTo>
                  <a:pt x="5631536" y="457945"/>
                  <a:pt x="5386806" y="599240"/>
                  <a:pt x="5148712" y="535443"/>
                </a:cubicBezTo>
                <a:cubicBezTo>
                  <a:pt x="4940381" y="479621"/>
                  <a:pt x="4806160" y="285271"/>
                  <a:pt x="4818599" y="78052"/>
                </a:cubicBezTo>
                <a:close/>
                <a:moveTo>
                  <a:pt x="0" y="0"/>
                </a:moveTo>
                <a:lnTo>
                  <a:pt x="545808" y="0"/>
                </a:lnTo>
                <a:lnTo>
                  <a:pt x="4212872" y="0"/>
                </a:lnTo>
                <a:lnTo>
                  <a:pt x="4204748" y="184996"/>
                </a:lnTo>
                <a:cubicBezTo>
                  <a:pt x="4203390" y="263520"/>
                  <a:pt x="4204263" y="341910"/>
                  <a:pt x="4207775" y="419995"/>
                </a:cubicBezTo>
                <a:cubicBezTo>
                  <a:pt x="4220964" y="709488"/>
                  <a:pt x="4449625" y="891535"/>
                  <a:pt x="4655737" y="1068099"/>
                </a:cubicBezTo>
                <a:cubicBezTo>
                  <a:pt x="5169527" y="1508061"/>
                  <a:pt x="5344373" y="2032158"/>
                  <a:pt x="5103604" y="2589405"/>
                </a:cubicBezTo>
                <a:cubicBezTo>
                  <a:pt x="5010230" y="2805523"/>
                  <a:pt x="4828675" y="2993264"/>
                  <a:pt x="4657611" y="3164269"/>
                </a:cubicBezTo>
                <a:cubicBezTo>
                  <a:pt x="4198817" y="3622744"/>
                  <a:pt x="4217616" y="4154456"/>
                  <a:pt x="4499219" y="4641255"/>
                </a:cubicBezTo>
                <a:cubicBezTo>
                  <a:pt x="4699839" y="4986832"/>
                  <a:pt x="4940395" y="5311556"/>
                  <a:pt x="5110950" y="5670858"/>
                </a:cubicBezTo>
                <a:cubicBezTo>
                  <a:pt x="5277001" y="6019042"/>
                  <a:pt x="5375520" y="6366409"/>
                  <a:pt x="5396522" y="6707670"/>
                </a:cubicBezTo>
                <a:lnTo>
                  <a:pt x="539889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379D18-DA59-19A1-2611-D348A0621056}"/>
              </a:ext>
            </a:extLst>
          </p:cNvPr>
          <p:cNvSpPr>
            <a:spLocks noGrp="1"/>
          </p:cNvSpPr>
          <p:nvPr/>
        </p:nvSpPr>
        <p:spPr>
          <a:xfrm>
            <a:off x="5339754" y="2290570"/>
            <a:ext cx="6571744" cy="4429002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endParaRPr lang="en-US" sz="2400">
              <a:solidFill>
                <a:schemeClr val="tx1"/>
              </a:solidFill>
              <a:latin typeface="Avenir Next LT Pro"/>
              <a:ea typeface="+mn-lt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1000"/>
              </a:spcBef>
              <a:buChar char="•"/>
            </a:pPr>
            <a:r>
              <a:rPr lang="en-US" sz="2400" dirty="0">
                <a:solidFill>
                  <a:schemeClr val="tx1"/>
                </a:solidFill>
                <a:latin typeface="Avenir Next LT Pro"/>
                <a:ea typeface="+mn-lt"/>
                <a:cs typeface="Arial"/>
              </a:rPr>
              <a:t>P.I: Dr. Pietro Veronesi 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venir Next LT Pro"/>
                <a:ea typeface="+mn-lt"/>
                <a:cs typeface="Segoe UI"/>
              </a:rPr>
              <a:t>T.A: Bruno </a:t>
            </a:r>
            <a:r>
              <a:rPr lang="en-US" sz="2400" dirty="0" err="1">
                <a:solidFill>
                  <a:schemeClr val="tx1"/>
                </a:solidFill>
                <a:latin typeface="Avenir Next LT Pro"/>
                <a:ea typeface="+mn-lt"/>
                <a:cs typeface="Segoe UI"/>
              </a:rPr>
              <a:t>Maguida</a:t>
            </a:r>
            <a:endParaRPr lang="en-US" sz="2400" dirty="0">
              <a:solidFill>
                <a:schemeClr val="tx1"/>
              </a:solidFill>
              <a:latin typeface="Avenir Next LT Pro"/>
              <a:ea typeface="+mn-lt"/>
              <a:cs typeface="Segoe UI"/>
            </a:endParaRPr>
          </a:p>
          <a:p>
            <a:pPr marL="0" indent="0">
              <a:lnSpc>
                <a:spcPct val="10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cs typeface="Segoe UI"/>
              </a:rPr>
              <a:t>A.D: Dr. Victoria Flores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cs typeface="Segoe UI"/>
              </a:rPr>
              <a:t>C.D: Mrs. Christine Routzahn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cs typeface="Segoe UI"/>
              </a:rPr>
              <a:t>Interviewer: Mr. Calvin Baker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cs typeface="Segoe UI"/>
              </a:rPr>
              <a:t>Recommenders: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chemeClr val="tx1"/>
                </a:solidFill>
                <a:cs typeface="Segoe UI"/>
              </a:rPr>
              <a:t> Prof. Bill Ryan &amp; Prof. MaryAnn Davenport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000"/>
              </a:spcBef>
              <a:buFont typeface="Calibri" panose="020F0502020204030204" pitchFamily="34" charset="0"/>
              <a:buChar char="•"/>
            </a:pPr>
            <a:endParaRPr lang="en-US" sz="2400" dirty="0">
              <a:solidFill>
                <a:schemeClr val="tx1"/>
              </a:solidFill>
              <a:cs typeface="Segoe UI"/>
            </a:endParaRPr>
          </a:p>
        </p:txBody>
      </p:sp>
      <p:pic>
        <p:nvPicPr>
          <p:cNvPr id="16" name="Picture 15" descr="See the source image">
            <a:extLst>
              <a:ext uri="{FF2B5EF4-FFF2-40B4-BE49-F238E27FC236}">
                <a16:creationId xmlns:a16="http://schemas.microsoft.com/office/drawing/2014/main" id="{3F61262F-2B4B-139B-FE67-9C8BAD503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676" y="2169782"/>
            <a:ext cx="1880459" cy="446238"/>
          </a:xfrm>
          <a:prstGeom prst="rect">
            <a:avLst/>
          </a:prstGeom>
        </p:spPr>
      </p:pic>
      <p:pic>
        <p:nvPicPr>
          <p:cNvPr id="18" name="Picture 17" descr="University of Chicago Logo and symbol, meaning, history, PNG, brand">
            <a:extLst>
              <a:ext uri="{FF2B5EF4-FFF2-40B4-BE49-F238E27FC236}">
                <a16:creationId xmlns:a16="http://schemas.microsoft.com/office/drawing/2014/main" id="{06F8C045-BE84-EB80-4846-430CB1455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525" y="1850286"/>
            <a:ext cx="1969007" cy="1089421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F82B473-E3D4-D5FA-EEC7-D7607207DEAF}"/>
              </a:ext>
            </a:extLst>
          </p:cNvPr>
          <p:cNvCxnSpPr>
            <a:cxnSpLocks/>
          </p:cNvCxnSpPr>
          <p:nvPr/>
        </p:nvCxnSpPr>
        <p:spPr>
          <a:xfrm flipH="1">
            <a:off x="7752345" y="2166123"/>
            <a:ext cx="4548" cy="452263"/>
          </a:xfrm>
          <a:prstGeom prst="straightConnector1">
            <a:avLst/>
          </a:prstGeom>
          <a:ln w="57150">
            <a:solidFill>
              <a:srgbClr val="94C6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781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9B6340-9D54-4548-B87C-24BA7EA53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een square with a white logo&#10;&#10;Description automatically generated">
            <a:extLst>
              <a:ext uri="{FF2B5EF4-FFF2-40B4-BE49-F238E27FC236}">
                <a16:creationId xmlns:a16="http://schemas.microsoft.com/office/drawing/2014/main" id="{FA83C63F-2DA2-3472-0187-06A03CEBA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0327" r="15090"/>
          <a:stretch/>
        </p:blipFill>
        <p:spPr>
          <a:xfrm>
            <a:off x="-886" y="-21759"/>
            <a:ext cx="7918858" cy="6897158"/>
          </a:xfrm>
          <a:prstGeom prst="rect">
            <a:avLst/>
          </a:prstGeom>
        </p:spPr>
      </p:pic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F1D5403D-09EC-41DB-B916-A09C0E5A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99031" y="-39157"/>
            <a:ext cx="5592970" cy="6897158"/>
          </a:xfrm>
          <a:custGeom>
            <a:avLst/>
            <a:gdLst>
              <a:gd name="connsiteX0" fmla="*/ 4912746 w 5592970"/>
              <a:gd name="connsiteY0" fmla="*/ 2355321 h 6897159"/>
              <a:gd name="connsiteX1" fmla="*/ 4714738 w 5592970"/>
              <a:gd name="connsiteY1" fmla="*/ 2553329 h 6897159"/>
              <a:gd name="connsiteX2" fmla="*/ 4912746 w 5592970"/>
              <a:gd name="connsiteY2" fmla="*/ 2751337 h 6897159"/>
              <a:gd name="connsiteX3" fmla="*/ 5110754 w 5592970"/>
              <a:gd name="connsiteY3" fmla="*/ 2553329 h 6897159"/>
              <a:gd name="connsiteX4" fmla="*/ 4912746 w 5592970"/>
              <a:gd name="connsiteY4" fmla="*/ 2355321 h 6897159"/>
              <a:gd name="connsiteX5" fmla="*/ 4769785 w 5592970"/>
              <a:gd name="connsiteY5" fmla="*/ 1301525 h 6897159"/>
              <a:gd name="connsiteX6" fmla="*/ 4358192 w 5592970"/>
              <a:gd name="connsiteY6" fmla="*/ 1713118 h 6897159"/>
              <a:gd name="connsiteX7" fmla="*/ 4769785 w 5592970"/>
              <a:gd name="connsiteY7" fmla="*/ 2124711 h 6897159"/>
              <a:gd name="connsiteX8" fmla="*/ 5181378 w 5592970"/>
              <a:gd name="connsiteY8" fmla="*/ 1713118 h 6897159"/>
              <a:gd name="connsiteX9" fmla="*/ 4769785 w 5592970"/>
              <a:gd name="connsiteY9" fmla="*/ 1301525 h 6897159"/>
              <a:gd name="connsiteX10" fmla="*/ 1485712 w 5592970"/>
              <a:gd name="connsiteY10" fmla="*/ 0 h 6897159"/>
              <a:gd name="connsiteX11" fmla="*/ 1911850 w 5592970"/>
              <a:gd name="connsiteY11" fmla="*/ 0 h 6897159"/>
              <a:gd name="connsiteX12" fmla="*/ 4693359 w 5592970"/>
              <a:gd name="connsiteY12" fmla="*/ 0 h 6897159"/>
              <a:gd name="connsiteX13" fmla="*/ 4687196 w 5592970"/>
              <a:gd name="connsiteY13" fmla="*/ 186052 h 6897159"/>
              <a:gd name="connsiteX14" fmla="*/ 4689492 w 5592970"/>
              <a:gd name="connsiteY14" fmla="*/ 422393 h 6897159"/>
              <a:gd name="connsiteX15" fmla="*/ 5029277 w 5592970"/>
              <a:gd name="connsiteY15" fmla="*/ 1074198 h 6897159"/>
              <a:gd name="connsiteX16" fmla="*/ 5368989 w 5592970"/>
              <a:gd name="connsiteY16" fmla="*/ 2604190 h 6897159"/>
              <a:gd name="connsiteX17" fmla="*/ 5030698 w 5592970"/>
              <a:gd name="connsiteY17" fmla="*/ 3182337 h 6897159"/>
              <a:gd name="connsiteX18" fmla="*/ 4910556 w 5592970"/>
              <a:gd name="connsiteY18" fmla="*/ 4667756 h 6897159"/>
              <a:gd name="connsiteX19" fmla="*/ 5374561 w 5592970"/>
              <a:gd name="connsiteY19" fmla="*/ 5703238 h 6897159"/>
              <a:gd name="connsiteX20" fmla="*/ 5591170 w 5592970"/>
              <a:gd name="connsiteY20" fmla="*/ 6745970 h 6897159"/>
              <a:gd name="connsiteX21" fmla="*/ 5592970 w 5592970"/>
              <a:gd name="connsiteY21" fmla="*/ 6897158 h 6897159"/>
              <a:gd name="connsiteX22" fmla="*/ 2734191 w 5592970"/>
              <a:gd name="connsiteY22" fmla="*/ 6897158 h 6897159"/>
              <a:gd name="connsiteX23" fmla="*/ 2734191 w 5592970"/>
              <a:gd name="connsiteY23" fmla="*/ 6897159 h 6897159"/>
              <a:gd name="connsiteX24" fmla="*/ 0 w 5592970"/>
              <a:gd name="connsiteY24" fmla="*/ 6897159 h 6897159"/>
              <a:gd name="connsiteX25" fmla="*/ 0 w 5592970"/>
              <a:gd name="connsiteY25" fmla="*/ 1 h 6897159"/>
              <a:gd name="connsiteX26" fmla="*/ 1485712 w 5592970"/>
              <a:gd name="connsiteY26" fmla="*/ 1 h 6897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592970" h="6897159">
                <a:moveTo>
                  <a:pt x="4912746" y="2355321"/>
                </a:moveTo>
                <a:cubicBezTo>
                  <a:pt x="4803389" y="2355321"/>
                  <a:pt x="4714738" y="2443972"/>
                  <a:pt x="4714738" y="2553329"/>
                </a:cubicBezTo>
                <a:cubicBezTo>
                  <a:pt x="4714738" y="2662686"/>
                  <a:pt x="4803389" y="2751337"/>
                  <a:pt x="4912746" y="2751337"/>
                </a:cubicBezTo>
                <a:cubicBezTo>
                  <a:pt x="5022103" y="2751337"/>
                  <a:pt x="5110754" y="2662686"/>
                  <a:pt x="5110754" y="2553329"/>
                </a:cubicBezTo>
                <a:cubicBezTo>
                  <a:pt x="5110754" y="2443972"/>
                  <a:pt x="5022103" y="2355321"/>
                  <a:pt x="4912746" y="2355321"/>
                </a:cubicBezTo>
                <a:close/>
                <a:moveTo>
                  <a:pt x="4769785" y="1301525"/>
                </a:moveTo>
                <a:cubicBezTo>
                  <a:pt x="4542468" y="1301525"/>
                  <a:pt x="4358192" y="1485801"/>
                  <a:pt x="4358192" y="1713118"/>
                </a:cubicBezTo>
                <a:cubicBezTo>
                  <a:pt x="4358192" y="1940435"/>
                  <a:pt x="4542468" y="2124711"/>
                  <a:pt x="4769785" y="2124711"/>
                </a:cubicBezTo>
                <a:cubicBezTo>
                  <a:pt x="4997102" y="2124711"/>
                  <a:pt x="5181378" y="1940435"/>
                  <a:pt x="5181378" y="1713118"/>
                </a:cubicBezTo>
                <a:cubicBezTo>
                  <a:pt x="5181378" y="1485801"/>
                  <a:pt x="4997102" y="1301525"/>
                  <a:pt x="4769785" y="1301525"/>
                </a:cubicBezTo>
                <a:close/>
                <a:moveTo>
                  <a:pt x="1485712" y="0"/>
                </a:moveTo>
                <a:lnTo>
                  <a:pt x="1911850" y="0"/>
                </a:lnTo>
                <a:lnTo>
                  <a:pt x="4693359" y="0"/>
                </a:lnTo>
                <a:lnTo>
                  <a:pt x="4687196" y="186052"/>
                </a:lnTo>
                <a:cubicBezTo>
                  <a:pt x="4686166" y="265025"/>
                  <a:pt x="4686829" y="343862"/>
                  <a:pt x="4689492" y="422393"/>
                </a:cubicBezTo>
                <a:cubicBezTo>
                  <a:pt x="4699496" y="713539"/>
                  <a:pt x="4872938" y="896626"/>
                  <a:pt x="5029277" y="1074198"/>
                </a:cubicBezTo>
                <a:cubicBezTo>
                  <a:pt x="5418992" y="1516672"/>
                  <a:pt x="5551614" y="2043761"/>
                  <a:pt x="5368989" y="2604190"/>
                </a:cubicBezTo>
                <a:cubicBezTo>
                  <a:pt x="5298163" y="2821542"/>
                  <a:pt x="5160452" y="3010355"/>
                  <a:pt x="5030698" y="3182337"/>
                </a:cubicBezTo>
                <a:cubicBezTo>
                  <a:pt x="4682698" y="3643429"/>
                  <a:pt x="4696957" y="4178177"/>
                  <a:pt x="4910556" y="4667756"/>
                </a:cubicBezTo>
                <a:cubicBezTo>
                  <a:pt x="5062728" y="5015306"/>
                  <a:pt x="5245193" y="5341884"/>
                  <a:pt x="5374561" y="5703238"/>
                </a:cubicBezTo>
                <a:cubicBezTo>
                  <a:pt x="5500512" y="6053410"/>
                  <a:pt x="5575240" y="6402760"/>
                  <a:pt x="5591170" y="6745970"/>
                </a:cubicBezTo>
                <a:lnTo>
                  <a:pt x="5592970" y="6897158"/>
                </a:lnTo>
                <a:lnTo>
                  <a:pt x="2734191" y="6897158"/>
                </a:lnTo>
                <a:lnTo>
                  <a:pt x="2734191" y="6897159"/>
                </a:lnTo>
                <a:lnTo>
                  <a:pt x="0" y="6897159"/>
                </a:lnTo>
                <a:lnTo>
                  <a:pt x="0" y="1"/>
                </a:lnTo>
                <a:lnTo>
                  <a:pt x="1485712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68764" y="2111149"/>
            <a:ext cx="3668279" cy="12990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>
                <a:cs typeface="Posterama"/>
              </a:rPr>
              <a:t>Thank you for your attention!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0AD9A-2298-E952-DC7E-47A8F937907F}"/>
              </a:ext>
            </a:extLst>
          </p:cNvPr>
          <p:cNvSpPr txBox="1"/>
          <p:nvPr/>
        </p:nvSpPr>
        <p:spPr>
          <a:xfrm>
            <a:off x="7864930" y="5560786"/>
            <a:ext cx="3673926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800">
                <a:latin typeface="Posterama"/>
                <a:cs typeface="Posterama"/>
              </a:rPr>
              <a:t>Any questions?</a:t>
            </a:r>
          </a:p>
        </p:txBody>
      </p:sp>
      <p:pic>
        <p:nvPicPr>
          <p:cNvPr id="4" name="Graphic 3" descr="Smiling face outline outline">
            <a:extLst>
              <a:ext uri="{FF2B5EF4-FFF2-40B4-BE49-F238E27FC236}">
                <a16:creationId xmlns:a16="http://schemas.microsoft.com/office/drawing/2014/main" id="{D6FF3D50-C962-7752-D717-C3646A0B65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7429" y="186358"/>
            <a:ext cx="1785258" cy="1785258"/>
          </a:xfrm>
          <a:prstGeom prst="rect">
            <a:avLst/>
          </a:prstGeom>
        </p:spPr>
      </p:pic>
      <p:pic>
        <p:nvPicPr>
          <p:cNvPr id="5" name="Graphic 4" descr="Question Mark outline">
            <a:extLst>
              <a:ext uri="{FF2B5EF4-FFF2-40B4-BE49-F238E27FC236}">
                <a16:creationId xmlns:a16="http://schemas.microsoft.com/office/drawing/2014/main" id="{8421C833-BC94-9E85-E74E-076EAD2954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14229" y="3624943"/>
            <a:ext cx="1748971" cy="1794328"/>
          </a:xfrm>
          <a:prstGeom prst="rect">
            <a:avLst/>
          </a:prstGeom>
        </p:spPr>
      </p:pic>
      <p:pic>
        <p:nvPicPr>
          <p:cNvPr id="8" name="Picture 7" descr="See the source image">
            <a:extLst>
              <a:ext uri="{FF2B5EF4-FFF2-40B4-BE49-F238E27FC236}">
                <a16:creationId xmlns:a16="http://schemas.microsoft.com/office/drawing/2014/main" id="{AB599328-04B8-0D3D-F3A6-B5F6CD5821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441" y="340982"/>
            <a:ext cx="1880459" cy="446238"/>
          </a:xfrm>
          <a:prstGeom prst="rect">
            <a:avLst/>
          </a:prstGeom>
        </p:spPr>
      </p:pic>
      <p:pic>
        <p:nvPicPr>
          <p:cNvPr id="10" name="Picture 9" descr="University of Chicago Logo and symbol, meaning, history, PNG, brand">
            <a:extLst>
              <a:ext uri="{FF2B5EF4-FFF2-40B4-BE49-F238E27FC236}">
                <a16:creationId xmlns:a16="http://schemas.microsoft.com/office/drawing/2014/main" id="{70176142-90FE-D37D-26F9-72482408CD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265" y="5799434"/>
            <a:ext cx="1969007" cy="1089421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CC746C-DB04-0818-B826-08805AE3E5DB}"/>
              </a:ext>
            </a:extLst>
          </p:cNvPr>
          <p:cNvCxnSpPr/>
          <p:nvPr/>
        </p:nvCxnSpPr>
        <p:spPr>
          <a:xfrm flipH="1">
            <a:off x="3018403" y="6116862"/>
            <a:ext cx="4548" cy="452263"/>
          </a:xfrm>
          <a:prstGeom prst="straightConnector1">
            <a:avLst/>
          </a:prstGeom>
          <a:ln w="57150">
            <a:solidFill>
              <a:srgbClr val="E2EB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 descr="Envelope with solid fill">
            <a:extLst>
              <a:ext uri="{FF2B5EF4-FFF2-40B4-BE49-F238E27FC236}">
                <a16:creationId xmlns:a16="http://schemas.microsoft.com/office/drawing/2014/main" id="{AB53FDBB-74C2-F0FE-E488-06855DB779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92096" y="6007608"/>
            <a:ext cx="682752" cy="676656"/>
          </a:xfrm>
          <a:prstGeom prst="rect">
            <a:avLst/>
          </a:prstGeom>
        </p:spPr>
      </p:pic>
      <p:pic>
        <p:nvPicPr>
          <p:cNvPr id="19" name="Graphic 18" descr="Envelope with solid fill">
            <a:extLst>
              <a:ext uri="{FF2B5EF4-FFF2-40B4-BE49-F238E27FC236}">
                <a16:creationId xmlns:a16="http://schemas.microsoft.com/office/drawing/2014/main" id="{2D4AD3C8-BEB0-07D7-C3B2-BD5908DD36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94560" y="228600"/>
            <a:ext cx="682752" cy="6766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96D2A1D-AB45-C25D-B0C9-B04BF4594C91}"/>
              </a:ext>
            </a:extLst>
          </p:cNvPr>
          <p:cNvSpPr txBox="1"/>
          <p:nvPr/>
        </p:nvSpPr>
        <p:spPr>
          <a:xfrm>
            <a:off x="2913888" y="335280"/>
            <a:ext cx="31211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solidFill>
                  <a:srgbClr val="E2EBEB"/>
                </a:solidFill>
                <a:latin typeface="Posterama"/>
                <a:cs typeface="Posterama"/>
              </a:rPr>
              <a:t>oritsea1@umbc.edu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4997FF-F557-31B1-4584-1EACE9C37E42}"/>
              </a:ext>
            </a:extLst>
          </p:cNvPr>
          <p:cNvSpPr txBox="1"/>
          <p:nvPr/>
        </p:nvSpPr>
        <p:spPr>
          <a:xfrm>
            <a:off x="3048000" y="6114288"/>
            <a:ext cx="36393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solidFill>
                  <a:srgbClr val="E2EBEB"/>
                </a:solidFill>
                <a:latin typeface="Posterama"/>
                <a:ea typeface="+mn-lt"/>
                <a:cs typeface="+mn-lt"/>
              </a:rPr>
              <a:t>oritsea1@uchicago.edu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DC7A44-7148-2EA6-4BF4-8B3AAD80CFE6}"/>
              </a:ext>
            </a:extLst>
          </p:cNvPr>
          <p:cNvCxnSpPr>
            <a:cxnSpLocks/>
          </p:cNvCxnSpPr>
          <p:nvPr/>
        </p:nvCxnSpPr>
        <p:spPr>
          <a:xfrm flipH="1">
            <a:off x="2908675" y="343949"/>
            <a:ext cx="4548" cy="452263"/>
          </a:xfrm>
          <a:prstGeom prst="straightConnector1">
            <a:avLst/>
          </a:prstGeom>
          <a:ln w="57150">
            <a:solidFill>
              <a:srgbClr val="E2EB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Leadership Alliance Logo PNG Vector (PDF, SVG) Free Download">
            <a:extLst>
              <a:ext uri="{FF2B5EF4-FFF2-40B4-BE49-F238E27FC236}">
                <a16:creationId xmlns:a16="http://schemas.microsoft.com/office/drawing/2014/main" id="{CA99AA08-469C-232F-0444-8070BCB129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1394" y="2872887"/>
            <a:ext cx="1094643" cy="110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6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0B39A6-D628-4338-9D6E-995B6A739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E87253-3CB5-DF5F-DF56-882EBAE6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786" y="265439"/>
            <a:ext cx="9228866" cy="712428"/>
          </a:xfrm>
        </p:spPr>
        <p:txBody>
          <a:bodyPr>
            <a:normAutofit fontScale="90000"/>
          </a:bodyPr>
          <a:lstStyle/>
          <a:p>
            <a:r>
              <a:rPr lang="en-US">
                <a:cs typeface="Posterama"/>
              </a:rPr>
              <a:t>Comparative percentage of Error</a:t>
            </a:r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2EB82B4-D9A1-4145-93F1-004DC0B9B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56630" y="4160168"/>
            <a:ext cx="2832322" cy="2697833"/>
          </a:xfrm>
          <a:custGeom>
            <a:avLst/>
            <a:gdLst>
              <a:gd name="connsiteX0" fmla="*/ 638993 w 2832322"/>
              <a:gd name="connsiteY0" fmla="*/ 1429605 h 2697833"/>
              <a:gd name="connsiteX1" fmla="*/ 798503 w 2832322"/>
              <a:gd name="connsiteY1" fmla="*/ 1509001 h 2697833"/>
              <a:gd name="connsiteX2" fmla="*/ 739507 w 2832322"/>
              <a:gd name="connsiteY2" fmla="*/ 1729178 h 2697833"/>
              <a:gd name="connsiteX3" fmla="*/ 519329 w 2832322"/>
              <a:gd name="connsiteY3" fmla="*/ 1670181 h 2697833"/>
              <a:gd name="connsiteX4" fmla="*/ 578327 w 2832322"/>
              <a:gd name="connsiteY4" fmla="*/ 1450005 h 2697833"/>
              <a:gd name="connsiteX5" fmla="*/ 638993 w 2832322"/>
              <a:gd name="connsiteY5" fmla="*/ 1429605 h 2697833"/>
              <a:gd name="connsiteX6" fmla="*/ 1252193 w 2832322"/>
              <a:gd name="connsiteY6" fmla="*/ 835524 h 2697833"/>
              <a:gd name="connsiteX7" fmla="*/ 1511699 w 2832322"/>
              <a:gd name="connsiteY7" fmla="*/ 997686 h 2697833"/>
              <a:gd name="connsiteX8" fmla="*/ 1392436 w 2832322"/>
              <a:gd name="connsiteY8" fmla="*/ 1442788 h 2697833"/>
              <a:gd name="connsiteX9" fmla="*/ 947333 w 2832322"/>
              <a:gd name="connsiteY9" fmla="*/ 1323523 h 2697833"/>
              <a:gd name="connsiteX10" fmla="*/ 1066598 w 2832322"/>
              <a:gd name="connsiteY10" fmla="*/ 878421 h 2697833"/>
              <a:gd name="connsiteX11" fmla="*/ 1252193 w 2832322"/>
              <a:gd name="connsiteY11" fmla="*/ 835524 h 2697833"/>
              <a:gd name="connsiteX12" fmla="*/ 2832322 w 2832322"/>
              <a:gd name="connsiteY12" fmla="*/ 0 h 2697833"/>
              <a:gd name="connsiteX13" fmla="*/ 2832322 w 2832322"/>
              <a:gd name="connsiteY13" fmla="*/ 2697833 h 2697833"/>
              <a:gd name="connsiteX14" fmla="*/ 0 w 2832322"/>
              <a:gd name="connsiteY14" fmla="*/ 2697833 h 2697833"/>
              <a:gd name="connsiteX15" fmla="*/ 12966 w 2832322"/>
              <a:gd name="connsiteY15" fmla="*/ 2631781 h 2697833"/>
              <a:gd name="connsiteX16" fmla="*/ 1052443 w 2832322"/>
              <a:gd name="connsiteY16" fmla="*/ 1806313 h 2697833"/>
              <a:gd name="connsiteX17" fmla="*/ 1721430 w 2832322"/>
              <a:gd name="connsiteY17" fmla="*/ 1489397 h 2697833"/>
              <a:gd name="connsiteX18" fmla="*/ 2115839 w 2832322"/>
              <a:gd name="connsiteY18" fmla="*/ 696540 h 2697833"/>
              <a:gd name="connsiteX19" fmla="*/ 2590689 w 2832322"/>
              <a:gd name="connsiteY19" fmla="*/ 99461 h 2697833"/>
              <a:gd name="connsiteX20" fmla="*/ 2730434 w 2832322"/>
              <a:gd name="connsiteY20" fmla="*/ 32840 h 269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32322" h="2697833">
                <a:moveTo>
                  <a:pt x="638993" y="1429605"/>
                </a:moveTo>
                <a:cubicBezTo>
                  <a:pt x="701328" y="1421871"/>
                  <a:pt x="765121" y="1451183"/>
                  <a:pt x="798503" y="1509001"/>
                </a:cubicBezTo>
                <a:cubicBezTo>
                  <a:pt x="843012" y="1586093"/>
                  <a:pt x="816599" y="1684670"/>
                  <a:pt x="739507" y="1729178"/>
                </a:cubicBezTo>
                <a:cubicBezTo>
                  <a:pt x="662415" y="1773688"/>
                  <a:pt x="563838" y="1747275"/>
                  <a:pt x="519329" y="1670181"/>
                </a:cubicBezTo>
                <a:cubicBezTo>
                  <a:pt x="474820" y="1593091"/>
                  <a:pt x="501234" y="1494514"/>
                  <a:pt x="578327" y="1450005"/>
                </a:cubicBezTo>
                <a:cubicBezTo>
                  <a:pt x="597599" y="1438878"/>
                  <a:pt x="618215" y="1432183"/>
                  <a:pt x="638993" y="1429605"/>
                </a:cubicBezTo>
                <a:close/>
                <a:moveTo>
                  <a:pt x="1252193" y="835524"/>
                </a:moveTo>
                <a:cubicBezTo>
                  <a:pt x="1356532" y="842898"/>
                  <a:pt x="1455464" y="900282"/>
                  <a:pt x="1511699" y="997686"/>
                </a:cubicBezTo>
                <a:cubicBezTo>
                  <a:pt x="1601677" y="1153532"/>
                  <a:pt x="1548280" y="1352810"/>
                  <a:pt x="1392436" y="1442788"/>
                </a:cubicBezTo>
                <a:cubicBezTo>
                  <a:pt x="1236589" y="1532766"/>
                  <a:pt x="1037311" y="1479369"/>
                  <a:pt x="947333" y="1323523"/>
                </a:cubicBezTo>
                <a:cubicBezTo>
                  <a:pt x="857356" y="1167678"/>
                  <a:pt x="910753" y="968399"/>
                  <a:pt x="1066598" y="878421"/>
                </a:cubicBezTo>
                <a:cubicBezTo>
                  <a:pt x="1125040" y="844680"/>
                  <a:pt x="1189590" y="831101"/>
                  <a:pt x="1252193" y="835524"/>
                </a:cubicBezTo>
                <a:close/>
                <a:moveTo>
                  <a:pt x="2832322" y="0"/>
                </a:moveTo>
                <a:lnTo>
                  <a:pt x="2832322" y="2697833"/>
                </a:lnTo>
                <a:lnTo>
                  <a:pt x="0" y="2697833"/>
                </a:lnTo>
                <a:lnTo>
                  <a:pt x="12966" y="2631781"/>
                </a:lnTo>
                <a:cubicBezTo>
                  <a:pt x="140000" y="2184738"/>
                  <a:pt x="505773" y="1908362"/>
                  <a:pt x="1052443" y="1806313"/>
                </a:cubicBezTo>
                <a:cubicBezTo>
                  <a:pt x="1303109" y="1759472"/>
                  <a:pt x="1574698" y="1718763"/>
                  <a:pt x="1721430" y="1489397"/>
                </a:cubicBezTo>
                <a:cubicBezTo>
                  <a:pt x="1879597" y="1241842"/>
                  <a:pt x="2005704" y="970478"/>
                  <a:pt x="2115839" y="696540"/>
                </a:cubicBezTo>
                <a:cubicBezTo>
                  <a:pt x="2216937" y="444582"/>
                  <a:pt x="2354076" y="231931"/>
                  <a:pt x="2590689" y="99461"/>
                </a:cubicBezTo>
                <a:cubicBezTo>
                  <a:pt x="2637069" y="73498"/>
                  <a:pt x="2683655" y="51402"/>
                  <a:pt x="2730434" y="328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191E434-084B-593C-5C84-C903B68B33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9344203"/>
              </p:ext>
            </p:extLst>
          </p:nvPr>
        </p:nvGraphicFramePr>
        <p:xfrm>
          <a:off x="609600" y="1145320"/>
          <a:ext cx="10972797" cy="50158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11585">
                  <a:extLst>
                    <a:ext uri="{9D8B030D-6E8A-4147-A177-3AD203B41FA5}">
                      <a16:colId xmlns:a16="http://schemas.microsoft.com/office/drawing/2014/main" val="3474822323"/>
                    </a:ext>
                  </a:extLst>
                </a:gridCol>
                <a:gridCol w="1737710">
                  <a:extLst>
                    <a:ext uri="{9D8B030D-6E8A-4147-A177-3AD203B41FA5}">
                      <a16:colId xmlns:a16="http://schemas.microsoft.com/office/drawing/2014/main" val="3653648098"/>
                    </a:ext>
                  </a:extLst>
                </a:gridCol>
                <a:gridCol w="1289269">
                  <a:extLst>
                    <a:ext uri="{9D8B030D-6E8A-4147-A177-3AD203B41FA5}">
                      <a16:colId xmlns:a16="http://schemas.microsoft.com/office/drawing/2014/main" val="3465648149"/>
                    </a:ext>
                  </a:extLst>
                </a:gridCol>
                <a:gridCol w="2088055">
                  <a:extLst>
                    <a:ext uri="{9D8B030D-6E8A-4147-A177-3AD203B41FA5}">
                      <a16:colId xmlns:a16="http://schemas.microsoft.com/office/drawing/2014/main" val="3479386313"/>
                    </a:ext>
                  </a:extLst>
                </a:gridCol>
                <a:gridCol w="1303282">
                  <a:extLst>
                    <a:ext uri="{9D8B030D-6E8A-4147-A177-3AD203B41FA5}">
                      <a16:colId xmlns:a16="http://schemas.microsoft.com/office/drawing/2014/main" val="2035969340"/>
                    </a:ext>
                  </a:extLst>
                </a:gridCol>
                <a:gridCol w="1527503">
                  <a:extLst>
                    <a:ext uri="{9D8B030D-6E8A-4147-A177-3AD203B41FA5}">
                      <a16:colId xmlns:a16="http://schemas.microsoft.com/office/drawing/2014/main" val="2254153231"/>
                    </a:ext>
                  </a:extLst>
                </a:gridCol>
                <a:gridCol w="1415393">
                  <a:extLst>
                    <a:ext uri="{9D8B030D-6E8A-4147-A177-3AD203B41FA5}">
                      <a16:colId xmlns:a16="http://schemas.microsoft.com/office/drawing/2014/main" val="4275618788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Company Name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Total Revenue/Net Sales(M)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Operating Profits(M)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Basic Earnings Per Share (EPS)($)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Research and Development (R&amp;D) (M)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Total Employees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Operating Margin (%)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9505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ASTAZENECA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1840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BRISTOL MYERS SQUIBB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100.00%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100.00%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4996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HOFFMANN-LA ROCHE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0.03%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947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PFIZER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6.82%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5.68%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2469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TAKEDA PHARMS (yen)(B)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100.00%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100.00%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9577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EMD SERONO INC (euro)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1.84%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8554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NOVARTIS PHARM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005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BLUEPRINT MEDICINES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0.20%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0.20%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7812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ELI LILLY AND COMPANY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5908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MODERNA INC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GSK (pounds)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10.62%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7782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AMGEN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100.00%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4.61%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8778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MILLENNIUM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64.64%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64.36%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0872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EXELIXIS INC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1858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ONYX HEALTHCARE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/>
                        </a:rPr>
                        <a:t>20.79%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/>
                        </a:rPr>
                        <a:t>20.85%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7114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/>
                        </a:rPr>
                        <a:t>REGENERON PHARMAS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4428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DAIICHI SANKYO (yen)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0.32%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9173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BAYER (euro)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3.39%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3.13%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282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BIOMARIN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245.54%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200.00%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11.48%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245.26%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5101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EISAI (yen)(B)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3.11%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0.89%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88657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954570F-8A5C-5712-FC02-0126AB04BB56}"/>
              </a:ext>
            </a:extLst>
          </p:cNvPr>
          <p:cNvSpPr/>
          <p:nvPr/>
        </p:nvSpPr>
        <p:spPr>
          <a:xfrm>
            <a:off x="2967976" y="6433420"/>
            <a:ext cx="82062" cy="64477"/>
          </a:xfrm>
          <a:prstGeom prst="rect">
            <a:avLst/>
          </a:prstGeom>
          <a:solidFill>
            <a:srgbClr val="FBE2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6862E8-2734-2218-2A00-C13590B0FB5D}"/>
              </a:ext>
            </a:extLst>
          </p:cNvPr>
          <p:cNvSpPr/>
          <p:nvPr/>
        </p:nvSpPr>
        <p:spPr>
          <a:xfrm>
            <a:off x="4579898" y="6433419"/>
            <a:ext cx="82062" cy="6447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A29B5A-57F5-C1BB-C4AC-A2B42BC49C0A}"/>
              </a:ext>
            </a:extLst>
          </p:cNvPr>
          <p:cNvSpPr/>
          <p:nvPr/>
        </p:nvSpPr>
        <p:spPr>
          <a:xfrm>
            <a:off x="6191822" y="6433419"/>
            <a:ext cx="82062" cy="64477"/>
          </a:xfrm>
          <a:prstGeom prst="rect">
            <a:avLst/>
          </a:prstGeom>
          <a:solidFill>
            <a:srgbClr val="E873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5743BA-3816-A359-A45C-E1BFA442A7EE}"/>
              </a:ext>
            </a:extLst>
          </p:cNvPr>
          <p:cNvSpPr/>
          <p:nvPr/>
        </p:nvSpPr>
        <p:spPr>
          <a:xfrm>
            <a:off x="8008900" y="6433419"/>
            <a:ext cx="82062" cy="644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3510D7-3FDD-B882-9219-0E3AEA2F2355}"/>
              </a:ext>
            </a:extLst>
          </p:cNvPr>
          <p:cNvSpPr txBox="1"/>
          <p:nvPr/>
        </p:nvSpPr>
        <p:spPr>
          <a:xfrm>
            <a:off x="1904999" y="6278727"/>
            <a:ext cx="77385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Key (%):     (0&lt;x&lt;1)     (1</a:t>
            </a:r>
            <a:r>
              <a:rPr lang="en-US">
                <a:solidFill>
                  <a:srgbClr val="262626"/>
                </a:solidFill>
                <a:latin typeface="Avenir Next LT Pro"/>
                <a:ea typeface="Roboto"/>
                <a:cs typeface="Roboto"/>
              </a:rPr>
              <a:t>≤x&lt;10)      (10≤x&lt;100)       (x≥100)</a:t>
            </a:r>
            <a:endParaRPr lang="en-US">
              <a:solidFill>
                <a:srgbClr val="262626"/>
              </a:solidFill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1975030151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SplashVTI</vt:lpstr>
      <vt:lpstr>Evaluating the Efficiency and Accuracy of GPT-4 in Analyzing Pharmaceutical Annual Reports: A Comparative Study with Manual Review</vt:lpstr>
      <vt:lpstr>PowerPoint Presentation</vt:lpstr>
      <vt:lpstr>Research Agenda</vt:lpstr>
      <vt:lpstr>How fast, accurate and reliable is AI—more specifically Chat GPT's most recent update (GPT-4o)—in reviewing financial reports? </vt:lpstr>
      <vt:lpstr>Methodology – Numerical Data Collection</vt:lpstr>
      <vt:lpstr>Methodology: Prompt Questions </vt:lpstr>
      <vt:lpstr>Methodology: Data Analysis Procedure</vt:lpstr>
      <vt:lpstr>Results: Speed Analysis</vt:lpstr>
      <vt:lpstr>Result: Total Error Analysis</vt:lpstr>
      <vt:lpstr>Results: Absolute Error Rates</vt:lpstr>
      <vt:lpstr>Results: Absolute Error Rates</vt:lpstr>
      <vt:lpstr>Results: Error Rates</vt:lpstr>
      <vt:lpstr>Results: Error rates</vt:lpstr>
      <vt:lpstr>Results: Possibility of error (occurrences)</vt:lpstr>
      <vt:lpstr>Results: Possibility of error (occurrences)</vt:lpstr>
      <vt:lpstr>Relevance</vt:lpstr>
      <vt:lpstr>Limitations</vt:lpstr>
      <vt:lpstr>Conclusion</vt:lpstr>
      <vt:lpstr>Future Directions</vt:lpstr>
      <vt:lpstr>Acknowledgments</vt:lpstr>
      <vt:lpstr>Thank you for your attention!</vt:lpstr>
      <vt:lpstr>Comparative percentage of Error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74</cp:revision>
  <dcterms:created xsi:type="dcterms:W3CDTF">2024-07-11T16:07:44Z</dcterms:created>
  <dcterms:modified xsi:type="dcterms:W3CDTF">2024-07-26T21:22:11Z</dcterms:modified>
</cp:coreProperties>
</file>